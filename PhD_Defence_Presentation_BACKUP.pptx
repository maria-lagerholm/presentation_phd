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I'll be presenting my doctoral research on essential oils and how we can use machine learning to get a better understanding of what drives their antimicrobial activity, specifically against Salmonella.</a:t>
            </a:r>
          </a:p>
          <a:p/>
          <a:p>
            <a:r>
              <a:t>This work combines lab experiments with computational analysis. It was done at the Faculty of Agriculture, University of Belgrade, in collaboration with other faculties and universities.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start, I want to thank everyone who helped make this work possible.</a:t>
            </a:r>
          </a:p>
          <a:p/>
          <a:p>
            <a:r>
              <a:t>My mentors at the Faculty of Agriculture for guiding me through this journey. The experimental team here in Belgrade who helped with the laboratory work. Our collaborators at the Faculty of Organizational Sciences for the computational side. The Institute for Medicinal Plants team for their botanical expertise. And my supervisors during international mobility at Chalmers University and other institutions, who brought computational biology knowledge to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today's presentation is organized.</a:t>
            </a:r>
          </a:p>
          <a:p/>
          <a:p>
            <a:r>
              <a:t>First, Phase I: the experimental work. We characterized commercial essential oils and suggested a way to preserve and deliver them using encapsulation in biodegradable material.</a:t>
            </a:r>
          </a:p>
          <a:p/>
          <a:p>
            <a:r>
              <a:t>Then Phase II: the machine learning part. We collected and analysed data to figure out what molecular structures are potentially involved in the antimicrobial activity of plant essential oils.</a:t>
            </a:r>
          </a:p>
          <a:p/>
          <a:p>
            <a:r>
              <a:t>I'll walk you through the experiments, explain the gap we found that led us to the computational work, and then show you what the machine learning revealed.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study essential oils in 2026? Because plants have already done a lot of chemical innovation for us. Essential oils are complex mixtures of bioactive molecules derived from plants, and today we have tools such as machine learning, synthetic biology, and CRISPR based genome editing. If we can understand which plant molecules are useful, we may later be able to produce them in engineered microbes instead of relying only on extraction from plants.</a:t>
            </a:r>
          </a:p>
          <a:p/>
          <a:p>
            <a:r>
              <a:t>Why did we focus on Salmonella? Because it is a major foodborne pathogen and an important model for food safety research. It can survive in foods, cause intestinal infection, trigger strong inflammation, and develop resistance to antibiotics. Historically, Salmonella infections caused serious outbreaks. Today, sanitation and hygiene allow us to control it much better, but it remains a useful target for testing new antimicrobial strategies.</a:t>
            </a:r>
          </a:p>
          <a:p/>
          <a:p>
            <a:r>
              <a:t>Why machine learning? There are hundreds of compounds in essential oils. Testing them one by one is impractical. Machine learning allows us to find patterns across many oils at once.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started in the lab, using GC-MS to profile four essential oils: tea tree, lavender, bergamot, and peppermint. In each one we identified over 98% of the volatiles. Tea tree was mainly terpinen-4-ol (45%), lavender and bergamot were rich in linalool and linalyl acetate, and peppermint was mostly isomenthol (49%).</a:t>
            </a:r>
          </a:p>
          <a:p/>
          <a:p>
            <a:r>
              <a:t>Next we tested antimicrobial activity against Salmonella Typhimurium ATCC 14028. Lavender and bergamot inhibited growth at 5 µg/mL, while tea tree and peppermint required 10 µg/mL. For antioxidant activity we used DPPH and ABTS: peppermint was the strongest antioxidant (23 mmol TE/L by DPPH), tea tree the weakest (8 mmol TE/L). Activity remained measurable after 12 months of storage.</a:t>
            </a:r>
          </a:p>
          <a:p/>
          <a:p>
            <a:r>
              <a:t>The problem is that raw oils evaporate and are hard to dose. So we encapsulated them into calcium alginate beads by electrostatic extrusion, a solvent free method. The wet beads are unstable, so we freeze dried them. Empty beads shrank from about 2.0 mm to 1.4 mm, roughly 30%, and stayed approximately spherical.</a:t>
            </a:r>
          </a:p>
          <a:p/>
          <a:p>
            <a:r>
              <a:t>The research gap is not that bioactive compounds were unknown. For many years we learned which molecules work mainly by empirical laboratory testing, compound by compound and oil by oil. What was missing is a computational way to map chemical motifs linked to activity back to plants, so that this knowledge can be reached more systematically and with less labour. Now that the technology allows it, machine learning can help us leave that purely empirical path behind and prioritise what to test next. That is why we move to the computational part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started in the lab, using GC-MS to profile four essential oils: tea tree, lavender, bergamot, and peppermint. In each one we identified over 98% of the volatiles. Tea tree was mainly terpinen-4-ol (45%), lavender and bergamot were rich in linalool and linalyl acetate, and peppermint was mostly isomenthol (49%).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tested antimicrobial activity against Salmonella Typhimurium ATCC 14028. Lavender and bergamot inhibited growth at 5 µg/mL, while tea tree and peppermint required 10 µg/mL. For antioxidant activity we used DPPH and ABTS: peppermint was the strongest antioxidant (23 mmol TE/L by DPPH), tea tree the weakest (8 mmol TE/L). Activity remained measurable after 12 months of storage.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that raw oils evaporate and are hard to dose. So we encapsulated them into calcium alginate beads by electrostatic extrusion, a solvent free method. The wet beads are unstable, so we freeze dried them. Empty beads shrank from about 2.0 mm to 1.4 mm, roughly 30%, and stayed approximately spherical.</a:t>
            </a:r>
          </a:p>
          <a:p/>
          <a:p>
            <a:r>
              <a:t>The research gap is not that bioactive compounds were unknown. For many years we learned which molecules work mainly by empirical laboratory testing, compound by compound and oil by oil. What was missing is a computational way to map chemical motifs linked to activity back to plants, so that this knowledge can be reached more systematically and with less labour. Now that the technology allows it, machine learning can help us leave that purely empirical path behind and prioritise what to test next. That is why we move to the computational part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built a four step pipeline.</a:t>
            </a:r>
          </a:p>
          <a:p/>
          <a:p>
            <a:r>
              <a:t>Step 1: We collected data on 171 essential oils from published studies, including their composition and whether they were classified as active against Salmonella. The set was nearly balanced: 87 active and 84 inactive oils. Only major constituents above 10% were included.</a:t>
            </a:r>
          </a:p>
          <a:p/>
          <a:p>
            <a:r>
              <a:t>Step 2: We converted the chemical names into Morgan fingerprints. These are binary codes that represent molecular features. Each chemical becomes a specific pattern of ones and zeros, where a one indicates the presence of a particular feature.</a:t>
            </a:r>
          </a:p>
          <a:p/>
          <a:p>
            <a:r>
              <a:t>Step 3: We trained an L1-regularised logistic regression model and then used permutation feature importance to determine which molecular features mattered most.</a:t>
            </a:r>
          </a:p>
          <a:p/>
          <a:p>
            <a:r>
              <a:t>Step 4: We compared our findings with what is already known from the essential oil literature.</a:t>
            </a:r>
          </a:p>
          <a:p/>
          <a:p>
            <a:r>
              <a:t>The main outcome is the machine learning pipeline we developed. The same approach can be used to identify molecular features linked to other biological activities and to decide more efficiently what should be tested next in the laboratory.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first encoded the molecules using 2048-bit Morgan fingerprints, which is a standard setting. After removing the fragments that were never present in our dataset, we were left with 682 descriptors.</a:t>
            </a:r>
          </a:p>
          <a:p/>
          <a:p>
            <a:r>
              <a:t>Then we removed one member of each highly correlated pair (|r| &gt; 0.95), reducing the number of descriptors to 337. After that, we ranked the remaining descriptors by permutation feature importance, keeping only those whose shuffling lowered ROC AUC by at least 0.01. Exactly ten descriptors passed this threshold.</a:t>
            </a:r>
          </a:p>
          <a:p/>
          <a:p>
            <a:r>
              <a:t>To evaluate the model, we used repeated stratified five fold cross validation with 100 repeats. The area under the curve was 0.88, meaning the model ranked active oils above inactive ones very well. About 88% of the time, a randomly chosen active oil received a higher predicted probability than a randomly chosen inactive oil. Under Hosmer's scale, this is excellent discrimination, although it remains internal validation on our dataset, not an external holdout set. We also used 1000 bootstrap samples to estimate uncertainty around the regression coefficients, not to validate predictive performance.</a:t>
            </a:r>
          </a:p>
          <a:p/>
          <a:p>
            <a:r>
              <a:t>The training accuracy was 0.84 and the test accuracy was 0.81, so the gap was small. That suggests the model generalised well and was not simply memorising the training data. Test sensitivity was 0.83 and specificity 0.80.</a:t>
            </a:r>
          </a:p>
          <a:p/>
          <a:p>
            <a:r>
              <a:t>Based on this, we could interpret the selected features more confidently. Phenolic structures, especially those encoded by Bit_1607, were strongly associated with activity against Salmonella, while branched bicyclic hydrocarbons, such as Bit_549, were associated with inactivity. This is an associative model finding, not a claim of molecular causation. Partial dependence analysis showed that when strong positive bits were absent the predicted probability was about 0.45, and when they were present it rose to as high as about 0.95.</a:t>
            </a:r>
          </a:p>
          <a:p/>
          <a:p>
            <a:r>
              <a:t>Interestingly, none of the four essential oils we tested experimentally was rich in phenolic compounds. Instead, they were dominated by oxygenated monoterpenes. This helps explain why their activity was modest compared with the phenolic rich oils reported by Soković and colleagues, who documented that carvacrol and thymol containing oils, which differ only in hydroxyl orientation on the benzene ring, showed MICs as low as 0.5 µg/mL against S. Typhimurium.</a:t>
            </a:r>
          </a:p>
          <a:p/>
          <a:p>
            <a:r>
              <a:t>Carvacrol and thymol are signature compounds of plants such as wild thyme and oregano, which are common in Serbia and traditionally used in foods and medicines. Similar antibacterial effects have also been reported for eugenol, another phenolic compound found predominantly in clove oil, which acts on the bacterial membrane and can induce oxidative stress through reactive oxygen species.</a:t>
            </a:r>
          </a:p>
          <a:p/>
          <a:p>
            <a:r>
              <a:t>This supports our logistic regression analysis, in which bits encoding an aromatic hydroxyl group receive the strongest positive weights. It is also a reminder of why protecting and studying our local flora is important.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 every study, this work has limitations that should be considered. In the experimental phase, we tested only four commercial essential oils and one Salmonella Typhimurium strain. We focused mainly on bead morphology and did not evaluate release kinetics, biological activity after encapsulation, or performance in food systems.</a:t>
            </a:r>
          </a:p>
          <a:p/>
          <a:p>
            <a:r>
              <a:t>In the computational phase, the dataset came from published studies that used different experimental protocols, and only major compounds present above 10% were included. Although the model performed well, it was evaluated only by internal repeated stratified cross validation, with bootstrapping used to estimate coefficient uncertainty rather than predictive performance. The identified molecular features should therefore be viewed as promising candidates that require confirmation in future laboratory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 opens several directions for future research, both experimentally and computationally.</a:t>
            </a:r>
          </a:p>
          <a:p/>
          <a:p>
            <a:r>
              <a:t>On the experimental side, we would like to analyse a larger number of essential oils and microorganisms, explore different encapsulation systems, and test our formulations in real food applications.</a:t>
            </a:r>
          </a:p>
          <a:p/>
          <a:p>
            <a:r>
              <a:t>On the computational side, the same pipeline can be extended using modern AI methods such as graph neural networks, molecular language models, and active learning, where predictions guide the next laboratory experiments.</a:t>
            </a:r>
          </a:p>
          <a:p/>
          <a:p>
            <a:r>
              <a:t>Ultimately, the goal is to create a continuous feedback loop between AI and laboratory validation, making the discovery of new plant derived antimicrobials faster and more efficient.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concludes my presentation. I hope I have shown how combining experimental work with machine learning can help us better understand what drives the antimicrobial potential of plant essential oils and guide future discoveries of active molecular sites.</a:t>
            </a:r>
          </a:p>
          <a:p/>
          <a:p>
            <a:r>
              <a:t>Thank you very much for your attention, and I will be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 Id="rId7" Type="http://schemas.openxmlformats.org/officeDocument/2006/relationships/image" Target="../media/image8.jpg"/><Relationship Id="rId8" Type="http://schemas.openxmlformats.org/officeDocument/2006/relationships/image" Target="../media/image9.jpg"/><Relationship Id="rId9" Type="http://schemas.openxmlformats.org/officeDocument/2006/relationships/image" Target="../media/image10.jpg"/><Relationship Id="rId10" Type="http://schemas.openxmlformats.org/officeDocument/2006/relationships/image" Target="../media/image11.jpg"/><Relationship Id="rId11" Type="http://schemas.openxmlformats.org/officeDocument/2006/relationships/image" Target="../media/image12.jpg"/><Relationship Id="rId12" Type="http://schemas.openxmlformats.org/officeDocument/2006/relationships/image" Target="../media/image13.jpg"/><Relationship Id="rId13" Type="http://schemas.openxmlformats.org/officeDocument/2006/relationships/image" Target="../media/image14.jpg"/><Relationship Id="rId14" Type="http://schemas.openxmlformats.org/officeDocument/2006/relationships/image" Target="../media/image15.jpg"/><Relationship Id="rId15" Type="http://schemas.openxmlformats.org/officeDocument/2006/relationships/image" Target="../media/image16.jpg"/><Relationship Id="rId16" Type="http://schemas.openxmlformats.org/officeDocument/2006/relationships/image" Target="../media/image17.jpg"/><Relationship Id="rId17" Type="http://schemas.openxmlformats.org/officeDocument/2006/relationships/image" Target="../media/image18.jpg"/><Relationship Id="rId18" Type="http://schemas.openxmlformats.org/officeDocument/2006/relationships/image" Target="../media/image19.jpg"/><Relationship Id="rId1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slide" Target="slide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slide" Target="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slide" Target="slide9.xml"/><Relationship Id="rId4" Type="http://schemas.openxmlformats.org/officeDocument/2006/relationships/image" Target="../media/image29.png"/><Relationship Id="rId5" Type="http://schemas.openxmlformats.org/officeDocument/2006/relationships/slide" Target="slide10.xml"/><Relationship Id="rId6"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slide" Target="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slide" Target="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slide" Target="slide12.xml"/><Relationship Id="rId4" Type="http://schemas.openxmlformats.org/officeDocument/2006/relationships/image" Target="../media/image30.png"/><Relationship Id="rId5" Type="http://schemas.openxmlformats.org/officeDocument/2006/relationships/slide" Target="slide13.xml"/><Relationship Id="rId6"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slide" Target="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slide" Target="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b.png"/>
          <p:cNvPicPr>
            <a:picLocks noChangeAspect="1"/>
          </p:cNvPicPr>
          <p:nvPr/>
        </p:nvPicPr>
        <p:blipFill>
          <a:blip r:embed="rId2"/>
          <a:stretch>
            <a:fillRect/>
          </a:stretch>
        </p:blipFill>
        <p:spPr>
          <a:xfrm>
            <a:off x="640080" y="640080"/>
            <a:ext cx="1372458" cy="1828800"/>
          </a:xfrm>
          <a:prstGeom prst="rect">
            <a:avLst/>
          </a:prstGeom>
        </p:spPr>
      </p:pic>
      <p:pic>
        <p:nvPicPr>
          <p:cNvPr id="3" name="Picture 2" descr="agrif.png"/>
          <p:cNvPicPr>
            <a:picLocks noChangeAspect="1"/>
          </p:cNvPicPr>
          <p:nvPr/>
        </p:nvPicPr>
        <p:blipFill>
          <a:blip r:embed="rId3"/>
          <a:stretch>
            <a:fillRect/>
          </a:stretch>
        </p:blipFill>
        <p:spPr>
          <a:xfrm>
            <a:off x="9966960" y="640080"/>
            <a:ext cx="1492254" cy="1828800"/>
          </a:xfrm>
          <a:prstGeom prst="rect">
            <a:avLst/>
          </a:prstGeom>
        </p:spPr>
      </p:pic>
      <p:sp>
        <p:nvSpPr>
          <p:cNvPr id="4" name="TextBox 3"/>
          <p:cNvSpPr txBox="1"/>
          <p:nvPr/>
        </p:nvSpPr>
        <p:spPr>
          <a:xfrm>
            <a:off x="2377440" y="1234440"/>
            <a:ext cx="7406640" cy="548640"/>
          </a:xfrm>
          <a:prstGeom prst="rect">
            <a:avLst/>
          </a:prstGeom>
          <a:noFill/>
        </p:spPr>
        <p:txBody>
          <a:bodyPr wrap="none">
            <a:spAutoFit/>
          </a:bodyPr>
          <a:lstStyle/>
          <a:p>
            <a:pPr algn="ctr"/>
            <a:r>
              <a:rPr sz="1700" b="0" i="0">
                <a:solidFill>
                  <a:srgbClr val="555555"/>
                </a:solidFill>
                <a:latin typeface="Calibri"/>
              </a:rPr>
              <a:t>University of Belgrade  ·  Faculty of Agriculture</a:t>
            </a:r>
          </a:p>
        </p:txBody>
      </p:sp>
      <p:sp>
        <p:nvSpPr>
          <p:cNvPr id="5" name="TextBox 4"/>
          <p:cNvSpPr txBox="1"/>
          <p:nvPr/>
        </p:nvSpPr>
        <p:spPr>
          <a:xfrm>
            <a:off x="914400" y="2697480"/>
            <a:ext cx="10332720" cy="1828800"/>
          </a:xfrm>
          <a:prstGeom prst="rect">
            <a:avLst/>
          </a:prstGeom>
          <a:noFill/>
        </p:spPr>
        <p:txBody>
          <a:bodyPr wrap="none">
            <a:spAutoFit/>
          </a:bodyPr>
          <a:lstStyle/>
          <a:p>
            <a:pPr algn="ctr"/>
            <a:r>
              <a:rPr sz="2200" b="1" i="0">
                <a:solidFill>
                  <a:srgbClr val="1A3A5C"/>
                </a:solidFill>
                <a:latin typeface="Calibri"/>
              </a:rPr>
              <a:t>Chemical characterisation of essential oils and machine learning analysis of molecular substructures associated with antimicrobial activity against </a:t>
            </a:r>
            <a:r>
              <a:rPr sz="2200" b="1" i="1">
                <a:solidFill>
                  <a:srgbClr val="1A3A5C"/>
                </a:solidFill>
                <a:latin typeface="Calibri"/>
              </a:rPr>
              <a:t>Salmonella</a:t>
            </a:r>
            <a:r>
              <a:rPr sz="2200" b="1" i="0">
                <a:solidFill>
                  <a:srgbClr val="1A3A5C"/>
                </a:solidFill>
                <a:latin typeface="Calibri"/>
              </a:rPr>
              <a:t> Typhimurium for food industry applications</a:t>
            </a:r>
          </a:p>
        </p:txBody>
      </p:sp>
      <p:sp>
        <p:nvSpPr>
          <p:cNvPr id="6" name="TextBox 5"/>
          <p:cNvSpPr txBox="1"/>
          <p:nvPr/>
        </p:nvSpPr>
        <p:spPr>
          <a:xfrm>
            <a:off x="914400" y="4617720"/>
            <a:ext cx="10332720" cy="365760"/>
          </a:xfrm>
          <a:prstGeom prst="rect">
            <a:avLst/>
          </a:prstGeom>
          <a:noFill/>
        </p:spPr>
        <p:txBody>
          <a:bodyPr wrap="none">
            <a:spAutoFit/>
          </a:bodyPr>
          <a:lstStyle/>
          <a:p>
            <a:pPr algn="ctr"/>
            <a:r>
              <a:rPr sz="1800" b="1" i="0">
                <a:solidFill>
                  <a:srgbClr val="C9A227"/>
                </a:solidFill>
                <a:latin typeface="Calibri"/>
              </a:rPr>
              <a:t>Doctoral Defense</a:t>
            </a:r>
          </a:p>
        </p:txBody>
      </p:sp>
      <p:sp>
        <p:nvSpPr>
          <p:cNvPr id="7" name="TextBox 6"/>
          <p:cNvSpPr txBox="1"/>
          <p:nvPr/>
        </p:nvSpPr>
        <p:spPr>
          <a:xfrm>
            <a:off x="914400" y="5120640"/>
            <a:ext cx="10332720" cy="1097280"/>
          </a:xfrm>
          <a:prstGeom prst="rect">
            <a:avLst/>
          </a:prstGeom>
          <a:noFill/>
        </p:spPr>
        <p:txBody>
          <a:bodyPr wrap="square">
            <a:spAutoFit/>
          </a:bodyPr>
          <a:lstStyle/>
          <a:p>
            <a:pPr algn="ctr"/>
            <a:r>
              <a:rPr sz="1600" b="0" i="0">
                <a:solidFill>
                  <a:srgbClr val="1A3A5C"/>
                </a:solidFill>
                <a:latin typeface="Calibri"/>
              </a:rPr>
              <a:t>Student: Maria Lagerholm</a:t>
            </a:r>
          </a:p>
          <a:p>
            <a:pPr algn="ctr">
              <a:spcBef>
                <a:spcPts val="400"/>
              </a:spcBef>
              <a:spcAft>
                <a:spcPts val="200"/>
              </a:spcAft>
            </a:pPr>
            <a:r>
              <a:rPr sz="1500" b="0" i="0">
                <a:solidFill>
                  <a:srgbClr val="555555"/>
                </a:solidFill>
                <a:latin typeface="Calibri"/>
              </a:rPr>
              <a:t>Mentors: Prof Dr Viktor Nedović, Prof Dr Mirjana Pešić</a:t>
            </a:r>
          </a:p>
          <a:p>
            <a:pPr algn="ctr">
              <a:spcBef>
                <a:spcPts val="400"/>
              </a:spcBef>
              <a:spcAft>
                <a:spcPts val="200"/>
              </a:spcAft>
            </a:pPr>
            <a:r>
              <a:rPr sz="1600" b="0" i="0">
                <a:solidFill>
                  <a:srgbClr val="4A6741"/>
                </a:solidFill>
                <a:latin typeface="Calibri"/>
              </a:rPr>
              <a:t>2026</a:t>
            </a:r>
          </a:p>
        </p:txBody>
      </p:sp>
      <p:sp>
        <p:nvSpPr>
          <p:cNvPr id="8" name="TextBox 7"/>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lgn="l"/>
            <a:r>
              <a:rPr sz="3000" b="1" i="0">
                <a:solidFill>
                  <a:srgbClr val="1A3A5C"/>
                </a:solidFill>
                <a:latin typeface="Calibri"/>
              </a:rPr>
              <a:t>Acknowledgments</a:t>
            </a:r>
          </a:p>
        </p:txBody>
      </p:sp>
      <p:sp>
        <p:nvSpPr>
          <p:cNvPr id="3" name="TextBox 2"/>
          <p:cNvSpPr txBox="1"/>
          <p:nvPr/>
        </p:nvSpPr>
        <p:spPr>
          <a:xfrm>
            <a:off x="548640" y="914400"/>
            <a:ext cx="11064240" cy="320040"/>
          </a:xfrm>
          <a:prstGeom prst="rect">
            <a:avLst/>
          </a:prstGeom>
          <a:noFill/>
        </p:spPr>
        <p:txBody>
          <a:bodyPr wrap="none">
            <a:spAutoFit/>
          </a:bodyPr>
          <a:lstStyle/>
          <a:p>
            <a:pPr algn="l"/>
            <a:r>
              <a:rPr sz="1400" b="0" i="1">
                <a:solidFill>
                  <a:srgbClr val="555555"/>
                </a:solidFill>
                <a:latin typeface="Calibri"/>
              </a:rPr>
              <a:t>With gratitude to all collaborators who contributed to this research</a:t>
            </a:r>
          </a:p>
        </p:txBody>
      </p:sp>
      <p:pic>
        <p:nvPicPr>
          <p:cNvPr id="4" name="Picture 3" descr="viktor_sq.jpg"/>
          <p:cNvPicPr>
            <a:picLocks noChangeAspect="1"/>
          </p:cNvPicPr>
          <p:nvPr/>
        </p:nvPicPr>
        <p:blipFill>
          <a:blip r:embed="rId2"/>
          <a:stretch>
            <a:fillRect/>
          </a:stretch>
        </p:blipFill>
        <p:spPr>
          <a:xfrm>
            <a:off x="4129887" y="1188720"/>
            <a:ext cx="868680" cy="868680"/>
          </a:xfrm>
          <a:prstGeom prst="ellipse">
            <a:avLst/>
          </a:prstGeom>
          <a:ln w="19050">
            <a:solidFill>
              <a:srgbClr val="C9A227"/>
            </a:solidFill>
          </a:ln>
        </p:spPr>
      </p:pic>
      <p:sp>
        <p:nvSpPr>
          <p:cNvPr id="5" name="TextBox 4"/>
          <p:cNvSpPr txBox="1"/>
          <p:nvPr/>
        </p:nvSpPr>
        <p:spPr>
          <a:xfrm>
            <a:off x="3101187" y="2084831"/>
            <a:ext cx="2926080" cy="457200"/>
          </a:xfrm>
          <a:prstGeom prst="rect">
            <a:avLst/>
          </a:prstGeom>
          <a:noFill/>
        </p:spPr>
        <p:txBody>
          <a:bodyPr wrap="square">
            <a:spAutoFit/>
          </a:bodyPr>
          <a:lstStyle/>
          <a:p>
            <a:pPr algn="ctr"/>
            <a:r>
              <a:rPr sz="900" b="1" i="0">
                <a:solidFill>
                  <a:srgbClr val="1A3A5C"/>
                </a:solidFill>
                <a:latin typeface="Calibri"/>
              </a:rPr>
              <a:t>Prof Dr Viktor Nedović</a:t>
            </a:r>
          </a:p>
          <a:p>
            <a:pPr algn="ctr">
              <a:spcBef>
                <a:spcPts val="400"/>
              </a:spcBef>
              <a:spcAft>
                <a:spcPts val="200"/>
              </a:spcAft>
            </a:pPr>
            <a:r>
              <a:rPr sz="800" b="0" i="0">
                <a:solidFill>
                  <a:srgbClr val="888888"/>
                </a:solidFill>
                <a:latin typeface="Calibri"/>
              </a:rPr>
              <a:t>Faculty of Agriculture, UB</a:t>
            </a:r>
          </a:p>
        </p:txBody>
      </p:sp>
      <p:pic>
        <p:nvPicPr>
          <p:cNvPr id="6" name="Picture 5" descr="mirjana_sq.jpg"/>
          <p:cNvPicPr>
            <a:picLocks noChangeAspect="1"/>
          </p:cNvPicPr>
          <p:nvPr/>
        </p:nvPicPr>
        <p:blipFill>
          <a:blip r:embed="rId3"/>
          <a:stretch>
            <a:fillRect/>
          </a:stretch>
        </p:blipFill>
        <p:spPr>
          <a:xfrm>
            <a:off x="7193127" y="1188720"/>
            <a:ext cx="868680" cy="868680"/>
          </a:xfrm>
          <a:prstGeom prst="ellipse">
            <a:avLst/>
          </a:prstGeom>
          <a:ln w="19050">
            <a:solidFill>
              <a:srgbClr val="C9A227"/>
            </a:solidFill>
          </a:ln>
        </p:spPr>
      </p:pic>
      <p:sp>
        <p:nvSpPr>
          <p:cNvPr id="7" name="TextBox 6"/>
          <p:cNvSpPr txBox="1"/>
          <p:nvPr/>
        </p:nvSpPr>
        <p:spPr>
          <a:xfrm>
            <a:off x="6164427" y="2084831"/>
            <a:ext cx="2926080" cy="457200"/>
          </a:xfrm>
          <a:prstGeom prst="rect">
            <a:avLst/>
          </a:prstGeom>
          <a:noFill/>
        </p:spPr>
        <p:txBody>
          <a:bodyPr wrap="square">
            <a:spAutoFit/>
          </a:bodyPr>
          <a:lstStyle/>
          <a:p>
            <a:pPr algn="ctr"/>
            <a:r>
              <a:rPr sz="900" b="1" i="0">
                <a:solidFill>
                  <a:srgbClr val="1A3A5C"/>
                </a:solidFill>
                <a:latin typeface="Calibri"/>
              </a:rPr>
              <a:t>Prof Dr Mirjana Pešić</a:t>
            </a:r>
          </a:p>
          <a:p>
            <a:pPr algn="ctr">
              <a:spcBef>
                <a:spcPts val="400"/>
              </a:spcBef>
              <a:spcAft>
                <a:spcPts val="200"/>
              </a:spcAft>
            </a:pPr>
            <a:r>
              <a:rPr sz="800" b="0" i="0">
                <a:solidFill>
                  <a:srgbClr val="888888"/>
                </a:solidFill>
                <a:latin typeface="Calibri"/>
              </a:rPr>
              <a:t>Faculty of Agriculture, UB</a:t>
            </a:r>
          </a:p>
        </p:txBody>
      </p:sp>
      <p:pic>
        <p:nvPicPr>
          <p:cNvPr id="8" name="Picture 7" descr="anaS_sq.jpg"/>
          <p:cNvPicPr>
            <a:picLocks noChangeAspect="1"/>
          </p:cNvPicPr>
          <p:nvPr/>
        </p:nvPicPr>
        <p:blipFill>
          <a:blip r:embed="rId4"/>
          <a:stretch>
            <a:fillRect/>
          </a:stretch>
        </p:blipFill>
        <p:spPr>
          <a:xfrm>
            <a:off x="1432407" y="2660904"/>
            <a:ext cx="731520" cy="731520"/>
          </a:xfrm>
          <a:prstGeom prst="ellipse">
            <a:avLst/>
          </a:prstGeom>
          <a:ln w="19050">
            <a:solidFill>
              <a:srgbClr val="C9A227"/>
            </a:solidFill>
          </a:ln>
        </p:spPr>
      </p:pic>
      <p:sp>
        <p:nvSpPr>
          <p:cNvPr id="9" name="TextBox 8"/>
          <p:cNvSpPr txBox="1"/>
          <p:nvPr/>
        </p:nvSpPr>
        <p:spPr>
          <a:xfrm>
            <a:off x="792327" y="3419856"/>
            <a:ext cx="2011680" cy="457200"/>
          </a:xfrm>
          <a:prstGeom prst="rect">
            <a:avLst/>
          </a:prstGeom>
          <a:noFill/>
        </p:spPr>
        <p:txBody>
          <a:bodyPr wrap="square">
            <a:spAutoFit/>
          </a:bodyPr>
          <a:lstStyle/>
          <a:p>
            <a:pPr algn="ctr"/>
            <a:r>
              <a:rPr sz="900" b="1" i="0">
                <a:solidFill>
                  <a:srgbClr val="1A3A5C"/>
                </a:solidFill>
                <a:latin typeface="Calibri"/>
              </a:rPr>
              <a:t>Dr Ana Salević</a:t>
            </a:r>
          </a:p>
          <a:p>
            <a:pPr algn="ctr">
              <a:spcBef>
                <a:spcPts val="400"/>
              </a:spcBef>
              <a:spcAft>
                <a:spcPts val="200"/>
              </a:spcAft>
            </a:pPr>
            <a:r>
              <a:rPr sz="800" b="0" i="0">
                <a:solidFill>
                  <a:srgbClr val="888888"/>
                </a:solidFill>
                <a:latin typeface="Calibri"/>
              </a:rPr>
              <a:t>Faculty of Agriculture, UB</a:t>
            </a:r>
          </a:p>
        </p:txBody>
      </p:sp>
      <p:pic>
        <p:nvPicPr>
          <p:cNvPr id="10" name="Picture 9" descr="anaK_sq.jpg"/>
          <p:cNvPicPr>
            <a:picLocks noChangeAspect="1"/>
          </p:cNvPicPr>
          <p:nvPr/>
        </p:nvPicPr>
        <p:blipFill>
          <a:blip r:embed="rId5"/>
          <a:stretch>
            <a:fillRect/>
          </a:stretch>
        </p:blipFill>
        <p:spPr>
          <a:xfrm>
            <a:off x="3581247" y="2660904"/>
            <a:ext cx="731520" cy="731520"/>
          </a:xfrm>
          <a:prstGeom prst="ellipse">
            <a:avLst/>
          </a:prstGeom>
          <a:ln w="19050">
            <a:solidFill>
              <a:srgbClr val="C9A227"/>
            </a:solidFill>
          </a:ln>
        </p:spPr>
      </p:pic>
      <p:sp>
        <p:nvSpPr>
          <p:cNvPr id="11" name="TextBox 10"/>
          <p:cNvSpPr txBox="1"/>
          <p:nvPr/>
        </p:nvSpPr>
        <p:spPr>
          <a:xfrm>
            <a:off x="2941167" y="3419856"/>
            <a:ext cx="2011680" cy="457200"/>
          </a:xfrm>
          <a:prstGeom prst="rect">
            <a:avLst/>
          </a:prstGeom>
          <a:noFill/>
        </p:spPr>
        <p:txBody>
          <a:bodyPr wrap="square">
            <a:spAutoFit/>
          </a:bodyPr>
          <a:lstStyle/>
          <a:p>
            <a:pPr algn="ctr"/>
            <a:r>
              <a:rPr sz="900" b="1" i="0">
                <a:solidFill>
                  <a:srgbClr val="1A3A5C"/>
                </a:solidFill>
                <a:latin typeface="Calibri"/>
              </a:rPr>
              <a:t>Dr Ana Kalušević</a:t>
            </a:r>
          </a:p>
          <a:p>
            <a:pPr algn="ctr">
              <a:spcBef>
                <a:spcPts val="400"/>
              </a:spcBef>
              <a:spcAft>
                <a:spcPts val="200"/>
              </a:spcAft>
            </a:pPr>
            <a:r>
              <a:rPr sz="800" b="0" i="0">
                <a:solidFill>
                  <a:srgbClr val="888888"/>
                </a:solidFill>
                <a:latin typeface="Calibri"/>
              </a:rPr>
              <a:t>Institute of Meat Hygiene</a:t>
            </a:r>
          </a:p>
        </p:txBody>
      </p:sp>
      <p:pic>
        <p:nvPicPr>
          <p:cNvPr id="12" name="Picture 11" descr="steva_sq.jpg"/>
          <p:cNvPicPr>
            <a:picLocks noChangeAspect="1"/>
          </p:cNvPicPr>
          <p:nvPr/>
        </p:nvPicPr>
        <p:blipFill>
          <a:blip r:embed="rId6"/>
          <a:stretch>
            <a:fillRect/>
          </a:stretch>
        </p:blipFill>
        <p:spPr>
          <a:xfrm>
            <a:off x="5730087" y="2660904"/>
            <a:ext cx="731520" cy="731520"/>
          </a:xfrm>
          <a:prstGeom prst="ellipse">
            <a:avLst/>
          </a:prstGeom>
          <a:ln w="19050">
            <a:solidFill>
              <a:srgbClr val="C9A227"/>
            </a:solidFill>
          </a:ln>
        </p:spPr>
      </p:pic>
      <p:sp>
        <p:nvSpPr>
          <p:cNvPr id="13" name="TextBox 12"/>
          <p:cNvSpPr txBox="1"/>
          <p:nvPr/>
        </p:nvSpPr>
        <p:spPr>
          <a:xfrm>
            <a:off x="5090007" y="3419856"/>
            <a:ext cx="2011680" cy="457200"/>
          </a:xfrm>
          <a:prstGeom prst="rect">
            <a:avLst/>
          </a:prstGeom>
          <a:noFill/>
        </p:spPr>
        <p:txBody>
          <a:bodyPr wrap="square">
            <a:spAutoFit/>
          </a:bodyPr>
          <a:lstStyle/>
          <a:p>
            <a:pPr algn="ctr"/>
            <a:r>
              <a:rPr sz="900" b="1" i="0">
                <a:solidFill>
                  <a:srgbClr val="1A3A5C"/>
                </a:solidFill>
                <a:latin typeface="Calibri"/>
              </a:rPr>
              <a:t>Dr Steva Lević</a:t>
            </a:r>
          </a:p>
          <a:p>
            <a:pPr algn="ctr">
              <a:spcBef>
                <a:spcPts val="400"/>
              </a:spcBef>
              <a:spcAft>
                <a:spcPts val="200"/>
              </a:spcAft>
            </a:pPr>
            <a:r>
              <a:rPr sz="800" b="0" i="0">
                <a:solidFill>
                  <a:srgbClr val="888888"/>
                </a:solidFill>
                <a:latin typeface="Calibri"/>
              </a:rPr>
              <a:t>Faculty of Agriculture, UB</a:t>
            </a:r>
          </a:p>
        </p:txBody>
      </p:sp>
      <p:pic>
        <p:nvPicPr>
          <p:cNvPr id="14" name="Picture 13" descr="milena_sq.jpg"/>
          <p:cNvPicPr>
            <a:picLocks noChangeAspect="1"/>
          </p:cNvPicPr>
          <p:nvPr/>
        </p:nvPicPr>
        <p:blipFill>
          <a:blip r:embed="rId7"/>
          <a:stretch>
            <a:fillRect/>
          </a:stretch>
        </p:blipFill>
        <p:spPr>
          <a:xfrm>
            <a:off x="7878927" y="2660904"/>
            <a:ext cx="731520" cy="731520"/>
          </a:xfrm>
          <a:prstGeom prst="ellipse">
            <a:avLst/>
          </a:prstGeom>
          <a:ln w="19050">
            <a:solidFill>
              <a:srgbClr val="C9A227"/>
            </a:solidFill>
          </a:ln>
        </p:spPr>
      </p:pic>
      <p:sp>
        <p:nvSpPr>
          <p:cNvPr id="15" name="TextBox 14"/>
          <p:cNvSpPr txBox="1"/>
          <p:nvPr/>
        </p:nvSpPr>
        <p:spPr>
          <a:xfrm>
            <a:off x="7238847" y="3419856"/>
            <a:ext cx="2011680" cy="457200"/>
          </a:xfrm>
          <a:prstGeom prst="rect">
            <a:avLst/>
          </a:prstGeom>
          <a:noFill/>
        </p:spPr>
        <p:txBody>
          <a:bodyPr wrap="square">
            <a:spAutoFit/>
          </a:bodyPr>
          <a:lstStyle/>
          <a:p>
            <a:pPr algn="ctr"/>
            <a:r>
              <a:rPr sz="900" b="1" i="0">
                <a:solidFill>
                  <a:srgbClr val="1A3A5C"/>
                </a:solidFill>
                <a:latin typeface="Calibri"/>
              </a:rPr>
              <a:t>Dr Milena Pantić</a:t>
            </a:r>
          </a:p>
          <a:p>
            <a:pPr algn="ctr">
              <a:spcBef>
                <a:spcPts val="400"/>
              </a:spcBef>
              <a:spcAft>
                <a:spcPts val="200"/>
              </a:spcAft>
            </a:pPr>
            <a:r>
              <a:rPr sz="800" b="0" i="0">
                <a:solidFill>
                  <a:srgbClr val="888888"/>
                </a:solidFill>
                <a:latin typeface="Calibri"/>
              </a:rPr>
              <a:t>Faculty of Agriculture, UB</a:t>
            </a:r>
          </a:p>
        </p:txBody>
      </p:sp>
      <p:pic>
        <p:nvPicPr>
          <p:cNvPr id="16" name="Picture 15" descr="miomir_sq.jpg"/>
          <p:cNvPicPr>
            <a:picLocks noChangeAspect="1"/>
          </p:cNvPicPr>
          <p:nvPr/>
        </p:nvPicPr>
        <p:blipFill>
          <a:blip r:embed="rId8"/>
          <a:stretch>
            <a:fillRect/>
          </a:stretch>
        </p:blipFill>
        <p:spPr>
          <a:xfrm>
            <a:off x="10027767" y="2660904"/>
            <a:ext cx="731520" cy="731520"/>
          </a:xfrm>
          <a:prstGeom prst="ellipse">
            <a:avLst/>
          </a:prstGeom>
          <a:ln w="19050">
            <a:solidFill>
              <a:srgbClr val="C9A227"/>
            </a:solidFill>
          </a:ln>
        </p:spPr>
      </p:pic>
      <p:sp>
        <p:nvSpPr>
          <p:cNvPr id="17" name="TextBox 16"/>
          <p:cNvSpPr txBox="1"/>
          <p:nvPr/>
        </p:nvSpPr>
        <p:spPr>
          <a:xfrm>
            <a:off x="9387687" y="3419856"/>
            <a:ext cx="2011680" cy="457200"/>
          </a:xfrm>
          <a:prstGeom prst="rect">
            <a:avLst/>
          </a:prstGeom>
          <a:noFill/>
        </p:spPr>
        <p:txBody>
          <a:bodyPr wrap="square">
            <a:spAutoFit/>
          </a:bodyPr>
          <a:lstStyle/>
          <a:p>
            <a:pPr algn="ctr"/>
            <a:r>
              <a:rPr sz="900" b="1" i="0">
                <a:solidFill>
                  <a:srgbClr val="1A3A5C"/>
                </a:solidFill>
                <a:latin typeface="Calibri"/>
              </a:rPr>
              <a:t>Prof Dr Miomir Nikšić</a:t>
            </a:r>
          </a:p>
          <a:p>
            <a:pPr algn="ctr">
              <a:spcBef>
                <a:spcPts val="400"/>
              </a:spcBef>
              <a:spcAft>
                <a:spcPts val="200"/>
              </a:spcAft>
            </a:pPr>
            <a:r>
              <a:rPr sz="800" b="0" i="0">
                <a:solidFill>
                  <a:srgbClr val="888888"/>
                </a:solidFill>
                <a:latin typeface="Calibri"/>
              </a:rPr>
              <a:t>Faculty of Agriculture, UB</a:t>
            </a:r>
          </a:p>
        </p:txBody>
      </p:sp>
      <p:pic>
        <p:nvPicPr>
          <p:cNvPr id="18" name="Picture 17" descr="milos_sq.jpg"/>
          <p:cNvPicPr>
            <a:picLocks noChangeAspect="1"/>
          </p:cNvPicPr>
          <p:nvPr/>
        </p:nvPicPr>
        <p:blipFill>
          <a:blip r:embed="rId9"/>
          <a:stretch>
            <a:fillRect/>
          </a:stretch>
        </p:blipFill>
        <p:spPr>
          <a:xfrm>
            <a:off x="1432407" y="3995928"/>
            <a:ext cx="731520" cy="731520"/>
          </a:xfrm>
          <a:prstGeom prst="ellipse">
            <a:avLst/>
          </a:prstGeom>
          <a:ln w="19050">
            <a:solidFill>
              <a:srgbClr val="C9A227"/>
            </a:solidFill>
          </a:ln>
        </p:spPr>
      </p:pic>
      <p:sp>
        <p:nvSpPr>
          <p:cNvPr id="19" name="TextBox 18"/>
          <p:cNvSpPr txBox="1"/>
          <p:nvPr/>
        </p:nvSpPr>
        <p:spPr>
          <a:xfrm>
            <a:off x="792327" y="4754880"/>
            <a:ext cx="2011680" cy="457200"/>
          </a:xfrm>
          <a:prstGeom prst="rect">
            <a:avLst/>
          </a:prstGeom>
          <a:noFill/>
        </p:spPr>
        <p:txBody>
          <a:bodyPr wrap="square">
            <a:spAutoFit/>
          </a:bodyPr>
          <a:lstStyle/>
          <a:p>
            <a:pPr algn="ctr"/>
            <a:r>
              <a:rPr sz="900" b="1" i="0">
                <a:solidFill>
                  <a:srgbClr val="1A3A5C"/>
                </a:solidFill>
                <a:latin typeface="Calibri"/>
              </a:rPr>
              <a:t>Dr Miloš Jovanović</a:t>
            </a:r>
          </a:p>
          <a:p>
            <a:pPr algn="ctr">
              <a:spcBef>
                <a:spcPts val="400"/>
              </a:spcBef>
              <a:spcAft>
                <a:spcPts val="200"/>
              </a:spcAft>
            </a:pPr>
            <a:r>
              <a:rPr sz="800" b="0" i="0">
                <a:solidFill>
                  <a:srgbClr val="888888"/>
                </a:solidFill>
                <a:latin typeface="Calibri"/>
              </a:rPr>
              <a:t>Faculty of Organizational Sciences</a:t>
            </a:r>
          </a:p>
        </p:txBody>
      </p:sp>
      <p:pic>
        <p:nvPicPr>
          <p:cNvPr id="20" name="Picture 19" descr="marija-kuzmanovic_sq.jpg"/>
          <p:cNvPicPr>
            <a:picLocks noChangeAspect="1"/>
          </p:cNvPicPr>
          <p:nvPr/>
        </p:nvPicPr>
        <p:blipFill>
          <a:blip r:embed="rId10"/>
          <a:stretch>
            <a:fillRect/>
          </a:stretch>
        </p:blipFill>
        <p:spPr>
          <a:xfrm>
            <a:off x="3581247" y="3995928"/>
            <a:ext cx="731520" cy="731520"/>
          </a:xfrm>
          <a:prstGeom prst="ellipse">
            <a:avLst/>
          </a:prstGeom>
          <a:ln w="19050">
            <a:solidFill>
              <a:srgbClr val="C9A227"/>
            </a:solidFill>
          </a:ln>
        </p:spPr>
      </p:pic>
      <p:sp>
        <p:nvSpPr>
          <p:cNvPr id="21" name="TextBox 20"/>
          <p:cNvSpPr txBox="1"/>
          <p:nvPr/>
        </p:nvSpPr>
        <p:spPr>
          <a:xfrm>
            <a:off x="2941167" y="4754880"/>
            <a:ext cx="2011680" cy="457200"/>
          </a:xfrm>
          <a:prstGeom prst="rect">
            <a:avLst/>
          </a:prstGeom>
          <a:noFill/>
        </p:spPr>
        <p:txBody>
          <a:bodyPr wrap="square">
            <a:spAutoFit/>
          </a:bodyPr>
          <a:lstStyle/>
          <a:p>
            <a:pPr algn="ctr"/>
            <a:r>
              <a:rPr sz="900" b="1" i="0">
                <a:solidFill>
                  <a:srgbClr val="1A3A5C"/>
                </a:solidFill>
                <a:latin typeface="Calibri"/>
              </a:rPr>
              <a:t>Dr Marija Kuzmanović</a:t>
            </a:r>
          </a:p>
          <a:p>
            <a:pPr algn="ctr">
              <a:spcBef>
                <a:spcPts val="400"/>
              </a:spcBef>
              <a:spcAft>
                <a:spcPts val="200"/>
              </a:spcAft>
            </a:pPr>
            <a:r>
              <a:rPr sz="800" b="0" i="0">
                <a:solidFill>
                  <a:srgbClr val="888888"/>
                </a:solidFill>
                <a:latin typeface="Calibri"/>
              </a:rPr>
              <a:t>Faculty of Organizational Sciences</a:t>
            </a:r>
          </a:p>
        </p:txBody>
      </p:sp>
      <p:pic>
        <p:nvPicPr>
          <p:cNvPr id="22" name="Picture 21" descr="dejan_sq.jpg"/>
          <p:cNvPicPr>
            <a:picLocks noChangeAspect="1"/>
          </p:cNvPicPr>
          <p:nvPr/>
        </p:nvPicPr>
        <p:blipFill>
          <a:blip r:embed="rId11"/>
          <a:stretch>
            <a:fillRect/>
          </a:stretch>
        </p:blipFill>
        <p:spPr>
          <a:xfrm>
            <a:off x="5730087" y="3995928"/>
            <a:ext cx="731520" cy="731520"/>
          </a:xfrm>
          <a:prstGeom prst="ellipse">
            <a:avLst/>
          </a:prstGeom>
          <a:ln w="19050">
            <a:solidFill>
              <a:srgbClr val="C9A227"/>
            </a:solidFill>
          </a:ln>
        </p:spPr>
      </p:pic>
      <p:sp>
        <p:nvSpPr>
          <p:cNvPr id="23" name="TextBox 22"/>
          <p:cNvSpPr txBox="1"/>
          <p:nvPr/>
        </p:nvSpPr>
        <p:spPr>
          <a:xfrm>
            <a:off x="5090007" y="4754880"/>
            <a:ext cx="2011680" cy="457200"/>
          </a:xfrm>
          <a:prstGeom prst="rect">
            <a:avLst/>
          </a:prstGeom>
          <a:noFill/>
        </p:spPr>
        <p:txBody>
          <a:bodyPr wrap="square">
            <a:spAutoFit/>
          </a:bodyPr>
          <a:lstStyle/>
          <a:p>
            <a:pPr algn="ctr"/>
            <a:r>
              <a:rPr sz="900" b="1" i="0">
                <a:solidFill>
                  <a:srgbClr val="1A3A5C"/>
                </a:solidFill>
                <a:latin typeface="Calibri"/>
              </a:rPr>
              <a:t>Dr Dejan Pljevljakušić</a:t>
            </a:r>
          </a:p>
          <a:p>
            <a:pPr algn="ctr">
              <a:spcBef>
                <a:spcPts val="400"/>
              </a:spcBef>
              <a:spcAft>
                <a:spcPts val="200"/>
              </a:spcAft>
            </a:pPr>
            <a:r>
              <a:rPr sz="800" b="0" i="0">
                <a:solidFill>
                  <a:srgbClr val="888888"/>
                </a:solidFill>
                <a:latin typeface="Calibri"/>
              </a:rPr>
              <a:t>Institute Dr Josif Pančić</a:t>
            </a:r>
          </a:p>
        </p:txBody>
      </p:sp>
      <p:pic>
        <p:nvPicPr>
          <p:cNvPr id="24" name="Picture 23" descr="Katarina-Savikin_sq.jpg"/>
          <p:cNvPicPr>
            <a:picLocks noChangeAspect="1"/>
          </p:cNvPicPr>
          <p:nvPr/>
        </p:nvPicPr>
        <p:blipFill>
          <a:blip r:embed="rId12"/>
          <a:stretch>
            <a:fillRect/>
          </a:stretch>
        </p:blipFill>
        <p:spPr>
          <a:xfrm>
            <a:off x="7878927" y="3995928"/>
            <a:ext cx="731520" cy="731520"/>
          </a:xfrm>
          <a:prstGeom prst="ellipse">
            <a:avLst/>
          </a:prstGeom>
          <a:ln w="19050">
            <a:solidFill>
              <a:srgbClr val="C9A227"/>
            </a:solidFill>
          </a:ln>
        </p:spPr>
      </p:pic>
      <p:sp>
        <p:nvSpPr>
          <p:cNvPr id="25" name="TextBox 24"/>
          <p:cNvSpPr txBox="1"/>
          <p:nvPr/>
        </p:nvSpPr>
        <p:spPr>
          <a:xfrm>
            <a:off x="7238847" y="4754880"/>
            <a:ext cx="2011680" cy="457200"/>
          </a:xfrm>
          <a:prstGeom prst="rect">
            <a:avLst/>
          </a:prstGeom>
          <a:noFill/>
        </p:spPr>
        <p:txBody>
          <a:bodyPr wrap="square">
            <a:spAutoFit/>
          </a:bodyPr>
          <a:lstStyle/>
          <a:p>
            <a:pPr algn="ctr"/>
            <a:r>
              <a:rPr sz="900" b="1" i="0">
                <a:solidFill>
                  <a:srgbClr val="1A3A5C"/>
                </a:solidFill>
                <a:latin typeface="Calibri"/>
              </a:rPr>
              <a:t>Dr Katarina Šavikin</a:t>
            </a:r>
          </a:p>
          <a:p>
            <a:pPr algn="ctr">
              <a:spcBef>
                <a:spcPts val="400"/>
              </a:spcBef>
              <a:spcAft>
                <a:spcPts val="200"/>
              </a:spcAft>
            </a:pPr>
            <a:r>
              <a:rPr sz="800" b="0" i="0">
                <a:solidFill>
                  <a:srgbClr val="888888"/>
                </a:solidFill>
                <a:latin typeface="Calibri"/>
              </a:rPr>
              <a:t>Institute Dr Josif Pančić</a:t>
            </a:r>
          </a:p>
        </p:txBody>
      </p:sp>
      <p:pic>
        <p:nvPicPr>
          <p:cNvPr id="26" name="Picture 25" descr="Natasa-Milosavljevic_sq.jpg"/>
          <p:cNvPicPr>
            <a:picLocks noChangeAspect="1"/>
          </p:cNvPicPr>
          <p:nvPr/>
        </p:nvPicPr>
        <p:blipFill>
          <a:blip r:embed="rId13"/>
          <a:stretch>
            <a:fillRect/>
          </a:stretch>
        </p:blipFill>
        <p:spPr>
          <a:xfrm>
            <a:off x="10027767" y="3995928"/>
            <a:ext cx="731520" cy="731520"/>
          </a:xfrm>
          <a:prstGeom prst="ellipse">
            <a:avLst/>
          </a:prstGeom>
          <a:ln w="19050">
            <a:solidFill>
              <a:srgbClr val="C9A227"/>
            </a:solidFill>
          </a:ln>
        </p:spPr>
      </p:pic>
      <p:sp>
        <p:nvSpPr>
          <p:cNvPr id="27" name="TextBox 26"/>
          <p:cNvSpPr txBox="1"/>
          <p:nvPr/>
        </p:nvSpPr>
        <p:spPr>
          <a:xfrm>
            <a:off x="9387687" y="4754880"/>
            <a:ext cx="2011680" cy="457200"/>
          </a:xfrm>
          <a:prstGeom prst="rect">
            <a:avLst/>
          </a:prstGeom>
          <a:noFill/>
        </p:spPr>
        <p:txBody>
          <a:bodyPr wrap="square">
            <a:spAutoFit/>
          </a:bodyPr>
          <a:lstStyle/>
          <a:p>
            <a:pPr algn="ctr"/>
            <a:r>
              <a:rPr sz="900" b="1" i="0">
                <a:solidFill>
                  <a:srgbClr val="1A3A5C"/>
                </a:solidFill>
                <a:latin typeface="Calibri"/>
              </a:rPr>
              <a:t>Prof Dr Nataša Milosavljević</a:t>
            </a:r>
          </a:p>
          <a:p>
            <a:pPr algn="ctr">
              <a:spcBef>
                <a:spcPts val="400"/>
              </a:spcBef>
              <a:spcAft>
                <a:spcPts val="200"/>
              </a:spcAft>
            </a:pPr>
            <a:r>
              <a:rPr sz="800" b="0" i="0">
                <a:solidFill>
                  <a:srgbClr val="888888"/>
                </a:solidFill>
                <a:latin typeface="Calibri"/>
              </a:rPr>
              <a:t>Faculty of Agriculture, UB</a:t>
            </a:r>
          </a:p>
        </p:txBody>
      </p:sp>
      <p:pic>
        <p:nvPicPr>
          <p:cNvPr id="28" name="Picture 27" descr="ivan_sq.jpg"/>
          <p:cNvPicPr>
            <a:picLocks noChangeAspect="1"/>
          </p:cNvPicPr>
          <p:nvPr/>
        </p:nvPicPr>
        <p:blipFill>
          <a:blip r:embed="rId14"/>
          <a:stretch>
            <a:fillRect/>
          </a:stretch>
        </p:blipFill>
        <p:spPr>
          <a:xfrm>
            <a:off x="1432407" y="5330952"/>
            <a:ext cx="731520" cy="731520"/>
          </a:xfrm>
          <a:prstGeom prst="ellipse">
            <a:avLst/>
          </a:prstGeom>
          <a:ln w="19050">
            <a:solidFill>
              <a:srgbClr val="C9A227"/>
            </a:solidFill>
          </a:ln>
        </p:spPr>
      </p:pic>
      <p:sp>
        <p:nvSpPr>
          <p:cNvPr id="29" name="TextBox 28"/>
          <p:cNvSpPr txBox="1"/>
          <p:nvPr/>
        </p:nvSpPr>
        <p:spPr>
          <a:xfrm>
            <a:off x="792327" y="6089904"/>
            <a:ext cx="2011680" cy="457200"/>
          </a:xfrm>
          <a:prstGeom prst="rect">
            <a:avLst/>
          </a:prstGeom>
          <a:noFill/>
        </p:spPr>
        <p:txBody>
          <a:bodyPr wrap="square">
            <a:spAutoFit/>
          </a:bodyPr>
          <a:lstStyle/>
          <a:p>
            <a:pPr algn="ctr"/>
            <a:r>
              <a:rPr sz="900" b="1" i="0">
                <a:solidFill>
                  <a:srgbClr val="1A3A5C"/>
                </a:solidFill>
                <a:latin typeface="Calibri"/>
              </a:rPr>
              <a:t>Prof Dr Ivan Mijaković</a:t>
            </a:r>
          </a:p>
          <a:p>
            <a:pPr algn="ctr">
              <a:spcBef>
                <a:spcPts val="400"/>
              </a:spcBef>
              <a:spcAft>
                <a:spcPts val="200"/>
              </a:spcAft>
            </a:pPr>
            <a:r>
              <a:rPr sz="800" b="0" i="0">
                <a:solidFill>
                  <a:srgbClr val="888888"/>
                </a:solidFill>
                <a:latin typeface="Calibri"/>
              </a:rPr>
              <a:t>Chalmers &amp; DTU</a:t>
            </a:r>
          </a:p>
        </p:txBody>
      </p:sp>
      <p:pic>
        <p:nvPicPr>
          <p:cNvPr id="30" name="Picture 29" descr="nielsen_sq.jpg"/>
          <p:cNvPicPr>
            <a:picLocks noChangeAspect="1"/>
          </p:cNvPicPr>
          <p:nvPr/>
        </p:nvPicPr>
        <p:blipFill>
          <a:blip r:embed="rId15"/>
          <a:stretch>
            <a:fillRect/>
          </a:stretch>
        </p:blipFill>
        <p:spPr>
          <a:xfrm>
            <a:off x="3581247" y="5330952"/>
            <a:ext cx="731520" cy="731520"/>
          </a:xfrm>
          <a:prstGeom prst="ellipse">
            <a:avLst/>
          </a:prstGeom>
          <a:ln w="19050">
            <a:solidFill>
              <a:srgbClr val="C9A227"/>
            </a:solidFill>
          </a:ln>
        </p:spPr>
      </p:pic>
      <p:sp>
        <p:nvSpPr>
          <p:cNvPr id="31" name="TextBox 30"/>
          <p:cNvSpPr txBox="1"/>
          <p:nvPr/>
        </p:nvSpPr>
        <p:spPr>
          <a:xfrm>
            <a:off x="2941167" y="6089904"/>
            <a:ext cx="2011680" cy="457200"/>
          </a:xfrm>
          <a:prstGeom prst="rect">
            <a:avLst/>
          </a:prstGeom>
          <a:noFill/>
        </p:spPr>
        <p:txBody>
          <a:bodyPr wrap="square">
            <a:spAutoFit/>
          </a:bodyPr>
          <a:lstStyle/>
          <a:p>
            <a:pPr algn="ctr"/>
            <a:r>
              <a:rPr sz="900" b="1" i="0">
                <a:solidFill>
                  <a:srgbClr val="1A3A5C"/>
                </a:solidFill>
                <a:latin typeface="Calibri"/>
              </a:rPr>
              <a:t>Prof Dr Jens Nielsen</a:t>
            </a:r>
          </a:p>
          <a:p>
            <a:pPr algn="ctr">
              <a:spcBef>
                <a:spcPts val="400"/>
              </a:spcBef>
              <a:spcAft>
                <a:spcPts val="200"/>
              </a:spcAft>
            </a:pPr>
            <a:r>
              <a:rPr sz="800" b="0" i="0">
                <a:solidFill>
                  <a:srgbClr val="888888"/>
                </a:solidFill>
                <a:latin typeface="Calibri"/>
              </a:rPr>
              <a:t>BioInnovation Institute &amp; Chalmers</a:t>
            </a:r>
          </a:p>
        </p:txBody>
      </p:sp>
      <p:pic>
        <p:nvPicPr>
          <p:cNvPr id="32" name="Picture 31" descr="aleksej_sq.jpg"/>
          <p:cNvPicPr>
            <a:picLocks noChangeAspect="1"/>
          </p:cNvPicPr>
          <p:nvPr/>
        </p:nvPicPr>
        <p:blipFill>
          <a:blip r:embed="rId16"/>
          <a:stretch>
            <a:fillRect/>
          </a:stretch>
        </p:blipFill>
        <p:spPr>
          <a:xfrm>
            <a:off x="5730087" y="5330952"/>
            <a:ext cx="731520" cy="731520"/>
          </a:xfrm>
          <a:prstGeom prst="ellipse">
            <a:avLst/>
          </a:prstGeom>
          <a:ln w="19050">
            <a:solidFill>
              <a:srgbClr val="C9A227"/>
            </a:solidFill>
          </a:ln>
        </p:spPr>
      </p:pic>
      <p:sp>
        <p:nvSpPr>
          <p:cNvPr id="33" name="TextBox 32"/>
          <p:cNvSpPr txBox="1"/>
          <p:nvPr/>
        </p:nvSpPr>
        <p:spPr>
          <a:xfrm>
            <a:off x="5090007" y="6089904"/>
            <a:ext cx="2011680" cy="457200"/>
          </a:xfrm>
          <a:prstGeom prst="rect">
            <a:avLst/>
          </a:prstGeom>
          <a:noFill/>
        </p:spPr>
        <p:txBody>
          <a:bodyPr wrap="square">
            <a:spAutoFit/>
          </a:bodyPr>
          <a:lstStyle/>
          <a:p>
            <a:pPr algn="ctr"/>
            <a:r>
              <a:rPr sz="900" b="1" i="0">
                <a:solidFill>
                  <a:srgbClr val="1A3A5C"/>
                </a:solidFill>
                <a:latin typeface="Calibri"/>
              </a:rPr>
              <a:t>Prof Dr Aleksej Zelezniak</a:t>
            </a:r>
          </a:p>
          <a:p>
            <a:pPr algn="ctr">
              <a:spcBef>
                <a:spcPts val="400"/>
              </a:spcBef>
              <a:spcAft>
                <a:spcPts val="200"/>
              </a:spcAft>
            </a:pPr>
            <a:r>
              <a:rPr sz="800" b="0" i="0">
                <a:solidFill>
                  <a:srgbClr val="888888"/>
                </a:solidFill>
                <a:latin typeface="Calibri"/>
              </a:rPr>
              <a:t>Chalmers &amp; Vilnius</a:t>
            </a:r>
          </a:p>
        </p:txBody>
      </p:sp>
      <p:pic>
        <p:nvPicPr>
          <p:cNvPr id="34" name="Picture 33" descr="jan_zrimec_sq.jpg"/>
          <p:cNvPicPr>
            <a:picLocks noChangeAspect="1"/>
          </p:cNvPicPr>
          <p:nvPr/>
        </p:nvPicPr>
        <p:blipFill>
          <a:blip r:embed="rId17"/>
          <a:stretch>
            <a:fillRect/>
          </a:stretch>
        </p:blipFill>
        <p:spPr>
          <a:xfrm>
            <a:off x="7878927" y="5330952"/>
            <a:ext cx="731520" cy="731520"/>
          </a:xfrm>
          <a:prstGeom prst="ellipse">
            <a:avLst/>
          </a:prstGeom>
          <a:ln w="19050">
            <a:solidFill>
              <a:srgbClr val="C9A227"/>
            </a:solidFill>
          </a:ln>
        </p:spPr>
      </p:pic>
      <p:sp>
        <p:nvSpPr>
          <p:cNvPr id="35" name="TextBox 34"/>
          <p:cNvSpPr txBox="1"/>
          <p:nvPr/>
        </p:nvSpPr>
        <p:spPr>
          <a:xfrm>
            <a:off x="7238847" y="6089904"/>
            <a:ext cx="2011680" cy="457200"/>
          </a:xfrm>
          <a:prstGeom prst="rect">
            <a:avLst/>
          </a:prstGeom>
          <a:noFill/>
        </p:spPr>
        <p:txBody>
          <a:bodyPr wrap="square">
            <a:spAutoFit/>
          </a:bodyPr>
          <a:lstStyle/>
          <a:p>
            <a:pPr algn="ctr"/>
            <a:r>
              <a:rPr sz="900" b="1" i="0">
                <a:solidFill>
                  <a:srgbClr val="1A3A5C"/>
                </a:solidFill>
                <a:latin typeface="Calibri"/>
              </a:rPr>
              <a:t>Dr Jan Zrimec</a:t>
            </a:r>
          </a:p>
          <a:p>
            <a:pPr algn="ctr">
              <a:spcBef>
                <a:spcPts val="400"/>
              </a:spcBef>
              <a:spcAft>
                <a:spcPts val="200"/>
              </a:spcAft>
            </a:pPr>
            <a:r>
              <a:rPr sz="800" b="0" i="0">
                <a:solidFill>
                  <a:srgbClr val="888888"/>
                </a:solidFill>
                <a:latin typeface="Calibri"/>
              </a:rPr>
              <a:t>NIB Slovenia &amp; Chalmers</a:t>
            </a:r>
          </a:p>
        </p:txBody>
      </p:sp>
      <p:pic>
        <p:nvPicPr>
          <p:cNvPr id="36" name="Picture 35" descr="filip_sq.jpg"/>
          <p:cNvPicPr>
            <a:picLocks noChangeAspect="1"/>
          </p:cNvPicPr>
          <p:nvPr/>
        </p:nvPicPr>
        <p:blipFill>
          <a:blip r:embed="rId18"/>
          <a:stretch>
            <a:fillRect/>
          </a:stretch>
        </p:blipFill>
        <p:spPr>
          <a:xfrm>
            <a:off x="10027767" y="5330952"/>
            <a:ext cx="731520" cy="731520"/>
          </a:xfrm>
          <a:prstGeom prst="ellipse">
            <a:avLst/>
          </a:prstGeom>
          <a:ln w="19050">
            <a:solidFill>
              <a:srgbClr val="C9A227"/>
            </a:solidFill>
          </a:ln>
        </p:spPr>
      </p:pic>
      <p:sp>
        <p:nvSpPr>
          <p:cNvPr id="37" name="TextBox 36"/>
          <p:cNvSpPr txBox="1"/>
          <p:nvPr/>
        </p:nvSpPr>
        <p:spPr>
          <a:xfrm>
            <a:off x="9387687" y="6089904"/>
            <a:ext cx="2011680" cy="457200"/>
          </a:xfrm>
          <a:prstGeom prst="rect">
            <a:avLst/>
          </a:prstGeom>
          <a:noFill/>
        </p:spPr>
        <p:txBody>
          <a:bodyPr wrap="square">
            <a:spAutoFit/>
          </a:bodyPr>
          <a:lstStyle/>
          <a:p>
            <a:pPr algn="ctr"/>
            <a:r>
              <a:rPr sz="900" b="1" i="0">
                <a:solidFill>
                  <a:srgbClr val="1A3A5C"/>
                </a:solidFill>
                <a:latin typeface="Calibri"/>
              </a:rPr>
              <a:t>Filip Buric</a:t>
            </a:r>
          </a:p>
          <a:p>
            <a:pPr algn="ctr">
              <a:spcBef>
                <a:spcPts val="400"/>
              </a:spcBef>
              <a:spcAft>
                <a:spcPts val="200"/>
              </a:spcAft>
            </a:pPr>
            <a:r>
              <a:rPr sz="800" b="0" i="0">
                <a:solidFill>
                  <a:srgbClr val="888888"/>
                </a:solidFill>
                <a:latin typeface="Calibri"/>
              </a:rPr>
              <a:t>Chalmers University</a:t>
            </a:r>
          </a:p>
        </p:txBody>
      </p:sp>
      <p:sp>
        <p:nvSpPr>
          <p:cNvPr id="38" name="TextBox 37"/>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lgn="l"/>
            <a:r>
              <a:rPr sz="3200" b="1" i="0">
                <a:solidFill>
                  <a:srgbClr val="1A3A5C"/>
                </a:solidFill>
                <a:latin typeface="Calibri"/>
              </a:rPr>
              <a:t>Research Roadmap</a:t>
            </a:r>
          </a:p>
        </p:txBody>
      </p:sp>
      <p:pic>
        <p:nvPicPr>
          <p:cNvPr id="3" name="Picture 2" descr="botanical-lab-work-cut.png"/>
          <p:cNvPicPr>
            <a:picLocks noChangeAspect="1"/>
          </p:cNvPicPr>
          <p:nvPr/>
        </p:nvPicPr>
        <p:blipFill>
          <a:blip r:embed="rId2"/>
          <a:stretch>
            <a:fillRect/>
          </a:stretch>
        </p:blipFill>
        <p:spPr>
          <a:xfrm>
            <a:off x="1097280" y="1463040"/>
            <a:ext cx="1319479" cy="1920240"/>
          </a:xfrm>
          <a:prstGeom prst="rect">
            <a:avLst/>
          </a:prstGeom>
        </p:spPr>
      </p:pic>
      <p:pic>
        <p:nvPicPr>
          <p:cNvPr id="4" name="Picture 3" descr="botanical-ml-analysis-cut.png"/>
          <p:cNvPicPr>
            <a:picLocks noChangeAspect="1"/>
          </p:cNvPicPr>
          <p:nvPr/>
        </p:nvPicPr>
        <p:blipFill>
          <a:blip r:embed="rId3"/>
          <a:stretch>
            <a:fillRect/>
          </a:stretch>
        </p:blipFill>
        <p:spPr>
          <a:xfrm>
            <a:off x="7863840" y="1463040"/>
            <a:ext cx="1286561" cy="1920240"/>
          </a:xfrm>
          <a:prstGeom prst="rect">
            <a:avLst/>
          </a:prstGeom>
        </p:spPr>
      </p:pic>
      <p:sp>
        <p:nvSpPr>
          <p:cNvPr id="5" name="TextBox 4"/>
          <p:cNvSpPr txBox="1"/>
          <p:nvPr/>
        </p:nvSpPr>
        <p:spPr>
          <a:xfrm>
            <a:off x="640080" y="3566160"/>
            <a:ext cx="4572000" cy="2377440"/>
          </a:xfrm>
          <a:prstGeom prst="rect">
            <a:avLst/>
          </a:prstGeom>
          <a:noFill/>
        </p:spPr>
        <p:txBody>
          <a:bodyPr wrap="square">
            <a:spAutoFit/>
          </a:bodyPr>
          <a:lstStyle/>
          <a:p>
            <a:pPr algn="l"/>
            <a:r>
              <a:rPr sz="1200" b="1" i="0">
                <a:solidFill>
                  <a:srgbClr val="4A6741"/>
                </a:solidFill>
                <a:latin typeface="Calibri"/>
              </a:rPr>
              <a:t>PHASE I: FOUNDATION</a:t>
            </a:r>
          </a:p>
          <a:p>
            <a:pPr algn="l">
              <a:spcBef>
                <a:spcPts val="400"/>
              </a:spcBef>
              <a:spcAft>
                <a:spcPts val="200"/>
              </a:spcAft>
            </a:pPr>
            <a:r>
              <a:rPr sz="2000" b="1" i="0">
                <a:solidFill>
                  <a:srgbClr val="1A3A5C"/>
                </a:solidFill>
                <a:latin typeface="Calibri"/>
              </a:rPr>
              <a:t>Experimental Lab Work</a:t>
            </a:r>
          </a:p>
          <a:p>
            <a:pPr algn="l">
              <a:spcBef>
                <a:spcPts val="400"/>
              </a:spcBef>
              <a:spcAft>
                <a:spcPts val="200"/>
              </a:spcAft>
            </a:pPr>
            <a:r>
              <a:rPr sz="1400" b="0" i="0">
                <a:solidFill>
                  <a:srgbClr val="555555"/>
                </a:solidFill>
                <a:latin typeface="Calibri"/>
              </a:rPr>
              <a:t>GC MS profiling and bioactivity validation of 4 commercial EOs; development of calcium alginate delivery systems.</a:t>
            </a:r>
          </a:p>
          <a:p>
            <a:pPr algn="l">
              <a:spcBef>
                <a:spcPts val="400"/>
              </a:spcBef>
              <a:spcAft>
                <a:spcPts val="200"/>
              </a:spcAft>
            </a:pPr>
            <a:r>
              <a:rPr sz="1300" b="1" i="0">
                <a:solidFill>
                  <a:srgbClr val="4A6741"/>
                </a:solidFill>
                <a:latin typeface="Calibri"/>
              </a:rPr>
              <a:t>Outcome: Encapsulation Strategy</a:t>
            </a:r>
          </a:p>
        </p:txBody>
      </p:sp>
      <p:sp>
        <p:nvSpPr>
          <p:cNvPr id="6" name="TextBox 5"/>
          <p:cNvSpPr txBox="1"/>
          <p:nvPr/>
        </p:nvSpPr>
        <p:spPr>
          <a:xfrm>
            <a:off x="7040880" y="3566160"/>
            <a:ext cx="4572000" cy="2377440"/>
          </a:xfrm>
          <a:prstGeom prst="rect">
            <a:avLst/>
          </a:prstGeom>
          <a:noFill/>
        </p:spPr>
        <p:txBody>
          <a:bodyPr wrap="square">
            <a:spAutoFit/>
          </a:bodyPr>
          <a:lstStyle/>
          <a:p>
            <a:pPr algn="l"/>
            <a:r>
              <a:rPr sz="1200" b="1" i="0">
                <a:solidFill>
                  <a:srgbClr val="1A3A5C"/>
                </a:solidFill>
                <a:latin typeface="Calibri"/>
              </a:rPr>
              <a:t>PHASE II: DATA DRIVEN ANALYSIS</a:t>
            </a:r>
          </a:p>
          <a:p>
            <a:pPr algn="l">
              <a:spcBef>
                <a:spcPts val="400"/>
              </a:spcBef>
              <a:spcAft>
                <a:spcPts val="200"/>
              </a:spcAft>
            </a:pPr>
            <a:r>
              <a:rPr sz="2000" b="1" i="0">
                <a:solidFill>
                  <a:srgbClr val="1A3A5C"/>
                </a:solidFill>
                <a:latin typeface="Calibri"/>
              </a:rPr>
              <a:t>Machine Learning &amp; Meta Analysis</a:t>
            </a:r>
          </a:p>
          <a:p>
            <a:pPr algn="l">
              <a:spcBef>
                <a:spcPts val="400"/>
              </a:spcBef>
              <a:spcAft>
                <a:spcPts val="200"/>
              </a:spcAft>
            </a:pPr>
            <a:r>
              <a:rPr sz="1400" b="0" i="0">
                <a:solidFill>
                  <a:srgbClr val="555555"/>
                </a:solidFill>
                <a:latin typeface="Calibri"/>
              </a:rPr>
              <a:t>Decoding molecular drivers of antimicrobial activity through large scale data mining.</a:t>
            </a:r>
          </a:p>
          <a:p>
            <a:pPr algn="l">
              <a:spcBef>
                <a:spcPts val="400"/>
              </a:spcBef>
              <a:spcAft>
                <a:spcPts val="200"/>
              </a:spcAft>
            </a:pPr>
            <a:r>
              <a:rPr sz="1300" b="1" i="0">
                <a:solidFill>
                  <a:srgbClr val="1A3A5C"/>
                </a:solidFill>
                <a:latin typeface="Calibri"/>
              </a:rPr>
              <a:t>Outcome: Molecular Insight</a:t>
            </a:r>
          </a:p>
        </p:txBody>
      </p:sp>
      <p:sp>
        <p:nvSpPr>
          <p:cNvPr id="7" name="TextBox 6"/>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064240" cy="914400"/>
          </a:xfrm>
          <a:prstGeom prst="rect">
            <a:avLst/>
          </a:prstGeom>
          <a:noFill/>
        </p:spPr>
        <p:txBody>
          <a:bodyPr wrap="none">
            <a:spAutoFit/>
          </a:bodyPr>
          <a:lstStyle/>
          <a:p>
            <a:pPr algn="ctr"/>
            <a:r>
              <a:rPr sz="4400" b="1" i="0">
                <a:solidFill>
                  <a:srgbClr val="1A3A5C"/>
                </a:solidFill>
                <a:latin typeface="Calibri"/>
              </a:rPr>
              <a:t>Why?</a:t>
            </a:r>
          </a:p>
        </p:txBody>
      </p:sp>
      <p:sp>
        <p:nvSpPr>
          <p:cNvPr id="3" name="Rounded Rectangle 2"/>
          <p:cNvSpPr/>
          <p:nvPr/>
        </p:nvSpPr>
        <p:spPr>
          <a:xfrm>
            <a:off x="1280160" y="1920240"/>
            <a:ext cx="9601200" cy="1143000"/>
          </a:xfrm>
          <a:prstGeom prst="round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0" y="1920240"/>
            <a:ext cx="128016" cy="1143000"/>
          </a:xfrm>
          <a:prstGeom prst="rect">
            <a:avLst/>
          </a:prstGeom>
          <a:solidFill>
            <a:srgbClr val="B135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2029968"/>
            <a:ext cx="9052560" cy="960120"/>
          </a:xfrm>
          <a:prstGeom prst="rect">
            <a:avLst/>
          </a:prstGeom>
          <a:noFill/>
        </p:spPr>
        <p:txBody>
          <a:bodyPr wrap="square">
            <a:spAutoFit/>
          </a:bodyPr>
          <a:lstStyle/>
          <a:p>
            <a:pPr algn="l"/>
            <a:r>
              <a:rPr sz="1800" b="1" i="0">
                <a:solidFill>
                  <a:srgbClr val="1A3A5C"/>
                </a:solidFill>
                <a:latin typeface="Calibri"/>
              </a:rPr>
              <a:t>Why did we focus on </a:t>
            </a:r>
            <a:r>
              <a:rPr sz="1800" b="1" i="1">
                <a:solidFill>
                  <a:srgbClr val="1A3A5C"/>
                </a:solidFill>
                <a:latin typeface="Calibri"/>
              </a:rPr>
              <a:t>Salmonella</a:t>
            </a:r>
            <a:r>
              <a:rPr sz="1800" b="1" i="0">
                <a:solidFill>
                  <a:srgbClr val="1A3A5C"/>
                </a:solidFill>
                <a:latin typeface="Calibri"/>
              </a:rPr>
              <a:t>?</a:t>
            </a:r>
          </a:p>
          <a:p>
            <a:pPr algn="l">
              <a:spcBef>
                <a:spcPts val="400"/>
              </a:spcBef>
              <a:spcAft>
                <a:spcPts val="200"/>
              </a:spcAft>
            </a:pPr>
            <a:r>
              <a:rPr sz="1300" b="0" i="0">
                <a:solidFill>
                  <a:srgbClr val="555555"/>
                </a:solidFill>
                <a:latin typeface="Calibri"/>
              </a:rPr>
              <a:t>Major foodborne pathogen · food safety model · survives in food · inflammation · test bed for new antimicrobials</a:t>
            </a:r>
          </a:p>
        </p:txBody>
      </p:sp>
      <p:sp>
        <p:nvSpPr>
          <p:cNvPr id="6" name="Rounded Rectangle 5"/>
          <p:cNvSpPr/>
          <p:nvPr/>
        </p:nvSpPr>
        <p:spPr>
          <a:xfrm>
            <a:off x="1280160" y="3291840"/>
            <a:ext cx="9601200" cy="1143000"/>
          </a:xfrm>
          <a:prstGeom prst="round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80160" y="3291840"/>
            <a:ext cx="128016" cy="1143000"/>
          </a:xfrm>
          <a:prstGeom prst="rect">
            <a:avLst/>
          </a:prstGeom>
          <a:solidFill>
            <a:srgbClr val="4A67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3401568"/>
            <a:ext cx="9052560" cy="960120"/>
          </a:xfrm>
          <a:prstGeom prst="rect">
            <a:avLst/>
          </a:prstGeom>
          <a:noFill/>
        </p:spPr>
        <p:txBody>
          <a:bodyPr wrap="square">
            <a:spAutoFit/>
          </a:bodyPr>
          <a:lstStyle/>
          <a:p>
            <a:pPr algn="l"/>
            <a:r>
              <a:rPr sz="1800" b="1" i="0">
                <a:solidFill>
                  <a:srgbClr val="1A3A5C"/>
                </a:solidFill>
                <a:latin typeface="Calibri"/>
              </a:rPr>
              <a:t>Why study essential oils in 2026?</a:t>
            </a:r>
          </a:p>
          <a:p>
            <a:pPr algn="l">
              <a:spcBef>
                <a:spcPts val="400"/>
              </a:spcBef>
              <a:spcAft>
                <a:spcPts val="200"/>
              </a:spcAft>
            </a:pPr>
            <a:r>
              <a:rPr sz="1300" b="0" i="0">
                <a:solidFill>
                  <a:srgbClr val="555555"/>
                </a:solidFill>
                <a:latin typeface="Calibri"/>
              </a:rPr>
              <a:t>Plant chemical innovation · complex bioactive mixtures · ML &amp; CRISPR · engineered microbes · beyond extraction</a:t>
            </a:r>
          </a:p>
        </p:txBody>
      </p:sp>
      <p:sp>
        <p:nvSpPr>
          <p:cNvPr id="9" name="Rounded Rectangle 8"/>
          <p:cNvSpPr/>
          <p:nvPr/>
        </p:nvSpPr>
        <p:spPr>
          <a:xfrm>
            <a:off x="1280160" y="4663440"/>
            <a:ext cx="9601200" cy="1143000"/>
          </a:xfrm>
          <a:prstGeom prst="round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80160" y="4663440"/>
            <a:ext cx="128016"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4773168"/>
            <a:ext cx="9052560" cy="960120"/>
          </a:xfrm>
          <a:prstGeom prst="rect">
            <a:avLst/>
          </a:prstGeom>
          <a:noFill/>
        </p:spPr>
        <p:txBody>
          <a:bodyPr wrap="square">
            <a:spAutoFit/>
          </a:bodyPr>
          <a:lstStyle/>
          <a:p>
            <a:pPr algn="l"/>
            <a:r>
              <a:rPr sz="1800" b="1" i="0">
                <a:solidFill>
                  <a:srgbClr val="1A3A5C"/>
                </a:solidFill>
                <a:latin typeface="Calibri"/>
              </a:rPr>
              <a:t>Why machine learning?</a:t>
            </a:r>
          </a:p>
          <a:p>
            <a:pPr algn="l">
              <a:spcBef>
                <a:spcPts val="400"/>
              </a:spcBef>
              <a:spcAft>
                <a:spcPts val="200"/>
              </a:spcAft>
            </a:pPr>
            <a:r>
              <a:rPr sz="1300" b="0" i="0">
                <a:solidFill>
                  <a:srgbClr val="555555"/>
                </a:solidFill>
                <a:latin typeface="Calibri"/>
              </a:rPr>
              <a:t>Hundreds of compounds · impractical individual testing · patterns across many oils</a:t>
            </a:r>
          </a:p>
        </p:txBody>
      </p:sp>
      <p:sp>
        <p:nvSpPr>
          <p:cNvPr id="12" name="TextBox 11"/>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
            <a:ext cx="11064240" cy="320040"/>
          </a:xfrm>
          <a:prstGeom prst="rect">
            <a:avLst/>
          </a:prstGeom>
          <a:noFill/>
        </p:spPr>
        <p:txBody>
          <a:bodyPr wrap="none">
            <a:spAutoFit/>
          </a:bodyPr>
          <a:lstStyle/>
          <a:p>
            <a:pPr algn="l"/>
            <a:r>
              <a:rPr sz="1400" b="1" i="0">
                <a:solidFill>
                  <a:srgbClr val="4A6741"/>
                </a:solidFill>
                <a:latin typeface="Calibri"/>
              </a:rPr>
              <a:t>PHASE I</a:t>
            </a:r>
          </a:p>
        </p:txBody>
      </p:sp>
      <p:sp>
        <p:nvSpPr>
          <p:cNvPr id="3" name="TextBox 2"/>
          <p:cNvSpPr txBox="1"/>
          <p:nvPr/>
        </p:nvSpPr>
        <p:spPr>
          <a:xfrm>
            <a:off x="548640" y="411480"/>
            <a:ext cx="11064240" cy="640080"/>
          </a:xfrm>
          <a:prstGeom prst="rect">
            <a:avLst/>
          </a:prstGeom>
          <a:noFill/>
        </p:spPr>
        <p:txBody>
          <a:bodyPr wrap="none">
            <a:spAutoFit/>
          </a:bodyPr>
          <a:lstStyle/>
          <a:p>
            <a:pPr algn="l"/>
            <a:r>
              <a:rPr sz="3200" b="1" i="0">
                <a:solidFill>
                  <a:srgbClr val="1A3A5C"/>
                </a:solidFill>
                <a:latin typeface="Calibri"/>
              </a:rPr>
              <a:t>Lab Experiments</a:t>
            </a:r>
          </a:p>
        </p:txBody>
      </p:sp>
      <p:pic>
        <p:nvPicPr>
          <p:cNvPr id="4" name="Picture 3" descr="botanical-teatree-cut.png"/>
          <p:cNvPicPr>
            <a:picLocks noChangeAspect="1"/>
          </p:cNvPicPr>
          <p:nvPr/>
        </p:nvPicPr>
        <p:blipFill>
          <a:blip r:embed="rId2"/>
          <a:stretch>
            <a:fillRect/>
          </a:stretch>
        </p:blipFill>
        <p:spPr>
          <a:xfrm>
            <a:off x="1097280" y="1143000"/>
            <a:ext cx="654253" cy="1234440"/>
          </a:xfrm>
          <a:prstGeom prst="rect">
            <a:avLst/>
          </a:prstGeom>
        </p:spPr>
      </p:pic>
      <p:sp>
        <p:nvSpPr>
          <p:cNvPr id="5" name="TextBox 4"/>
          <p:cNvSpPr txBox="1"/>
          <p:nvPr/>
        </p:nvSpPr>
        <p:spPr>
          <a:xfrm>
            <a:off x="914400" y="2423160"/>
            <a:ext cx="2194560" cy="548640"/>
          </a:xfrm>
          <a:prstGeom prst="rect">
            <a:avLst/>
          </a:prstGeom>
          <a:noFill/>
        </p:spPr>
        <p:txBody>
          <a:bodyPr wrap="square">
            <a:spAutoFit/>
          </a:bodyPr>
          <a:lstStyle/>
          <a:p>
            <a:pPr algn="ctr"/>
            <a:r>
              <a:rPr sz="1200" b="1" i="0">
                <a:solidFill>
                  <a:srgbClr val="1A3A5C"/>
                </a:solidFill>
                <a:latin typeface="Calibri"/>
              </a:rPr>
              <a:t>Tea tree</a:t>
            </a:r>
          </a:p>
          <a:p>
            <a:pPr algn="ctr">
              <a:spcBef>
                <a:spcPts val="400"/>
              </a:spcBef>
              <a:spcAft>
                <a:spcPts val="200"/>
              </a:spcAft>
            </a:pPr>
            <a:r>
              <a:rPr sz="1100" b="0" i="0">
                <a:solidFill>
                  <a:srgbClr val="4A6741"/>
                </a:solidFill>
                <a:latin typeface="Calibri"/>
              </a:rPr>
              <a:t>terpinen-4-ol</a:t>
            </a:r>
          </a:p>
        </p:txBody>
      </p:sp>
      <p:pic>
        <p:nvPicPr>
          <p:cNvPr id="6" name="Picture 5" descr="botanical-lavender-cut.png"/>
          <p:cNvPicPr>
            <a:picLocks noChangeAspect="1"/>
          </p:cNvPicPr>
          <p:nvPr/>
        </p:nvPicPr>
        <p:blipFill>
          <a:blip r:embed="rId3"/>
          <a:stretch>
            <a:fillRect/>
          </a:stretch>
        </p:blipFill>
        <p:spPr>
          <a:xfrm>
            <a:off x="3749039" y="1143000"/>
            <a:ext cx="585477" cy="1234440"/>
          </a:xfrm>
          <a:prstGeom prst="rect">
            <a:avLst/>
          </a:prstGeom>
        </p:spPr>
      </p:pic>
      <p:sp>
        <p:nvSpPr>
          <p:cNvPr id="7" name="TextBox 6"/>
          <p:cNvSpPr txBox="1"/>
          <p:nvPr/>
        </p:nvSpPr>
        <p:spPr>
          <a:xfrm>
            <a:off x="3566159" y="2423160"/>
            <a:ext cx="2194560" cy="548640"/>
          </a:xfrm>
          <a:prstGeom prst="rect">
            <a:avLst/>
          </a:prstGeom>
          <a:noFill/>
        </p:spPr>
        <p:txBody>
          <a:bodyPr wrap="square">
            <a:spAutoFit/>
          </a:bodyPr>
          <a:lstStyle/>
          <a:p>
            <a:pPr algn="ctr"/>
            <a:r>
              <a:rPr sz="1200" b="1" i="0">
                <a:solidFill>
                  <a:srgbClr val="1A3A5C"/>
                </a:solidFill>
                <a:latin typeface="Calibri"/>
              </a:rPr>
              <a:t>Lavender</a:t>
            </a:r>
          </a:p>
          <a:p>
            <a:pPr algn="ctr">
              <a:spcBef>
                <a:spcPts val="400"/>
              </a:spcBef>
              <a:spcAft>
                <a:spcPts val="200"/>
              </a:spcAft>
            </a:pPr>
            <a:r>
              <a:rPr sz="1100" b="0" i="0">
                <a:solidFill>
                  <a:srgbClr val="4A6741"/>
                </a:solidFill>
                <a:latin typeface="Calibri"/>
              </a:rPr>
              <a:t>linalyl acetate</a:t>
            </a:r>
          </a:p>
        </p:txBody>
      </p:sp>
      <p:pic>
        <p:nvPicPr>
          <p:cNvPr id="8" name="Picture 7" descr="botanical-bergamot-cut.png"/>
          <p:cNvPicPr>
            <a:picLocks noChangeAspect="1"/>
          </p:cNvPicPr>
          <p:nvPr/>
        </p:nvPicPr>
        <p:blipFill>
          <a:blip r:embed="rId4"/>
          <a:stretch>
            <a:fillRect/>
          </a:stretch>
        </p:blipFill>
        <p:spPr>
          <a:xfrm>
            <a:off x="6400800" y="1143000"/>
            <a:ext cx="782988" cy="1234440"/>
          </a:xfrm>
          <a:prstGeom prst="rect">
            <a:avLst/>
          </a:prstGeom>
        </p:spPr>
      </p:pic>
      <p:sp>
        <p:nvSpPr>
          <p:cNvPr id="9" name="TextBox 8"/>
          <p:cNvSpPr txBox="1"/>
          <p:nvPr/>
        </p:nvSpPr>
        <p:spPr>
          <a:xfrm>
            <a:off x="6217920" y="2423160"/>
            <a:ext cx="2194560" cy="548640"/>
          </a:xfrm>
          <a:prstGeom prst="rect">
            <a:avLst/>
          </a:prstGeom>
          <a:noFill/>
        </p:spPr>
        <p:txBody>
          <a:bodyPr wrap="square">
            <a:spAutoFit/>
          </a:bodyPr>
          <a:lstStyle/>
          <a:p>
            <a:pPr algn="ctr"/>
            <a:r>
              <a:rPr sz="1200" b="1" i="0">
                <a:solidFill>
                  <a:srgbClr val="1A3A5C"/>
                </a:solidFill>
                <a:latin typeface="Calibri"/>
              </a:rPr>
              <a:t>Bergamot</a:t>
            </a:r>
          </a:p>
          <a:p>
            <a:pPr algn="ctr">
              <a:spcBef>
                <a:spcPts val="400"/>
              </a:spcBef>
              <a:spcAft>
                <a:spcPts val="200"/>
              </a:spcAft>
            </a:pPr>
            <a:r>
              <a:rPr sz="1100" b="0" i="0">
                <a:solidFill>
                  <a:srgbClr val="4A6741"/>
                </a:solidFill>
                <a:latin typeface="Calibri"/>
              </a:rPr>
              <a:t>linalyl acetate</a:t>
            </a:r>
          </a:p>
        </p:txBody>
      </p:sp>
      <p:pic>
        <p:nvPicPr>
          <p:cNvPr id="10" name="Picture 9" descr="botanical-peppermint-cut.png"/>
          <p:cNvPicPr>
            <a:picLocks noChangeAspect="1"/>
          </p:cNvPicPr>
          <p:nvPr/>
        </p:nvPicPr>
        <p:blipFill>
          <a:blip r:embed="rId5"/>
          <a:stretch>
            <a:fillRect/>
          </a:stretch>
        </p:blipFill>
        <p:spPr>
          <a:xfrm>
            <a:off x="9052559" y="1143000"/>
            <a:ext cx="564315" cy="1234440"/>
          </a:xfrm>
          <a:prstGeom prst="rect">
            <a:avLst/>
          </a:prstGeom>
        </p:spPr>
      </p:pic>
      <p:sp>
        <p:nvSpPr>
          <p:cNvPr id="11" name="TextBox 10"/>
          <p:cNvSpPr txBox="1"/>
          <p:nvPr/>
        </p:nvSpPr>
        <p:spPr>
          <a:xfrm>
            <a:off x="8869680" y="2423160"/>
            <a:ext cx="2194560" cy="548640"/>
          </a:xfrm>
          <a:prstGeom prst="rect">
            <a:avLst/>
          </a:prstGeom>
          <a:noFill/>
        </p:spPr>
        <p:txBody>
          <a:bodyPr wrap="square">
            <a:spAutoFit/>
          </a:bodyPr>
          <a:lstStyle/>
          <a:p>
            <a:pPr algn="ctr"/>
            <a:r>
              <a:rPr sz="1200" b="1" i="0">
                <a:solidFill>
                  <a:srgbClr val="1A3A5C"/>
                </a:solidFill>
                <a:latin typeface="Calibri"/>
              </a:rPr>
              <a:t>Peppermint</a:t>
            </a:r>
          </a:p>
          <a:p>
            <a:pPr algn="ctr">
              <a:spcBef>
                <a:spcPts val="400"/>
              </a:spcBef>
              <a:spcAft>
                <a:spcPts val="200"/>
              </a:spcAft>
            </a:pPr>
            <a:r>
              <a:rPr sz="1100" b="0" i="0">
                <a:solidFill>
                  <a:srgbClr val="4A6741"/>
                </a:solidFill>
                <a:latin typeface="Calibri"/>
              </a:rPr>
              <a:t>isomenthol</a:t>
            </a:r>
          </a:p>
        </p:txBody>
      </p:sp>
      <p:sp>
        <p:nvSpPr>
          <p:cNvPr id="12" name="Rounded Rectangle 11"/>
          <p:cNvSpPr/>
          <p:nvPr/>
        </p:nvSpPr>
        <p:spPr>
          <a:xfrm>
            <a:off x="731520" y="3108960"/>
            <a:ext cx="3474720" cy="2057400"/>
          </a:xfrm>
          <a:prstGeom prst="round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108960"/>
            <a:ext cx="3474720" cy="73152"/>
          </a:xfrm>
          <a:prstGeom prst="rect">
            <a:avLst/>
          </a:prstGeom>
          <a:solidFill>
            <a:srgbClr val="4A67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c-ms.png"/>
          <p:cNvPicPr>
            <a:picLocks noChangeAspect="1"/>
          </p:cNvPicPr>
          <p:nvPr/>
        </p:nvPicPr>
        <p:blipFill>
          <a:blip r:embed="rId6"/>
          <a:stretch>
            <a:fillRect/>
          </a:stretch>
        </p:blipFill>
        <p:spPr>
          <a:xfrm>
            <a:off x="1783080" y="3291840"/>
            <a:ext cx="457874" cy="640080"/>
          </a:xfrm>
          <a:prstGeom prst="rect">
            <a:avLst/>
          </a:prstGeom>
        </p:spPr>
      </p:pic>
      <p:sp>
        <p:nvSpPr>
          <p:cNvPr id="15" name="TextBox 14"/>
          <p:cNvSpPr txBox="1"/>
          <p:nvPr/>
        </p:nvSpPr>
        <p:spPr>
          <a:xfrm>
            <a:off x="914400" y="4023360"/>
            <a:ext cx="3108960" cy="1051560"/>
          </a:xfrm>
          <a:prstGeom prst="rect">
            <a:avLst/>
          </a:prstGeom>
          <a:noFill/>
        </p:spPr>
        <p:txBody>
          <a:bodyPr wrap="square">
            <a:spAutoFit/>
          </a:bodyPr>
          <a:lstStyle/>
          <a:p>
            <a:pPr algn="l"/>
            <a:r>
              <a:rPr sz="1100" b="1" i="0">
                <a:solidFill>
                  <a:srgbClr val="4A6741"/>
                </a:solidFill>
                <a:latin typeface="Calibri"/>
              </a:rPr>
              <a:t>01 · Chemotyping</a:t>
            </a:r>
          </a:p>
          <a:p>
            <a:pPr algn="l">
              <a:spcBef>
                <a:spcPts val="400"/>
              </a:spcBef>
              <a:spcAft>
                <a:spcPts val="200"/>
              </a:spcAft>
            </a:pPr>
            <a:r>
              <a:rPr sz="1600" b="1" i="0">
                <a:solidFill>
                  <a:srgbClr val="1A3A5C"/>
                </a:solidFill>
                <a:latin typeface="Calibri"/>
              </a:rPr>
              <a:t>GC MS</a:t>
            </a:r>
          </a:p>
          <a:p>
            <a:pPr algn="l">
              <a:spcBef>
                <a:spcPts val="400"/>
              </a:spcBef>
              <a:spcAft>
                <a:spcPts val="200"/>
              </a:spcAft>
            </a:pPr>
            <a:r>
              <a:rPr sz="1200" b="0" i="0">
                <a:solidFill>
                  <a:srgbClr val="555555"/>
                </a:solidFill>
                <a:latin typeface="Calibri"/>
              </a:rPr>
              <a:t>Four oils · &gt;98% volatiles</a:t>
            </a:r>
          </a:p>
        </p:txBody>
      </p:sp>
      <p:sp>
        <p:nvSpPr>
          <p:cNvPr id="16" name="Rounded Rectangle 15"/>
          <p:cNvSpPr/>
          <p:nvPr/>
        </p:nvSpPr>
        <p:spPr>
          <a:xfrm>
            <a:off x="4480559" y="3108960"/>
            <a:ext cx="3474720" cy="2057400"/>
          </a:xfrm>
          <a:prstGeom prst="round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59" y="3108960"/>
            <a:ext cx="3474720" cy="73152"/>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ntimicrob.png"/>
          <p:cNvPicPr>
            <a:picLocks noChangeAspect="1"/>
          </p:cNvPicPr>
          <p:nvPr/>
        </p:nvPicPr>
        <p:blipFill>
          <a:blip r:embed="rId7"/>
          <a:stretch>
            <a:fillRect/>
          </a:stretch>
        </p:blipFill>
        <p:spPr>
          <a:xfrm>
            <a:off x="5532119" y="3291840"/>
            <a:ext cx="2036197" cy="640080"/>
          </a:xfrm>
          <a:prstGeom prst="rect">
            <a:avLst/>
          </a:prstGeom>
        </p:spPr>
      </p:pic>
      <p:sp>
        <p:nvSpPr>
          <p:cNvPr id="19" name="TextBox 18"/>
          <p:cNvSpPr txBox="1"/>
          <p:nvPr/>
        </p:nvSpPr>
        <p:spPr>
          <a:xfrm>
            <a:off x="4663440" y="4023360"/>
            <a:ext cx="3108960" cy="1051560"/>
          </a:xfrm>
          <a:prstGeom prst="rect">
            <a:avLst/>
          </a:prstGeom>
          <a:noFill/>
        </p:spPr>
        <p:txBody>
          <a:bodyPr wrap="square">
            <a:spAutoFit/>
          </a:bodyPr>
          <a:lstStyle/>
          <a:p>
            <a:pPr algn="l"/>
            <a:r>
              <a:rPr sz="1100" b="1" i="0">
                <a:solidFill>
                  <a:srgbClr val="1A3A5C"/>
                </a:solidFill>
                <a:latin typeface="Calibri"/>
              </a:rPr>
              <a:t>02 · Bioactivity</a:t>
            </a:r>
          </a:p>
          <a:p>
            <a:pPr algn="l">
              <a:spcBef>
                <a:spcPts val="400"/>
              </a:spcBef>
              <a:spcAft>
                <a:spcPts val="200"/>
              </a:spcAft>
            </a:pPr>
            <a:r>
              <a:rPr sz="1600" b="1" i="0">
                <a:solidFill>
                  <a:srgbClr val="1A3A5C"/>
                </a:solidFill>
                <a:latin typeface="Calibri"/>
              </a:rPr>
              <a:t>MIC &amp; antioxidants</a:t>
            </a:r>
          </a:p>
          <a:p>
            <a:pPr algn="l">
              <a:spcBef>
                <a:spcPts val="400"/>
              </a:spcBef>
              <a:spcAft>
                <a:spcPts val="200"/>
              </a:spcAft>
            </a:pPr>
            <a:r>
              <a:rPr sz="1200" b="0" i="1">
                <a:solidFill>
                  <a:srgbClr val="555555"/>
                </a:solidFill>
                <a:latin typeface="Calibri"/>
              </a:rPr>
              <a:t>S.</a:t>
            </a:r>
            <a:r>
              <a:rPr sz="1200" b="0" i="0">
                <a:solidFill>
                  <a:srgbClr val="555555"/>
                </a:solidFill>
                <a:latin typeface="Calibri"/>
              </a:rPr>
              <a:t> Typhimurium · DPPH / ABTS</a:t>
            </a:r>
          </a:p>
        </p:txBody>
      </p:sp>
      <p:sp>
        <p:nvSpPr>
          <p:cNvPr id="20" name="Rounded Rectangle 19"/>
          <p:cNvSpPr/>
          <p:nvPr/>
        </p:nvSpPr>
        <p:spPr>
          <a:xfrm>
            <a:off x="8229600" y="3108960"/>
            <a:ext cx="3474720" cy="2057400"/>
          </a:xfrm>
          <a:prstGeom prst="round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3108960"/>
            <a:ext cx="3474720"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beads-shrinkage.png"/>
          <p:cNvPicPr>
            <a:picLocks noChangeAspect="1"/>
          </p:cNvPicPr>
          <p:nvPr/>
        </p:nvPicPr>
        <p:blipFill>
          <a:blip r:embed="rId8"/>
          <a:stretch>
            <a:fillRect/>
          </a:stretch>
        </p:blipFill>
        <p:spPr>
          <a:xfrm>
            <a:off x="9281160" y="3291840"/>
            <a:ext cx="2145133" cy="640080"/>
          </a:xfrm>
          <a:prstGeom prst="rect">
            <a:avLst/>
          </a:prstGeom>
        </p:spPr>
      </p:pic>
      <p:sp>
        <p:nvSpPr>
          <p:cNvPr id="23" name="TextBox 22"/>
          <p:cNvSpPr txBox="1"/>
          <p:nvPr/>
        </p:nvSpPr>
        <p:spPr>
          <a:xfrm>
            <a:off x="8412480" y="4023360"/>
            <a:ext cx="3108960" cy="1051560"/>
          </a:xfrm>
          <a:prstGeom prst="rect">
            <a:avLst/>
          </a:prstGeom>
          <a:noFill/>
        </p:spPr>
        <p:txBody>
          <a:bodyPr wrap="square">
            <a:spAutoFit/>
          </a:bodyPr>
          <a:lstStyle/>
          <a:p>
            <a:pPr algn="l"/>
            <a:r>
              <a:rPr sz="1100" b="1" i="0">
                <a:solidFill>
                  <a:srgbClr val="C9A227"/>
                </a:solidFill>
                <a:latin typeface="Calibri"/>
              </a:rPr>
              <a:t>03 · Delivery</a:t>
            </a:r>
          </a:p>
          <a:p>
            <a:pPr algn="l">
              <a:spcBef>
                <a:spcPts val="400"/>
              </a:spcBef>
              <a:spcAft>
                <a:spcPts val="200"/>
              </a:spcAft>
            </a:pPr>
            <a:r>
              <a:rPr sz="1600" b="1" i="0">
                <a:solidFill>
                  <a:srgbClr val="1A3A5C"/>
                </a:solidFill>
                <a:latin typeface="Calibri"/>
              </a:rPr>
              <a:t>Alginate beads</a:t>
            </a:r>
          </a:p>
          <a:p>
            <a:pPr algn="l">
              <a:spcBef>
                <a:spcPts val="400"/>
              </a:spcBef>
              <a:spcAft>
                <a:spcPts val="200"/>
              </a:spcAft>
            </a:pPr>
            <a:r>
              <a:rPr sz="1200" b="0" i="0">
                <a:solidFill>
                  <a:srgbClr val="555555"/>
                </a:solidFill>
                <a:latin typeface="Calibri"/>
              </a:rPr>
              <a:t>2.0 to 1.4 mm</a:t>
            </a:r>
          </a:p>
        </p:txBody>
      </p:sp>
      <p:sp>
        <p:nvSpPr>
          <p:cNvPr id="24" name="Rounded Rectangle 23"/>
          <p:cNvSpPr/>
          <p:nvPr/>
        </p:nvSpPr>
        <p:spPr>
          <a:xfrm>
            <a:off x="731520" y="5349240"/>
            <a:ext cx="10698480" cy="960120"/>
          </a:xfrm>
          <a:prstGeom prst="roundRect">
            <a:avLst/>
          </a:prstGeom>
          <a:solidFill>
            <a:srgbClr val="F7E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440680"/>
            <a:ext cx="10149840" cy="822960"/>
          </a:xfrm>
          <a:prstGeom prst="rect">
            <a:avLst/>
          </a:prstGeom>
          <a:noFill/>
        </p:spPr>
        <p:txBody>
          <a:bodyPr wrap="square">
            <a:spAutoFit/>
          </a:bodyPr>
          <a:lstStyle/>
          <a:p>
            <a:pPr algn="l"/>
            <a:r>
              <a:rPr sz="1100" b="1" i="0">
                <a:solidFill>
                  <a:srgbClr val="B13507"/>
                </a:solidFill>
                <a:latin typeface="Calibri"/>
              </a:rPr>
              <a:t>RESEARCH GAP</a:t>
            </a:r>
          </a:p>
          <a:p>
            <a:pPr algn="l">
              <a:spcBef>
                <a:spcPts val="400"/>
              </a:spcBef>
              <a:spcAft>
                <a:spcPts val="200"/>
              </a:spcAft>
            </a:pPr>
            <a:r>
              <a:rPr sz="1300" b="0" i="0">
                <a:solidFill>
                  <a:srgbClr val="1A3A5C"/>
                </a:solidFill>
                <a:latin typeface="Calibri"/>
              </a:rPr>
              <a:t>Absence of a computational way to map active chemical motifs to plants, so we no longer need to test compounds one by one in the lab.</a:t>
            </a:r>
          </a:p>
        </p:txBody>
      </p:sp>
      <p:sp>
        <p:nvSpPr>
          <p:cNvPr id="26" name="TextBox 25"/>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
            <a:ext cx="11064240" cy="320040"/>
          </a:xfrm>
          <a:prstGeom prst="rect">
            <a:avLst/>
          </a:prstGeom>
          <a:noFill/>
        </p:spPr>
        <p:txBody>
          <a:bodyPr wrap="none">
            <a:spAutoFit/>
          </a:bodyPr>
          <a:lstStyle/>
          <a:p>
            <a:pPr algn="l"/>
            <a:r>
              <a:rPr sz="1400" b="1" i="0">
                <a:solidFill>
                  <a:srgbClr val="4A6741"/>
                </a:solidFill>
                <a:latin typeface="Calibri"/>
              </a:rPr>
              <a:t>01 · CHEMOTYPING</a:t>
            </a:r>
          </a:p>
        </p:txBody>
      </p:sp>
      <p:sp>
        <p:nvSpPr>
          <p:cNvPr id="3" name="TextBox 2"/>
          <p:cNvSpPr txBox="1"/>
          <p:nvPr/>
        </p:nvSpPr>
        <p:spPr>
          <a:xfrm>
            <a:off x="548640" y="411480"/>
            <a:ext cx="11064240" cy="640080"/>
          </a:xfrm>
          <a:prstGeom prst="rect">
            <a:avLst/>
          </a:prstGeom>
          <a:noFill/>
        </p:spPr>
        <p:txBody>
          <a:bodyPr wrap="none">
            <a:spAutoFit/>
          </a:bodyPr>
          <a:lstStyle/>
          <a:p>
            <a:pPr algn="l"/>
            <a:r>
              <a:rPr sz="3200" b="1" i="0">
                <a:solidFill>
                  <a:srgbClr val="1A3A5C"/>
                </a:solidFill>
                <a:latin typeface="Calibri"/>
              </a:rPr>
              <a:t>GC MS profiling</a:t>
            </a:r>
          </a:p>
        </p:txBody>
      </p:sp>
      <p:sp>
        <p:nvSpPr>
          <p:cNvPr id="4" name="TextBox 3"/>
          <p:cNvSpPr txBox="1"/>
          <p:nvPr/>
        </p:nvSpPr>
        <p:spPr>
          <a:xfrm>
            <a:off x="640080" y="1463040"/>
            <a:ext cx="5943600" cy="4114800"/>
          </a:xfrm>
          <a:prstGeom prst="rect">
            <a:avLst/>
          </a:prstGeom>
          <a:noFill/>
        </p:spPr>
        <p:txBody>
          <a:bodyPr wrap="square">
            <a:spAutoFit/>
          </a:bodyPr>
          <a:lstStyle/>
          <a:p>
            <a:pPr algn="l"/>
            <a:r>
              <a:rPr sz="1500" b="0" i="0">
                <a:solidFill>
                  <a:srgbClr val="555555"/>
                </a:solidFill>
                <a:latin typeface="Calibri"/>
              </a:rPr>
              <a:t>Four commercial oils · &gt;98% of volatiles identified</a:t>
            </a:r>
          </a:p>
          <a:p>
            <a:pPr algn="l">
              <a:spcBef>
                <a:spcPts val="400"/>
              </a:spcBef>
              <a:spcAft>
                <a:spcPts val="200"/>
              </a:spcAft>
            </a:pPr>
          </a:p>
          <a:p>
            <a:pPr algn="l">
              <a:spcBef>
                <a:spcPts val="400"/>
              </a:spcBef>
              <a:spcAft>
                <a:spcPts val="200"/>
              </a:spcAft>
            </a:pPr>
            <a:r>
              <a:rPr sz="1700" b="1" i="0">
                <a:solidFill>
                  <a:srgbClr val="4A6741"/>
                </a:solidFill>
                <a:latin typeface="Calibri"/>
              </a:rPr>
              <a:t>Tea tree : Terpinen-4-ol · 45%</a:t>
            </a:r>
          </a:p>
          <a:p>
            <a:pPr algn="l">
              <a:spcBef>
                <a:spcPts val="400"/>
              </a:spcBef>
              <a:spcAft>
                <a:spcPts val="200"/>
              </a:spcAft>
            </a:pPr>
            <a:r>
              <a:rPr sz="1700" b="1" i="0">
                <a:solidFill>
                  <a:srgbClr val="1A3A5C"/>
                </a:solidFill>
                <a:latin typeface="Calibri"/>
              </a:rPr>
              <a:t>Lavender : Linalyl acetate · 42%</a:t>
            </a:r>
          </a:p>
          <a:p>
            <a:pPr algn="l">
              <a:spcBef>
                <a:spcPts val="400"/>
              </a:spcBef>
              <a:spcAft>
                <a:spcPts val="200"/>
              </a:spcAft>
            </a:pPr>
            <a:r>
              <a:rPr sz="1700" b="1" i="0">
                <a:solidFill>
                  <a:srgbClr val="C9A227"/>
                </a:solidFill>
                <a:latin typeface="Calibri"/>
              </a:rPr>
              <a:t>Bergamot : Linalyl acetate · 58%</a:t>
            </a:r>
          </a:p>
          <a:p>
            <a:pPr algn="l">
              <a:spcBef>
                <a:spcPts val="400"/>
              </a:spcBef>
              <a:spcAft>
                <a:spcPts val="200"/>
              </a:spcAft>
            </a:pPr>
            <a:r>
              <a:rPr sz="1700" b="1" i="0">
                <a:solidFill>
                  <a:srgbClr val="20B2AA"/>
                </a:solidFill>
                <a:latin typeface="Calibri"/>
              </a:rPr>
              <a:t>Peppermint : Isomenthol · 49%</a:t>
            </a:r>
          </a:p>
        </p:txBody>
      </p:sp>
      <p:pic>
        <p:nvPicPr>
          <p:cNvPr id="5" name="Picture 4" descr="gc-ms.png">
            <a:hlinkClick action="ppaction://hlinksldjump" r:id="rId3"/>
          </p:cNvPr>
          <p:cNvPicPr>
            <a:picLocks noChangeAspect="1"/>
          </p:cNvPicPr>
          <p:nvPr/>
        </p:nvPicPr>
        <p:blipFill>
          <a:blip r:embed="rId2"/>
          <a:stretch>
            <a:fillRect/>
          </a:stretch>
        </p:blipFill>
        <p:spPr>
          <a:xfrm>
            <a:off x="7315200" y="1234440"/>
            <a:ext cx="3205120" cy="4480560"/>
          </a:xfrm>
          <a:prstGeom prst="rect">
            <a:avLst/>
          </a:prstGeom>
        </p:spPr>
      </p:pic>
      <p:sp>
        <p:nvSpPr>
          <p:cNvPr id="6" name="TextBox 5"/>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slides/slide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a:hlinkClick action="ppaction://hlinksldjump" r:id="rId3"/>
          </p:cNvPr>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c-ms.png">
            <a:hlinkClick action="ppaction://hlinksldjump" r:id="rId3"/>
          </p:cNvPr>
          <p:cNvPicPr>
            <a:picLocks noChangeAspect="1"/>
          </p:cNvPicPr>
          <p:nvPr/>
        </p:nvPicPr>
        <p:blipFill>
          <a:blip r:embed="rId2"/>
          <a:stretch>
            <a:fillRect/>
          </a:stretch>
        </p:blipFill>
        <p:spPr>
          <a:xfrm>
            <a:off x="3839181" y="274320"/>
            <a:ext cx="4513332" cy="6309360"/>
          </a:xfrm>
          <a:prstGeom prst="rect">
            <a:avLst/>
          </a:prstGeom>
        </p:spPr>
      </p:pic>
      <p:sp>
        <p:nvSpPr>
          <p:cNvPr id="4" name="TextBox 3"/>
          <p:cNvSpPr txBox="1"/>
          <p:nvPr/>
        </p:nvSpPr>
        <p:spPr>
          <a:xfrm>
            <a:off x="365760" y="6473952"/>
            <a:ext cx="5486400" cy="292608"/>
          </a:xfrm>
          <a:prstGeom prst="rect">
            <a:avLst/>
          </a:prstGeom>
          <a:noFill/>
        </p:spPr>
        <p:txBody>
          <a:bodyPr wrap="none">
            <a:spAutoFit/>
          </a:bodyPr>
          <a:lstStyle/>
          <a:p>
            <a:pPr algn="l"/>
            <a:r>
              <a:rPr sz="1100" b="0" i="0">
                <a:solidFill>
                  <a:srgbClr val="CCCCCC"/>
                </a:solidFill>
                <a:latin typeface="Calibri"/>
              </a:rPr>
              <a:t>Click image to go back</a:t>
            </a:r>
          </a:p>
        </p:txBody>
      </p:sp>
    </p:spTree>
  </p:cSld>
  <p:clrMapOvr>
    <a:masterClrMapping/>
  </p:clrMapOvr>
  <p:transition spd="slow">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
            <a:ext cx="11064240" cy="320040"/>
          </a:xfrm>
          <a:prstGeom prst="rect">
            <a:avLst/>
          </a:prstGeom>
          <a:noFill/>
        </p:spPr>
        <p:txBody>
          <a:bodyPr wrap="none">
            <a:spAutoFit/>
          </a:bodyPr>
          <a:lstStyle/>
          <a:p>
            <a:pPr algn="l"/>
            <a:r>
              <a:rPr sz="1400" b="1" i="0">
                <a:solidFill>
                  <a:srgbClr val="1A3A5C"/>
                </a:solidFill>
                <a:latin typeface="Calibri"/>
              </a:rPr>
              <a:t>02 · BIOACTIVITY</a:t>
            </a:r>
          </a:p>
        </p:txBody>
      </p:sp>
      <p:sp>
        <p:nvSpPr>
          <p:cNvPr id="3" name="TextBox 2"/>
          <p:cNvSpPr txBox="1"/>
          <p:nvPr/>
        </p:nvSpPr>
        <p:spPr>
          <a:xfrm>
            <a:off x="548640" y="411480"/>
            <a:ext cx="11064240" cy="640080"/>
          </a:xfrm>
          <a:prstGeom prst="rect">
            <a:avLst/>
          </a:prstGeom>
          <a:noFill/>
        </p:spPr>
        <p:txBody>
          <a:bodyPr wrap="none">
            <a:spAutoFit/>
          </a:bodyPr>
          <a:lstStyle/>
          <a:p>
            <a:pPr algn="l"/>
            <a:r>
              <a:rPr sz="3200" b="1" i="1">
                <a:solidFill>
                  <a:srgbClr val="1A3A5C"/>
                </a:solidFill>
                <a:latin typeface="Calibri"/>
              </a:rPr>
              <a:t>S.</a:t>
            </a:r>
            <a:r>
              <a:rPr sz="3200" b="1" i="0">
                <a:solidFill>
                  <a:srgbClr val="1A3A5C"/>
                </a:solidFill>
                <a:latin typeface="Calibri"/>
              </a:rPr>
              <a:t> Typhimurium ATCC 14028</a:t>
            </a:r>
          </a:p>
        </p:txBody>
      </p:sp>
      <p:sp>
        <p:nvSpPr>
          <p:cNvPr id="4" name="Rounded Rectangle 3"/>
          <p:cNvSpPr/>
          <p:nvPr/>
        </p:nvSpPr>
        <p:spPr>
          <a:xfrm>
            <a:off x="548640" y="1371600"/>
            <a:ext cx="5394960" cy="4480560"/>
          </a:xfrm>
          <a:prstGeom prst="round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08760"/>
            <a:ext cx="4754880" cy="457200"/>
          </a:xfrm>
          <a:prstGeom prst="rect">
            <a:avLst/>
          </a:prstGeom>
          <a:noFill/>
        </p:spPr>
        <p:txBody>
          <a:bodyPr wrap="none">
            <a:spAutoFit/>
          </a:bodyPr>
          <a:lstStyle/>
          <a:p>
            <a:pPr algn="l"/>
            <a:r>
              <a:rPr sz="1700" b="1" i="0">
                <a:solidFill>
                  <a:srgbClr val="1A3A5C"/>
                </a:solidFill>
                <a:latin typeface="Calibri"/>
              </a:rPr>
              <a:t>Antimicrobial · MIC</a:t>
            </a:r>
          </a:p>
        </p:txBody>
      </p:sp>
      <p:sp>
        <p:nvSpPr>
          <p:cNvPr id="6" name="TextBox 5"/>
          <p:cNvSpPr txBox="1"/>
          <p:nvPr/>
        </p:nvSpPr>
        <p:spPr>
          <a:xfrm>
            <a:off x="914400" y="2286000"/>
            <a:ext cx="2377440" cy="1463040"/>
          </a:xfrm>
          <a:prstGeom prst="rect">
            <a:avLst/>
          </a:prstGeom>
          <a:noFill/>
        </p:spPr>
        <p:txBody>
          <a:bodyPr wrap="square">
            <a:spAutoFit/>
          </a:bodyPr>
          <a:lstStyle/>
          <a:p>
            <a:pPr algn="ctr"/>
            <a:r>
              <a:rPr sz="4600" b="1" i="0">
                <a:solidFill>
                  <a:srgbClr val="1A3A5C"/>
                </a:solidFill>
                <a:latin typeface="Calibri"/>
              </a:rPr>
              <a:t>5</a:t>
            </a:r>
          </a:p>
          <a:p>
            <a:pPr algn="ctr">
              <a:spcBef>
                <a:spcPts val="400"/>
              </a:spcBef>
              <a:spcAft>
                <a:spcPts val="200"/>
              </a:spcAft>
            </a:pPr>
            <a:r>
              <a:rPr sz="1500" b="0" i="0">
                <a:solidFill>
                  <a:srgbClr val="555555"/>
                </a:solidFill>
                <a:latin typeface="Calibri"/>
              </a:rPr>
              <a:t>µg/mL</a:t>
            </a:r>
          </a:p>
          <a:p>
            <a:pPr algn="ctr">
              <a:spcBef>
                <a:spcPts val="400"/>
              </a:spcBef>
              <a:spcAft>
                <a:spcPts val="200"/>
              </a:spcAft>
            </a:pPr>
            <a:r>
              <a:rPr sz="1300" b="1" i="0">
                <a:solidFill>
                  <a:srgbClr val="555555"/>
                </a:solidFill>
                <a:latin typeface="Calibri"/>
              </a:rPr>
              <a:t>Lavender · Bergamot</a:t>
            </a:r>
          </a:p>
        </p:txBody>
      </p:sp>
      <p:sp>
        <p:nvSpPr>
          <p:cNvPr id="7" name="TextBox 6"/>
          <p:cNvSpPr txBox="1"/>
          <p:nvPr/>
        </p:nvSpPr>
        <p:spPr>
          <a:xfrm>
            <a:off x="3291840" y="2286000"/>
            <a:ext cx="2377440" cy="1463040"/>
          </a:xfrm>
          <a:prstGeom prst="rect">
            <a:avLst/>
          </a:prstGeom>
          <a:noFill/>
        </p:spPr>
        <p:txBody>
          <a:bodyPr wrap="square">
            <a:spAutoFit/>
          </a:bodyPr>
          <a:lstStyle/>
          <a:p>
            <a:pPr algn="ctr"/>
            <a:r>
              <a:rPr sz="4600" b="1" i="0">
                <a:solidFill>
                  <a:srgbClr val="4A6741"/>
                </a:solidFill>
                <a:latin typeface="Calibri"/>
              </a:rPr>
              <a:t>10</a:t>
            </a:r>
          </a:p>
          <a:p>
            <a:pPr algn="ctr">
              <a:spcBef>
                <a:spcPts val="400"/>
              </a:spcBef>
              <a:spcAft>
                <a:spcPts val="200"/>
              </a:spcAft>
            </a:pPr>
            <a:r>
              <a:rPr sz="1500" b="0" i="0">
                <a:solidFill>
                  <a:srgbClr val="555555"/>
                </a:solidFill>
                <a:latin typeface="Calibri"/>
              </a:rPr>
              <a:t>µg/mL</a:t>
            </a:r>
          </a:p>
          <a:p>
            <a:pPr algn="ctr">
              <a:spcBef>
                <a:spcPts val="400"/>
              </a:spcBef>
              <a:spcAft>
                <a:spcPts val="200"/>
              </a:spcAft>
            </a:pPr>
            <a:r>
              <a:rPr sz="1300" b="1" i="0">
                <a:solidFill>
                  <a:srgbClr val="555555"/>
                </a:solidFill>
                <a:latin typeface="Calibri"/>
              </a:rPr>
              <a:t>Tea tree · Peppermint</a:t>
            </a:r>
          </a:p>
        </p:txBody>
      </p:sp>
      <p:pic>
        <p:nvPicPr>
          <p:cNvPr id="8" name="Picture 7" descr="antimicrob.png">
            <a:hlinkClick action="ppaction://hlinksldjump" r:id="rId3"/>
          </p:cNvPr>
          <p:cNvPicPr>
            <a:picLocks noChangeAspect="1"/>
          </p:cNvPicPr>
          <p:nvPr/>
        </p:nvPicPr>
        <p:blipFill>
          <a:blip r:embed="rId2"/>
          <a:stretch>
            <a:fillRect/>
          </a:stretch>
        </p:blipFill>
        <p:spPr>
          <a:xfrm>
            <a:off x="1554480" y="4114800"/>
            <a:ext cx="3383280" cy="1063537"/>
          </a:xfrm>
          <a:prstGeom prst="rect">
            <a:avLst/>
          </a:prstGeom>
        </p:spPr>
      </p:pic>
      <p:sp>
        <p:nvSpPr>
          <p:cNvPr id="9" name="TextBox 8"/>
          <p:cNvSpPr txBox="1"/>
          <p:nvPr/>
        </p:nvSpPr>
        <p:spPr>
          <a:xfrm>
            <a:off x="914400" y="5486400"/>
            <a:ext cx="4663440" cy="274320"/>
          </a:xfrm>
          <a:prstGeom prst="rect">
            <a:avLst/>
          </a:prstGeom>
          <a:noFill/>
        </p:spPr>
        <p:txBody>
          <a:bodyPr wrap="none">
            <a:spAutoFit/>
          </a:bodyPr>
          <a:lstStyle/>
          <a:p>
            <a:pPr algn="ctr"/>
            <a:r>
              <a:rPr sz="1000" b="0" i="0">
                <a:solidFill>
                  <a:srgbClr val="888888"/>
                </a:solidFill>
                <a:latin typeface="Calibri"/>
              </a:rPr>
              <a:t>MIC table 4.5</a:t>
            </a:r>
          </a:p>
        </p:txBody>
      </p:sp>
      <p:sp>
        <p:nvSpPr>
          <p:cNvPr id="10" name="Rounded Rectangle 9"/>
          <p:cNvSpPr/>
          <p:nvPr/>
        </p:nvSpPr>
        <p:spPr>
          <a:xfrm>
            <a:off x="6217920" y="1371600"/>
            <a:ext cx="5394960" cy="4480560"/>
          </a:xfrm>
          <a:prstGeom prst="round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508760"/>
            <a:ext cx="4754880" cy="457200"/>
          </a:xfrm>
          <a:prstGeom prst="rect">
            <a:avLst/>
          </a:prstGeom>
          <a:noFill/>
        </p:spPr>
        <p:txBody>
          <a:bodyPr wrap="none">
            <a:spAutoFit/>
          </a:bodyPr>
          <a:lstStyle/>
          <a:p>
            <a:pPr algn="l"/>
            <a:r>
              <a:rPr sz="1700" b="1" i="0">
                <a:solidFill>
                  <a:srgbClr val="1A3A5C"/>
                </a:solidFill>
                <a:latin typeface="Calibri"/>
              </a:rPr>
              <a:t>Antioxidant · mmol TE/L</a:t>
            </a:r>
          </a:p>
        </p:txBody>
      </p:sp>
      <p:graphicFrame>
        <p:nvGraphicFramePr>
          <p:cNvPr id="12" name="Table 11"/>
          <p:cNvGraphicFramePr>
            <a:graphicFrameLocks noGrp="1"/>
          </p:cNvGraphicFramePr>
          <p:nvPr/>
        </p:nvGraphicFramePr>
        <p:xfrm>
          <a:off x="6675120" y="2103120"/>
          <a:ext cx="4572000" cy="1828800"/>
        </p:xfrm>
        <a:graphic>
          <a:graphicData uri="http://schemas.openxmlformats.org/drawingml/2006/table">
            <a:tbl>
              <a:tblPr>
                <a:tableStyleId>{5C22544A-7EE6-4342-B048-85BDC9FD1C3A}</a:tableStyleId>
              </a:tblPr>
              <a:tblGrid>
                <a:gridCol w="1524000"/>
                <a:gridCol w="1524000"/>
                <a:gridCol w="1524000"/>
              </a:tblGrid>
              <a:tr h="365760">
                <a:tc>
                  <a:txBody>
                    <a:bodyPr/>
                    <a:lstStyle/>
                    <a:p>
                      <a:pPr algn="l"/>
                      <a:r>
                        <a:rPr sz="1200" b="1">
                          <a:solidFill>
                            <a:srgbClr val="FFFFFF"/>
                          </a:solidFill>
                          <a:latin typeface="Calibri"/>
                        </a:rPr>
                        <a:t>Oil</a:t>
                      </a:r>
                    </a:p>
                  </a:txBody>
                  <a:tcPr anchor="ctr" marT="25400" marB="25400">
                    <a:solidFill>
                      <a:srgbClr val="1A3A5C"/>
                    </a:solidFill>
                  </a:tcPr>
                </a:tc>
                <a:tc>
                  <a:txBody>
                    <a:bodyPr/>
                    <a:lstStyle/>
                    <a:p>
                      <a:pPr algn="ctr"/>
                      <a:r>
                        <a:rPr sz="1200" b="1">
                          <a:solidFill>
                            <a:srgbClr val="FFFFFF"/>
                          </a:solidFill>
                          <a:latin typeface="Calibri"/>
                        </a:rPr>
                        <a:t>DPPH</a:t>
                      </a:r>
                    </a:p>
                  </a:txBody>
                  <a:tcPr anchor="ctr" marT="25400" marB="25400">
                    <a:solidFill>
                      <a:srgbClr val="1A3A5C"/>
                    </a:solidFill>
                  </a:tcPr>
                </a:tc>
                <a:tc>
                  <a:txBody>
                    <a:bodyPr/>
                    <a:lstStyle/>
                    <a:p>
                      <a:pPr algn="ctr"/>
                      <a:r>
                        <a:rPr sz="1200" b="1">
                          <a:solidFill>
                            <a:srgbClr val="FFFFFF"/>
                          </a:solidFill>
                          <a:latin typeface="Calibri"/>
                        </a:rPr>
                        <a:t>ABTS</a:t>
                      </a:r>
                    </a:p>
                  </a:txBody>
                  <a:tcPr anchor="ctr" marT="25400" marB="25400">
                    <a:solidFill>
                      <a:srgbClr val="1A3A5C"/>
                    </a:solidFill>
                  </a:tcPr>
                </a:tc>
              </a:tr>
              <a:tr h="365760">
                <a:tc>
                  <a:txBody>
                    <a:bodyPr/>
                    <a:lstStyle/>
                    <a:p>
                      <a:pPr algn="l"/>
                      <a:r>
                        <a:rPr sz="1200">
                          <a:solidFill>
                            <a:srgbClr val="555555"/>
                          </a:solidFill>
                          <a:latin typeface="Calibri"/>
                        </a:rPr>
                        <a:t>Tea tree</a:t>
                      </a:r>
                    </a:p>
                  </a:txBody>
                  <a:tcPr anchor="ctr" marT="25400" marB="25400">
                    <a:solidFill>
                      <a:srgbClr val="FFFFFF"/>
                    </a:solidFill>
                  </a:tcPr>
                </a:tc>
                <a:tc>
                  <a:txBody>
                    <a:bodyPr/>
                    <a:lstStyle/>
                    <a:p>
                      <a:pPr algn="ctr"/>
                      <a:r>
                        <a:rPr sz="1200">
                          <a:solidFill>
                            <a:srgbClr val="555555"/>
                          </a:solidFill>
                          <a:latin typeface="Calibri"/>
                        </a:rPr>
                        <a:t>8</a:t>
                      </a:r>
                    </a:p>
                  </a:txBody>
                  <a:tcPr anchor="ctr" marT="25400" marB="25400">
                    <a:solidFill>
                      <a:srgbClr val="FFFFFF"/>
                    </a:solidFill>
                  </a:tcPr>
                </a:tc>
                <a:tc>
                  <a:txBody>
                    <a:bodyPr/>
                    <a:lstStyle/>
                    <a:p>
                      <a:pPr algn="ctr"/>
                      <a:r>
                        <a:rPr sz="1200">
                          <a:solidFill>
                            <a:srgbClr val="555555"/>
                          </a:solidFill>
                          <a:latin typeface="Calibri"/>
                        </a:rPr>
                        <a:t>169</a:t>
                      </a:r>
                    </a:p>
                  </a:txBody>
                  <a:tcPr anchor="ctr" marT="25400" marB="25400">
                    <a:solidFill>
                      <a:srgbClr val="FFFFFF"/>
                    </a:solidFill>
                  </a:tcPr>
                </a:tc>
              </a:tr>
              <a:tr h="365760">
                <a:tc>
                  <a:txBody>
                    <a:bodyPr/>
                    <a:lstStyle/>
                    <a:p>
                      <a:pPr algn="l"/>
                      <a:r>
                        <a:rPr sz="1200">
                          <a:solidFill>
                            <a:srgbClr val="555555"/>
                          </a:solidFill>
                          <a:latin typeface="Calibri"/>
                        </a:rPr>
                        <a:t>Lavender</a:t>
                      </a:r>
                    </a:p>
                  </a:txBody>
                  <a:tcPr anchor="ctr" marT="25400" marB="25400">
                    <a:solidFill>
                      <a:srgbClr val="FFFFFF"/>
                    </a:solidFill>
                  </a:tcPr>
                </a:tc>
                <a:tc>
                  <a:txBody>
                    <a:bodyPr/>
                    <a:lstStyle/>
                    <a:p>
                      <a:pPr algn="ctr"/>
                      <a:r>
                        <a:rPr sz="1200">
                          <a:solidFill>
                            <a:srgbClr val="555555"/>
                          </a:solidFill>
                          <a:latin typeface="Calibri"/>
                        </a:rPr>
                        <a:t>19</a:t>
                      </a:r>
                    </a:p>
                  </a:txBody>
                  <a:tcPr anchor="ctr" marT="25400" marB="25400">
                    <a:solidFill>
                      <a:srgbClr val="FFFFFF"/>
                    </a:solidFill>
                  </a:tcPr>
                </a:tc>
                <a:tc>
                  <a:txBody>
                    <a:bodyPr/>
                    <a:lstStyle/>
                    <a:p>
                      <a:pPr algn="ctr"/>
                      <a:r>
                        <a:rPr sz="1200">
                          <a:solidFill>
                            <a:srgbClr val="555555"/>
                          </a:solidFill>
                          <a:latin typeface="Calibri"/>
                        </a:rPr>
                        <a:t>49</a:t>
                      </a:r>
                    </a:p>
                  </a:txBody>
                  <a:tcPr anchor="ctr" marT="25400" marB="25400">
                    <a:solidFill>
                      <a:srgbClr val="FFFFFF"/>
                    </a:solidFill>
                  </a:tcPr>
                </a:tc>
              </a:tr>
              <a:tr h="365760">
                <a:tc>
                  <a:txBody>
                    <a:bodyPr/>
                    <a:lstStyle/>
                    <a:p>
                      <a:pPr algn="l"/>
                      <a:r>
                        <a:rPr sz="1200">
                          <a:solidFill>
                            <a:srgbClr val="555555"/>
                          </a:solidFill>
                          <a:latin typeface="Calibri"/>
                        </a:rPr>
                        <a:t>Bergamot</a:t>
                      </a:r>
                    </a:p>
                  </a:txBody>
                  <a:tcPr anchor="ctr" marT="25400" marB="25400">
                    <a:solidFill>
                      <a:srgbClr val="FFFFFF"/>
                    </a:solidFill>
                  </a:tcPr>
                </a:tc>
                <a:tc>
                  <a:txBody>
                    <a:bodyPr/>
                    <a:lstStyle/>
                    <a:p>
                      <a:pPr algn="ctr"/>
                      <a:r>
                        <a:rPr sz="1200">
                          <a:solidFill>
                            <a:srgbClr val="555555"/>
                          </a:solidFill>
                          <a:latin typeface="Calibri"/>
                        </a:rPr>
                        <a:t>17</a:t>
                      </a:r>
                    </a:p>
                  </a:txBody>
                  <a:tcPr anchor="ctr" marT="25400" marB="25400">
                    <a:solidFill>
                      <a:srgbClr val="FFFFFF"/>
                    </a:solidFill>
                  </a:tcPr>
                </a:tc>
                <a:tc>
                  <a:txBody>
                    <a:bodyPr/>
                    <a:lstStyle/>
                    <a:p>
                      <a:pPr algn="ctr"/>
                      <a:r>
                        <a:rPr sz="1200">
                          <a:solidFill>
                            <a:srgbClr val="555555"/>
                          </a:solidFill>
                          <a:latin typeface="Calibri"/>
                        </a:rPr>
                        <a:t>99</a:t>
                      </a:r>
                    </a:p>
                  </a:txBody>
                  <a:tcPr anchor="ctr" marT="25400" marB="25400">
                    <a:solidFill>
                      <a:srgbClr val="FFFFFF"/>
                    </a:solidFill>
                  </a:tcPr>
                </a:tc>
              </a:tr>
              <a:tr h="365760">
                <a:tc>
                  <a:txBody>
                    <a:bodyPr/>
                    <a:lstStyle/>
                    <a:p>
                      <a:pPr algn="l"/>
                      <a:r>
                        <a:rPr sz="1200">
                          <a:solidFill>
                            <a:srgbClr val="555555"/>
                          </a:solidFill>
                          <a:latin typeface="Calibri"/>
                        </a:rPr>
                        <a:t>Peppermint</a:t>
                      </a:r>
                    </a:p>
                  </a:txBody>
                  <a:tcPr anchor="ctr" marT="25400" marB="25400">
                    <a:solidFill>
                      <a:srgbClr val="FFFFFF"/>
                    </a:solidFill>
                  </a:tcPr>
                </a:tc>
                <a:tc>
                  <a:txBody>
                    <a:bodyPr/>
                    <a:lstStyle/>
                    <a:p>
                      <a:pPr algn="ctr"/>
                      <a:r>
                        <a:rPr sz="1200">
                          <a:solidFill>
                            <a:srgbClr val="555555"/>
                          </a:solidFill>
                          <a:latin typeface="Calibri"/>
                        </a:rPr>
                        <a:t>23</a:t>
                      </a:r>
                    </a:p>
                  </a:txBody>
                  <a:tcPr anchor="ctr" marT="25400" marB="25400">
                    <a:solidFill>
                      <a:srgbClr val="FFFFFF"/>
                    </a:solidFill>
                  </a:tcPr>
                </a:tc>
                <a:tc>
                  <a:txBody>
                    <a:bodyPr/>
                    <a:lstStyle/>
                    <a:p>
                      <a:pPr algn="ctr"/>
                      <a:r>
                        <a:rPr sz="1200">
                          <a:solidFill>
                            <a:srgbClr val="555555"/>
                          </a:solidFill>
                          <a:latin typeface="Calibri"/>
                        </a:rPr>
                        <a:t>191</a:t>
                      </a:r>
                    </a:p>
                  </a:txBody>
                  <a:tcPr anchor="ctr" marT="25400" marB="25400">
                    <a:solidFill>
                      <a:srgbClr val="FFFFFF"/>
                    </a:solidFill>
                  </a:tcPr>
                </a:tc>
              </a:tr>
            </a:tbl>
          </a:graphicData>
        </a:graphic>
      </p:graphicFrame>
      <p:pic>
        <p:nvPicPr>
          <p:cNvPr id="13" name="Picture 12" descr="antiox.png">
            <a:hlinkClick action="ppaction://hlinksldjump" r:id="rId5"/>
          </p:cNvPr>
          <p:cNvPicPr>
            <a:picLocks noChangeAspect="1"/>
          </p:cNvPicPr>
          <p:nvPr/>
        </p:nvPicPr>
        <p:blipFill>
          <a:blip r:embed="rId4"/>
          <a:stretch>
            <a:fillRect/>
          </a:stretch>
        </p:blipFill>
        <p:spPr>
          <a:xfrm>
            <a:off x="7635240" y="4069080"/>
            <a:ext cx="2710672" cy="1143000"/>
          </a:xfrm>
          <a:prstGeom prst="rect">
            <a:avLst/>
          </a:prstGeom>
        </p:spPr>
      </p:pic>
      <p:sp>
        <p:nvSpPr>
          <p:cNvPr id="14" name="TextBox 13"/>
          <p:cNvSpPr txBox="1"/>
          <p:nvPr/>
        </p:nvSpPr>
        <p:spPr>
          <a:xfrm>
            <a:off x="6309360" y="5257800"/>
            <a:ext cx="5212080" cy="274320"/>
          </a:xfrm>
          <a:prstGeom prst="rect">
            <a:avLst/>
          </a:prstGeom>
          <a:noFill/>
        </p:spPr>
        <p:txBody>
          <a:bodyPr wrap="none">
            <a:spAutoFit/>
          </a:bodyPr>
          <a:lstStyle/>
          <a:p>
            <a:pPr algn="ctr"/>
            <a:r>
              <a:rPr sz="1000" b="0" i="0">
                <a:solidFill>
                  <a:srgbClr val="888888"/>
                </a:solidFill>
                <a:latin typeface="Calibri"/>
              </a:rPr>
              <a:t>Table 4.4</a:t>
            </a:r>
          </a:p>
        </p:txBody>
      </p:sp>
      <p:sp>
        <p:nvSpPr>
          <p:cNvPr id="15" name="TextBox 14"/>
          <p:cNvSpPr txBox="1"/>
          <p:nvPr/>
        </p:nvSpPr>
        <p:spPr>
          <a:xfrm>
            <a:off x="6309360" y="5532120"/>
            <a:ext cx="5212080" cy="365760"/>
          </a:xfrm>
          <a:prstGeom prst="rect">
            <a:avLst/>
          </a:prstGeom>
          <a:noFill/>
        </p:spPr>
        <p:txBody>
          <a:bodyPr wrap="none">
            <a:spAutoFit/>
          </a:bodyPr>
          <a:lstStyle/>
          <a:p>
            <a:pPr algn="ctr"/>
            <a:r>
              <a:rPr sz="1200" b="0" i="0">
                <a:solidFill>
                  <a:srgbClr val="888888"/>
                </a:solidFill>
                <a:latin typeface="Calibri"/>
              </a:rPr>
              <a:t>Fresh oils · still measurable after 12 months</a:t>
            </a:r>
          </a:p>
        </p:txBody>
      </p:sp>
      <p:sp>
        <p:nvSpPr>
          <p:cNvPr id="16" name="TextBox 15"/>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a:hlinkClick action="ppaction://hlinksldjump" r:id="rId3"/>
          </p:cNvPr>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ntimicrob.png">
            <a:hlinkClick action="ppaction://hlinksldjump" r:id="rId3"/>
          </p:cNvPr>
          <p:cNvPicPr>
            <a:picLocks noChangeAspect="1"/>
          </p:cNvPicPr>
          <p:nvPr/>
        </p:nvPicPr>
        <p:blipFill>
          <a:blip r:embed="rId2"/>
          <a:stretch>
            <a:fillRect/>
          </a:stretch>
        </p:blipFill>
        <p:spPr>
          <a:xfrm>
            <a:off x="274320" y="1598998"/>
            <a:ext cx="11643055" cy="3660003"/>
          </a:xfrm>
          <a:prstGeom prst="rect">
            <a:avLst/>
          </a:prstGeom>
        </p:spPr>
      </p:pic>
      <p:sp>
        <p:nvSpPr>
          <p:cNvPr id="4" name="TextBox 3"/>
          <p:cNvSpPr txBox="1"/>
          <p:nvPr/>
        </p:nvSpPr>
        <p:spPr>
          <a:xfrm>
            <a:off x="365760" y="6473952"/>
            <a:ext cx="5486400" cy="292608"/>
          </a:xfrm>
          <a:prstGeom prst="rect">
            <a:avLst/>
          </a:prstGeom>
          <a:noFill/>
        </p:spPr>
        <p:txBody>
          <a:bodyPr wrap="none">
            <a:spAutoFit/>
          </a:bodyPr>
          <a:lstStyle/>
          <a:p>
            <a:pPr algn="l"/>
            <a:r>
              <a:rPr sz="1100" b="0" i="0">
                <a:solidFill>
                  <a:srgbClr val="CCCCCC"/>
                </a:solidFill>
                <a:latin typeface="Calibri"/>
              </a:rPr>
              <a:t>Click image to go back</a:t>
            </a:r>
          </a:p>
        </p:txBody>
      </p:sp>
    </p:spTree>
  </p:cSld>
  <p:clrMapOvr>
    <a:masterClrMapping/>
  </p:clrMapOvr>
  <p:transition spd="slow">
    <p:fade/>
  </p:transition>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a:hlinkClick action="ppaction://hlinksldjump" r:id="rId3"/>
          </p:cNvPr>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ntiox.png">
            <a:hlinkClick action="ppaction://hlinksldjump" r:id="rId3"/>
          </p:cNvPr>
          <p:cNvPicPr>
            <a:picLocks noChangeAspect="1"/>
          </p:cNvPicPr>
          <p:nvPr/>
        </p:nvPicPr>
        <p:blipFill>
          <a:blip r:embed="rId2"/>
          <a:stretch>
            <a:fillRect/>
          </a:stretch>
        </p:blipFill>
        <p:spPr>
          <a:xfrm>
            <a:off x="274320" y="974256"/>
            <a:ext cx="11643055" cy="4909488"/>
          </a:xfrm>
          <a:prstGeom prst="rect">
            <a:avLst/>
          </a:prstGeom>
        </p:spPr>
      </p:pic>
      <p:sp>
        <p:nvSpPr>
          <p:cNvPr id="4" name="TextBox 3"/>
          <p:cNvSpPr txBox="1"/>
          <p:nvPr/>
        </p:nvSpPr>
        <p:spPr>
          <a:xfrm>
            <a:off x="365760" y="6473952"/>
            <a:ext cx="5486400" cy="292608"/>
          </a:xfrm>
          <a:prstGeom prst="rect">
            <a:avLst/>
          </a:prstGeom>
          <a:noFill/>
        </p:spPr>
        <p:txBody>
          <a:bodyPr wrap="none">
            <a:spAutoFit/>
          </a:bodyPr>
          <a:lstStyle/>
          <a:p>
            <a:pPr algn="l"/>
            <a:r>
              <a:rPr sz="1100" b="0" i="0">
                <a:solidFill>
                  <a:srgbClr val="CCCCCC"/>
                </a:solidFill>
                <a:latin typeface="Calibri"/>
              </a:rPr>
              <a:t>Click image to go back</a:t>
            </a:r>
          </a:p>
        </p:txBody>
      </p:sp>
    </p:spTree>
  </p:cSld>
  <p:clrMapOvr>
    <a:masterClrMapping/>
  </p:clrMapOvr>
  <p:transition spd="slow">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
            <a:ext cx="11064240" cy="320040"/>
          </a:xfrm>
          <a:prstGeom prst="rect">
            <a:avLst/>
          </a:prstGeom>
          <a:noFill/>
        </p:spPr>
        <p:txBody>
          <a:bodyPr wrap="none">
            <a:spAutoFit/>
          </a:bodyPr>
          <a:lstStyle/>
          <a:p>
            <a:pPr algn="l"/>
            <a:r>
              <a:rPr sz="1400" b="1" i="0">
                <a:solidFill>
                  <a:srgbClr val="C9A227"/>
                </a:solidFill>
                <a:latin typeface="Calibri"/>
              </a:rPr>
              <a:t>03 · DELIVERY</a:t>
            </a:r>
          </a:p>
        </p:txBody>
      </p:sp>
      <p:sp>
        <p:nvSpPr>
          <p:cNvPr id="3" name="TextBox 2"/>
          <p:cNvSpPr txBox="1"/>
          <p:nvPr/>
        </p:nvSpPr>
        <p:spPr>
          <a:xfrm>
            <a:off x="548640" y="411480"/>
            <a:ext cx="11064240" cy="640080"/>
          </a:xfrm>
          <a:prstGeom prst="rect">
            <a:avLst/>
          </a:prstGeom>
          <a:noFill/>
        </p:spPr>
        <p:txBody>
          <a:bodyPr wrap="none">
            <a:spAutoFit/>
          </a:bodyPr>
          <a:lstStyle/>
          <a:p>
            <a:pPr algn="l"/>
            <a:r>
              <a:rPr sz="3200" b="1" i="0">
                <a:solidFill>
                  <a:srgbClr val="1A3A5C"/>
                </a:solidFill>
                <a:latin typeface="Calibri"/>
              </a:rPr>
              <a:t>Calcium alginate encapsulation</a:t>
            </a:r>
          </a:p>
        </p:txBody>
      </p:sp>
      <p:pic>
        <p:nvPicPr>
          <p:cNvPr id="4" name="Picture 3" descr="beads-shrinkage.png">
            <a:hlinkClick action="ppaction://hlinksldjump" r:id="rId3"/>
          </p:cNvPr>
          <p:cNvPicPr>
            <a:picLocks noChangeAspect="1"/>
          </p:cNvPicPr>
          <p:nvPr/>
        </p:nvPicPr>
        <p:blipFill>
          <a:blip r:embed="rId2"/>
          <a:stretch>
            <a:fillRect/>
          </a:stretch>
        </p:blipFill>
        <p:spPr>
          <a:xfrm>
            <a:off x="1463040" y="1280160"/>
            <a:ext cx="9235440" cy="2755736"/>
          </a:xfrm>
          <a:prstGeom prst="rect">
            <a:avLst/>
          </a:prstGeom>
        </p:spPr>
      </p:pic>
      <p:sp>
        <p:nvSpPr>
          <p:cNvPr id="5" name="TextBox 4"/>
          <p:cNvSpPr txBox="1"/>
          <p:nvPr/>
        </p:nvSpPr>
        <p:spPr>
          <a:xfrm>
            <a:off x="1463040" y="4114800"/>
            <a:ext cx="9235440" cy="274320"/>
          </a:xfrm>
          <a:prstGeom prst="rect">
            <a:avLst/>
          </a:prstGeom>
          <a:noFill/>
        </p:spPr>
        <p:txBody>
          <a:bodyPr wrap="none">
            <a:spAutoFit/>
          </a:bodyPr>
          <a:lstStyle/>
          <a:p>
            <a:pPr algn="ctr"/>
            <a:r>
              <a:rPr sz="1000" b="0" i="0">
                <a:solidFill>
                  <a:srgbClr val="888888"/>
                </a:solidFill>
                <a:latin typeface="Calibri"/>
              </a:rPr>
              <a:t>Before (top) and after (bottom) freeze drying</a:t>
            </a:r>
          </a:p>
        </p:txBody>
      </p:sp>
      <p:sp>
        <p:nvSpPr>
          <p:cNvPr id="6" name="TextBox 5"/>
          <p:cNvSpPr txBox="1"/>
          <p:nvPr/>
        </p:nvSpPr>
        <p:spPr>
          <a:xfrm>
            <a:off x="731520" y="4572000"/>
            <a:ext cx="6583680" cy="1554480"/>
          </a:xfrm>
          <a:prstGeom prst="rect">
            <a:avLst/>
          </a:prstGeom>
          <a:noFill/>
        </p:spPr>
        <p:txBody>
          <a:bodyPr wrap="square">
            <a:spAutoFit/>
          </a:bodyPr>
          <a:lstStyle/>
          <a:p>
            <a:pPr algn="l"/>
            <a:r>
              <a:rPr sz="1500" b="0" i="0">
                <a:solidFill>
                  <a:srgbClr val="555555"/>
                </a:solidFill>
                <a:latin typeface="Calibri"/>
              </a:rPr>
              <a:t>Electrostatic extrusion · solvent free · freeze dried for stability</a:t>
            </a:r>
          </a:p>
          <a:p>
            <a:pPr algn="l">
              <a:spcBef>
                <a:spcPts val="400"/>
              </a:spcBef>
              <a:spcAft>
                <a:spcPts val="200"/>
              </a:spcAft>
            </a:pPr>
            <a:r>
              <a:rPr sz="1800" b="1" i="0">
                <a:solidFill>
                  <a:srgbClr val="C9A227"/>
                </a:solidFill>
                <a:latin typeface="Calibri"/>
              </a:rPr>
              <a:t>2.0 mm wet  →  1.4 mm dry  (~30% shrinkage)</a:t>
            </a:r>
          </a:p>
          <a:p>
            <a:pPr algn="l">
              <a:spcBef>
                <a:spcPts val="400"/>
              </a:spcBef>
              <a:spcAft>
                <a:spcPts val="200"/>
              </a:spcAft>
            </a:pPr>
            <a:r>
              <a:rPr sz="1300" b="0" i="0">
                <a:solidFill>
                  <a:srgbClr val="555555"/>
                </a:solidFill>
                <a:latin typeface="Calibri"/>
              </a:rPr>
              <a:t>Empty beads stayed approximately spherical after freeze drying.</a:t>
            </a:r>
          </a:p>
        </p:txBody>
      </p:sp>
      <p:pic>
        <p:nvPicPr>
          <p:cNvPr id="7" name="Picture 6" descr="extrusion.png">
            <a:hlinkClick action="ppaction://hlinksldjump" r:id="rId5"/>
          </p:cNvPr>
          <p:cNvPicPr>
            <a:picLocks noChangeAspect="1"/>
          </p:cNvPicPr>
          <p:nvPr/>
        </p:nvPicPr>
        <p:blipFill>
          <a:blip r:embed="rId4"/>
          <a:stretch>
            <a:fillRect/>
          </a:stretch>
        </p:blipFill>
        <p:spPr>
          <a:xfrm>
            <a:off x="8961120" y="4480560"/>
            <a:ext cx="1875434" cy="1600200"/>
          </a:xfrm>
          <a:prstGeom prst="rect">
            <a:avLst/>
          </a:prstGeom>
        </p:spPr>
      </p:pic>
      <p:sp>
        <p:nvSpPr>
          <p:cNvPr id="8" name="TextBox 7"/>
          <p:cNvSpPr txBox="1"/>
          <p:nvPr/>
        </p:nvSpPr>
        <p:spPr>
          <a:xfrm>
            <a:off x="7863840" y="6126480"/>
            <a:ext cx="3840480" cy="274320"/>
          </a:xfrm>
          <a:prstGeom prst="rect">
            <a:avLst/>
          </a:prstGeom>
          <a:noFill/>
        </p:spPr>
        <p:txBody>
          <a:bodyPr wrap="none">
            <a:spAutoFit/>
          </a:bodyPr>
          <a:lstStyle/>
          <a:p>
            <a:pPr algn="ctr"/>
            <a:r>
              <a:rPr sz="1000" b="0" i="0">
                <a:solidFill>
                  <a:srgbClr val="888888"/>
                </a:solidFill>
                <a:latin typeface="Calibri"/>
              </a:rPr>
              <a:t>Electrostatic extrusion</a:t>
            </a:r>
          </a:p>
        </p:txBody>
      </p:sp>
      <p:sp>
        <p:nvSpPr>
          <p:cNvPr id="9" name="TextBox 8"/>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slides/slide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a:hlinkClick action="ppaction://hlinksldjump" r:id="rId3"/>
          </p:cNvPr>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eads-shrinkage.png">
            <a:hlinkClick action="ppaction://hlinksldjump" r:id="rId3"/>
          </p:cNvPr>
          <p:cNvPicPr>
            <a:picLocks noChangeAspect="1"/>
          </p:cNvPicPr>
          <p:nvPr/>
        </p:nvPicPr>
        <p:blipFill>
          <a:blip r:embed="rId2"/>
          <a:stretch>
            <a:fillRect/>
          </a:stretch>
        </p:blipFill>
        <p:spPr>
          <a:xfrm>
            <a:off x="274320" y="1691931"/>
            <a:ext cx="11643055" cy="3474137"/>
          </a:xfrm>
          <a:prstGeom prst="rect">
            <a:avLst/>
          </a:prstGeom>
        </p:spPr>
      </p:pic>
      <p:sp>
        <p:nvSpPr>
          <p:cNvPr id="4" name="TextBox 3"/>
          <p:cNvSpPr txBox="1"/>
          <p:nvPr/>
        </p:nvSpPr>
        <p:spPr>
          <a:xfrm>
            <a:off x="365760" y="6473952"/>
            <a:ext cx="5486400" cy="292608"/>
          </a:xfrm>
          <a:prstGeom prst="rect">
            <a:avLst/>
          </a:prstGeom>
          <a:noFill/>
        </p:spPr>
        <p:txBody>
          <a:bodyPr wrap="none">
            <a:spAutoFit/>
          </a:bodyPr>
          <a:lstStyle/>
          <a:p>
            <a:pPr algn="l"/>
            <a:r>
              <a:rPr sz="1100" b="0" i="0">
                <a:solidFill>
                  <a:srgbClr val="CCCCCC"/>
                </a:solidFill>
                <a:latin typeface="Calibri"/>
              </a:rPr>
              <a:t>Click image to go back</a:t>
            </a:r>
          </a:p>
        </p:txBody>
      </p:sp>
    </p:spTree>
  </p:cSld>
  <p:clrMapOvr>
    <a:masterClrMapping/>
  </p:clrMapOvr>
  <p:transition spd="slow">
    <p:fade/>
  </p:transition>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a:hlinkClick action="ppaction://hlinksldjump" r:id="rId3"/>
          </p:cNvPr>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xtrusion.png">
            <a:hlinkClick action="ppaction://hlinksldjump" r:id="rId3"/>
          </p:cNvPr>
          <p:cNvPicPr>
            <a:picLocks noChangeAspect="1"/>
          </p:cNvPicPr>
          <p:nvPr/>
        </p:nvPicPr>
        <p:blipFill>
          <a:blip r:embed="rId2"/>
          <a:stretch>
            <a:fillRect/>
          </a:stretch>
        </p:blipFill>
        <p:spPr>
          <a:xfrm>
            <a:off x="2398563" y="274320"/>
            <a:ext cx="7394569" cy="6309360"/>
          </a:xfrm>
          <a:prstGeom prst="rect">
            <a:avLst/>
          </a:prstGeom>
        </p:spPr>
      </p:pic>
      <p:sp>
        <p:nvSpPr>
          <p:cNvPr id="4" name="TextBox 3"/>
          <p:cNvSpPr txBox="1"/>
          <p:nvPr/>
        </p:nvSpPr>
        <p:spPr>
          <a:xfrm>
            <a:off x="365760" y="6473952"/>
            <a:ext cx="5486400" cy="292608"/>
          </a:xfrm>
          <a:prstGeom prst="rect">
            <a:avLst/>
          </a:prstGeom>
          <a:noFill/>
        </p:spPr>
        <p:txBody>
          <a:bodyPr wrap="none">
            <a:spAutoFit/>
          </a:bodyPr>
          <a:lstStyle/>
          <a:p>
            <a:pPr algn="l"/>
            <a:r>
              <a:rPr sz="1100" b="0" i="0">
                <a:solidFill>
                  <a:srgbClr val="CCCCCC"/>
                </a:solidFill>
                <a:latin typeface="Calibri"/>
              </a:rPr>
              <a:t>Click image to go back</a:t>
            </a:r>
          </a:p>
        </p:txBody>
      </p:sp>
    </p:spTree>
  </p:cSld>
  <p:clrMapOvr>
    <a:masterClrMapping/>
  </p:clrMapOvr>
  <p:transition spd="slow">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
            <a:ext cx="11064240" cy="320040"/>
          </a:xfrm>
          <a:prstGeom prst="rect">
            <a:avLst/>
          </a:prstGeom>
          <a:noFill/>
        </p:spPr>
        <p:txBody>
          <a:bodyPr wrap="none">
            <a:spAutoFit/>
          </a:bodyPr>
          <a:lstStyle/>
          <a:p>
            <a:pPr algn="l"/>
            <a:r>
              <a:rPr sz="1400" b="1" i="0">
                <a:solidFill>
                  <a:srgbClr val="1A3A5C"/>
                </a:solidFill>
                <a:latin typeface="Calibri"/>
              </a:rPr>
              <a:t>PHASE II</a:t>
            </a:r>
          </a:p>
        </p:txBody>
      </p:sp>
      <p:sp>
        <p:nvSpPr>
          <p:cNvPr id="3" name="TextBox 2"/>
          <p:cNvSpPr txBox="1"/>
          <p:nvPr/>
        </p:nvSpPr>
        <p:spPr>
          <a:xfrm>
            <a:off x="548640" y="411480"/>
            <a:ext cx="11064240" cy="640080"/>
          </a:xfrm>
          <a:prstGeom prst="rect">
            <a:avLst/>
          </a:prstGeom>
          <a:noFill/>
        </p:spPr>
        <p:txBody>
          <a:bodyPr wrap="none">
            <a:spAutoFit/>
          </a:bodyPr>
          <a:lstStyle/>
          <a:p>
            <a:pPr algn="l"/>
            <a:r>
              <a:rPr sz="3200" b="1" i="0">
                <a:solidFill>
                  <a:srgbClr val="1A3A5C"/>
                </a:solidFill>
                <a:latin typeface="Calibri"/>
              </a:rPr>
              <a:t>Machine Learning</a:t>
            </a:r>
          </a:p>
        </p:txBody>
      </p:sp>
      <p:sp>
        <p:nvSpPr>
          <p:cNvPr id="4" name="TextBox 3"/>
          <p:cNvSpPr txBox="1"/>
          <p:nvPr/>
        </p:nvSpPr>
        <p:spPr>
          <a:xfrm>
            <a:off x="548640" y="960120"/>
            <a:ext cx="11064240" cy="320040"/>
          </a:xfrm>
          <a:prstGeom prst="rect">
            <a:avLst/>
          </a:prstGeom>
          <a:noFill/>
        </p:spPr>
        <p:txBody>
          <a:bodyPr wrap="none">
            <a:spAutoFit/>
          </a:bodyPr>
          <a:lstStyle/>
          <a:p>
            <a:pPr algn="l"/>
            <a:r>
              <a:rPr sz="1400" b="0" i="0">
                <a:solidFill>
                  <a:srgbClr val="888888"/>
                </a:solidFill>
                <a:latin typeface="Calibri"/>
              </a:rPr>
              <a:t>A four step pipeline from literature oils to interpretable motifs</a:t>
            </a:r>
          </a:p>
        </p:txBody>
      </p:sp>
      <p:sp>
        <p:nvSpPr>
          <p:cNvPr id="5" name="Rounded Rectangle 4"/>
          <p:cNvSpPr/>
          <p:nvPr/>
        </p:nvSpPr>
        <p:spPr>
          <a:xfrm>
            <a:off x="457200" y="1417320"/>
            <a:ext cx="2697480" cy="3246120"/>
          </a:xfrm>
          <a:prstGeom prst="round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2697480" cy="914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17320" y="1645920"/>
            <a:ext cx="777240" cy="457200"/>
          </a:xfrm>
          <a:prstGeom prst="rect">
            <a:avLst/>
          </a:prstGeom>
          <a:noFill/>
        </p:spPr>
        <p:txBody>
          <a:bodyPr wrap="none">
            <a:spAutoFit/>
          </a:bodyPr>
          <a:lstStyle/>
          <a:p>
            <a:pPr algn="ctr"/>
            <a:r>
              <a:rPr sz="2200" b="1" i="0">
                <a:solidFill>
                  <a:srgbClr val="1A3A5C"/>
                </a:solidFill>
                <a:latin typeface="Calibri"/>
              </a:rPr>
              <a:t>1</a:t>
            </a:r>
          </a:p>
        </p:txBody>
      </p:sp>
      <p:sp>
        <p:nvSpPr>
          <p:cNvPr id="8" name="TextBox 7"/>
          <p:cNvSpPr txBox="1"/>
          <p:nvPr/>
        </p:nvSpPr>
        <p:spPr>
          <a:xfrm>
            <a:off x="640080" y="2240280"/>
            <a:ext cx="2377440" cy="2286000"/>
          </a:xfrm>
          <a:prstGeom prst="rect">
            <a:avLst/>
          </a:prstGeom>
          <a:noFill/>
        </p:spPr>
        <p:txBody>
          <a:bodyPr wrap="square">
            <a:spAutoFit/>
          </a:bodyPr>
          <a:lstStyle/>
          <a:p>
            <a:pPr algn="l"/>
            <a:r>
              <a:rPr sz="1500" b="1" i="0">
                <a:solidFill>
                  <a:srgbClr val="1A3A5C"/>
                </a:solidFill>
                <a:latin typeface="Calibri"/>
              </a:rPr>
              <a:t>Collect data</a:t>
            </a:r>
          </a:p>
          <a:p>
            <a:pPr algn="l">
              <a:spcBef>
                <a:spcPts val="400"/>
              </a:spcBef>
              <a:spcAft>
                <a:spcPts val="200"/>
              </a:spcAft>
            </a:pPr>
            <a:r>
              <a:rPr sz="1200" b="0" i="0">
                <a:solidFill>
                  <a:srgbClr val="555555"/>
                </a:solidFill>
                <a:latin typeface="Calibri"/>
              </a:rPr>
              <a:t>Published EO studies · composition + anti </a:t>
            </a:r>
            <a:r>
              <a:rPr sz="1200" b="0" i="1">
                <a:solidFill>
                  <a:srgbClr val="555555"/>
                </a:solidFill>
                <a:latin typeface="Calibri"/>
              </a:rPr>
              <a:t>Salmonella</a:t>
            </a:r>
            <a:r>
              <a:rPr sz="1200" b="0" i="0">
                <a:solidFill>
                  <a:srgbClr val="555555"/>
                </a:solidFill>
                <a:latin typeface="Calibri"/>
              </a:rPr>
              <a:t> labels · majors &gt;10%</a:t>
            </a:r>
          </a:p>
          <a:p>
            <a:pPr algn="l">
              <a:spcBef>
                <a:spcPts val="400"/>
              </a:spcBef>
              <a:spcAft>
                <a:spcPts val="200"/>
              </a:spcAft>
            </a:pPr>
          </a:p>
          <a:p>
            <a:pPr algn="l">
              <a:spcBef>
                <a:spcPts val="400"/>
              </a:spcBef>
              <a:spcAft>
                <a:spcPts val="200"/>
              </a:spcAft>
            </a:pPr>
            <a:r>
              <a:rPr sz="1400" b="1" i="0">
                <a:solidFill>
                  <a:srgbClr val="1A3A5C"/>
                </a:solidFill>
                <a:latin typeface="Calibri"/>
              </a:rPr>
              <a:t>171 oils · 87 / 84</a:t>
            </a:r>
          </a:p>
        </p:txBody>
      </p:sp>
      <p:sp>
        <p:nvSpPr>
          <p:cNvPr id="9" name="Rounded Rectangle 8"/>
          <p:cNvSpPr/>
          <p:nvPr/>
        </p:nvSpPr>
        <p:spPr>
          <a:xfrm>
            <a:off x="3383280" y="1417320"/>
            <a:ext cx="2697480" cy="3246120"/>
          </a:xfrm>
          <a:prstGeom prst="round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417320"/>
            <a:ext cx="2697480" cy="91440"/>
          </a:xfrm>
          <a:prstGeom prst="rect">
            <a:avLst/>
          </a:prstGeom>
          <a:solidFill>
            <a:srgbClr val="3D6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645920"/>
            <a:ext cx="777240" cy="457200"/>
          </a:xfrm>
          <a:prstGeom prst="rect">
            <a:avLst/>
          </a:prstGeom>
          <a:noFill/>
        </p:spPr>
        <p:txBody>
          <a:bodyPr wrap="none">
            <a:spAutoFit/>
          </a:bodyPr>
          <a:lstStyle/>
          <a:p>
            <a:pPr algn="ctr"/>
            <a:r>
              <a:rPr sz="2200" b="1" i="0">
                <a:solidFill>
                  <a:srgbClr val="3D6A99"/>
                </a:solidFill>
                <a:latin typeface="Calibri"/>
              </a:rPr>
              <a:t>2</a:t>
            </a:r>
          </a:p>
        </p:txBody>
      </p:sp>
      <p:sp>
        <p:nvSpPr>
          <p:cNvPr id="12" name="TextBox 11"/>
          <p:cNvSpPr txBox="1"/>
          <p:nvPr/>
        </p:nvSpPr>
        <p:spPr>
          <a:xfrm>
            <a:off x="3566160" y="2240280"/>
            <a:ext cx="2377440" cy="2286000"/>
          </a:xfrm>
          <a:prstGeom prst="rect">
            <a:avLst/>
          </a:prstGeom>
          <a:noFill/>
        </p:spPr>
        <p:txBody>
          <a:bodyPr wrap="square">
            <a:spAutoFit/>
          </a:bodyPr>
          <a:lstStyle/>
          <a:p>
            <a:pPr algn="l"/>
            <a:r>
              <a:rPr sz="1500" b="1" i="0">
                <a:solidFill>
                  <a:srgbClr val="1A3A5C"/>
                </a:solidFill>
                <a:latin typeface="Calibri"/>
              </a:rPr>
              <a:t>Encode molecules</a:t>
            </a:r>
          </a:p>
          <a:p>
            <a:pPr algn="l">
              <a:spcBef>
                <a:spcPts val="400"/>
              </a:spcBef>
              <a:spcAft>
                <a:spcPts val="200"/>
              </a:spcAft>
            </a:pPr>
            <a:r>
              <a:rPr sz="1200" b="0" i="0">
                <a:solidFill>
                  <a:srgbClr val="555555"/>
                </a:solidFill>
                <a:latin typeface="Calibri"/>
              </a:rPr>
              <a:t>Names → SMILES → binary Morgan fingerprints</a:t>
            </a:r>
          </a:p>
          <a:p>
            <a:pPr algn="l">
              <a:spcBef>
                <a:spcPts val="400"/>
              </a:spcBef>
              <a:spcAft>
                <a:spcPts val="200"/>
              </a:spcAft>
            </a:pPr>
          </a:p>
          <a:p>
            <a:pPr algn="l">
              <a:spcBef>
                <a:spcPts val="400"/>
              </a:spcBef>
              <a:spcAft>
                <a:spcPts val="200"/>
              </a:spcAft>
            </a:pPr>
            <a:r>
              <a:rPr sz="1400" b="1" i="0">
                <a:solidFill>
                  <a:srgbClr val="3D6A99"/>
                </a:solidFill>
                <a:latin typeface="Calibri"/>
              </a:rPr>
              <a:t>bits · molecular features</a:t>
            </a:r>
          </a:p>
        </p:txBody>
      </p:sp>
      <p:sp>
        <p:nvSpPr>
          <p:cNvPr id="13" name="Rounded Rectangle 12"/>
          <p:cNvSpPr/>
          <p:nvPr/>
        </p:nvSpPr>
        <p:spPr>
          <a:xfrm>
            <a:off x="6309360" y="1417320"/>
            <a:ext cx="2697480" cy="3246120"/>
          </a:xfrm>
          <a:prstGeom prst="round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417320"/>
            <a:ext cx="2697480" cy="91440"/>
          </a:xfrm>
          <a:prstGeom prst="rect">
            <a:avLst/>
          </a:prstGeom>
          <a:solidFill>
            <a:srgbClr val="4A67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9480" y="1645920"/>
            <a:ext cx="777240" cy="457200"/>
          </a:xfrm>
          <a:prstGeom prst="rect">
            <a:avLst/>
          </a:prstGeom>
          <a:noFill/>
        </p:spPr>
        <p:txBody>
          <a:bodyPr wrap="none">
            <a:spAutoFit/>
          </a:bodyPr>
          <a:lstStyle/>
          <a:p>
            <a:pPr algn="ctr"/>
            <a:r>
              <a:rPr sz="2200" b="1" i="0">
                <a:solidFill>
                  <a:srgbClr val="4A6741"/>
                </a:solidFill>
                <a:latin typeface="Calibri"/>
              </a:rPr>
              <a:t>3</a:t>
            </a:r>
          </a:p>
        </p:txBody>
      </p:sp>
      <p:sp>
        <p:nvSpPr>
          <p:cNvPr id="16" name="TextBox 15"/>
          <p:cNvSpPr txBox="1"/>
          <p:nvPr/>
        </p:nvSpPr>
        <p:spPr>
          <a:xfrm>
            <a:off x="6492240" y="2240280"/>
            <a:ext cx="2377440" cy="2286000"/>
          </a:xfrm>
          <a:prstGeom prst="rect">
            <a:avLst/>
          </a:prstGeom>
          <a:noFill/>
        </p:spPr>
        <p:txBody>
          <a:bodyPr wrap="square">
            <a:spAutoFit/>
          </a:bodyPr>
          <a:lstStyle/>
          <a:p>
            <a:pPr algn="l"/>
            <a:r>
              <a:rPr sz="1500" b="1" i="0">
                <a:solidFill>
                  <a:srgbClr val="1A3A5C"/>
                </a:solidFill>
                <a:latin typeface="Calibri"/>
              </a:rPr>
              <a:t>Model &amp; rank</a:t>
            </a:r>
          </a:p>
          <a:p>
            <a:pPr algn="l">
              <a:spcBef>
                <a:spcPts val="400"/>
              </a:spcBef>
              <a:spcAft>
                <a:spcPts val="200"/>
              </a:spcAft>
            </a:pPr>
            <a:r>
              <a:rPr sz="1200" b="0" i="0">
                <a:solidFill>
                  <a:srgbClr val="555555"/>
                </a:solidFill>
                <a:latin typeface="Calibri"/>
              </a:rPr>
              <a:t>L1 logistic regression + permutation feature importance</a:t>
            </a:r>
          </a:p>
          <a:p>
            <a:pPr algn="l">
              <a:spcBef>
                <a:spcPts val="400"/>
              </a:spcBef>
              <a:spcAft>
                <a:spcPts val="200"/>
              </a:spcAft>
            </a:pPr>
          </a:p>
          <a:p>
            <a:pPr algn="l">
              <a:spcBef>
                <a:spcPts val="400"/>
              </a:spcBef>
              <a:spcAft>
                <a:spcPts val="200"/>
              </a:spcAft>
            </a:pPr>
            <a:r>
              <a:rPr sz="1400" b="1" i="0">
                <a:solidFill>
                  <a:srgbClr val="4A6741"/>
                </a:solidFill>
                <a:latin typeface="Calibri"/>
              </a:rPr>
              <a:t>PFI · key bits</a:t>
            </a:r>
          </a:p>
        </p:txBody>
      </p:sp>
      <p:sp>
        <p:nvSpPr>
          <p:cNvPr id="17" name="Rounded Rectangle 16"/>
          <p:cNvSpPr/>
          <p:nvPr/>
        </p:nvSpPr>
        <p:spPr>
          <a:xfrm>
            <a:off x="9235440" y="1417320"/>
            <a:ext cx="2697480" cy="3246120"/>
          </a:xfrm>
          <a:prstGeom prst="round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35440" y="1417320"/>
            <a:ext cx="2697480" cy="9144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95560" y="1645920"/>
            <a:ext cx="777240" cy="457200"/>
          </a:xfrm>
          <a:prstGeom prst="rect">
            <a:avLst/>
          </a:prstGeom>
          <a:noFill/>
        </p:spPr>
        <p:txBody>
          <a:bodyPr wrap="none">
            <a:spAutoFit/>
          </a:bodyPr>
          <a:lstStyle/>
          <a:p>
            <a:pPr algn="ctr"/>
            <a:r>
              <a:rPr sz="2200" b="1" i="0">
                <a:solidFill>
                  <a:srgbClr val="C9A227"/>
                </a:solidFill>
                <a:latin typeface="Calibri"/>
              </a:rPr>
              <a:t>4</a:t>
            </a:r>
          </a:p>
        </p:txBody>
      </p:sp>
      <p:sp>
        <p:nvSpPr>
          <p:cNvPr id="20" name="TextBox 19"/>
          <p:cNvSpPr txBox="1"/>
          <p:nvPr/>
        </p:nvSpPr>
        <p:spPr>
          <a:xfrm>
            <a:off x="9418320" y="2240280"/>
            <a:ext cx="2377440" cy="2286000"/>
          </a:xfrm>
          <a:prstGeom prst="rect">
            <a:avLst/>
          </a:prstGeom>
          <a:noFill/>
        </p:spPr>
        <p:txBody>
          <a:bodyPr wrap="square">
            <a:spAutoFit/>
          </a:bodyPr>
          <a:lstStyle/>
          <a:p>
            <a:pPr algn="l"/>
            <a:r>
              <a:rPr sz="1500" b="1" i="0">
                <a:solidFill>
                  <a:srgbClr val="1A3A5C"/>
                </a:solidFill>
                <a:latin typeface="Calibri"/>
              </a:rPr>
              <a:t>Check literature</a:t>
            </a:r>
          </a:p>
          <a:p>
            <a:pPr algn="l">
              <a:spcBef>
                <a:spcPts val="400"/>
              </a:spcBef>
              <a:spcAft>
                <a:spcPts val="200"/>
              </a:spcAft>
            </a:pPr>
            <a:r>
              <a:rPr sz="1200" b="0" i="0">
                <a:solidFill>
                  <a:srgbClr val="555555"/>
                </a:solidFill>
                <a:latin typeface="Calibri"/>
              </a:rPr>
              <a:t>Compare selected motifs with known EO bioactivity</a:t>
            </a:r>
          </a:p>
          <a:p>
            <a:pPr algn="l">
              <a:spcBef>
                <a:spcPts val="400"/>
              </a:spcBef>
              <a:spcAft>
                <a:spcPts val="200"/>
              </a:spcAft>
            </a:pPr>
          </a:p>
          <a:p>
            <a:pPr algn="l">
              <a:spcBef>
                <a:spcPts val="400"/>
              </a:spcBef>
              <a:spcAft>
                <a:spcPts val="200"/>
              </a:spcAft>
            </a:pPr>
            <a:r>
              <a:rPr sz="1400" b="1" i="0">
                <a:solidFill>
                  <a:srgbClr val="C9A227"/>
                </a:solidFill>
                <a:latin typeface="Calibri"/>
              </a:rPr>
              <a:t>validate</a:t>
            </a:r>
          </a:p>
        </p:txBody>
      </p:sp>
      <p:sp>
        <p:nvSpPr>
          <p:cNvPr id="21" name="Rounded Rectangle 20"/>
          <p:cNvSpPr/>
          <p:nvPr/>
        </p:nvSpPr>
        <p:spPr>
          <a:xfrm>
            <a:off x="548640" y="4937760"/>
            <a:ext cx="11064240" cy="1234440"/>
          </a:xfrm>
          <a:prstGeom prst="roundRect">
            <a:avLst/>
          </a:prstGeom>
          <a:solidFill>
            <a:srgbClr val="ECF1EA"/>
          </a:solidFill>
          <a:ln w="19050">
            <a:solidFill>
              <a:srgbClr val="4A6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074920"/>
            <a:ext cx="10332720" cy="1005840"/>
          </a:xfrm>
          <a:prstGeom prst="rect">
            <a:avLst/>
          </a:prstGeom>
          <a:noFill/>
        </p:spPr>
        <p:txBody>
          <a:bodyPr wrap="square">
            <a:spAutoFit/>
          </a:bodyPr>
          <a:lstStyle/>
          <a:p>
            <a:pPr algn="l"/>
            <a:r>
              <a:rPr sz="1200" b="1" i="0">
                <a:solidFill>
                  <a:srgbClr val="4A6741"/>
                </a:solidFill>
                <a:latin typeface="Calibri"/>
              </a:rPr>
              <a:t>OUTCOME</a:t>
            </a:r>
          </a:p>
          <a:p>
            <a:pPr algn="l">
              <a:spcBef>
                <a:spcPts val="400"/>
              </a:spcBef>
              <a:spcAft>
                <a:spcPts val="200"/>
              </a:spcAft>
            </a:pPr>
            <a:r>
              <a:rPr sz="1700" b="1" i="0">
                <a:solidFill>
                  <a:srgbClr val="1A3A5C"/>
                </a:solidFill>
                <a:latin typeface="Calibri"/>
              </a:rPr>
              <a:t>A reusable pipeline: the same approach can guide which compounds to test next in the lab.</a:t>
            </a:r>
          </a:p>
        </p:txBody>
      </p:sp>
      <p:sp>
        <p:nvSpPr>
          <p:cNvPr id="23" name="TextBox 22"/>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lgn="l"/>
            <a:r>
              <a:rPr sz="3200" b="1" i="0">
                <a:solidFill>
                  <a:srgbClr val="1A3A5C"/>
                </a:solidFill>
                <a:latin typeface="Calibri"/>
              </a:rPr>
              <a:t>Machine Learning Insights</a:t>
            </a:r>
          </a:p>
        </p:txBody>
      </p:sp>
      <p:sp>
        <p:nvSpPr>
          <p:cNvPr id="3" name="TextBox 2"/>
          <p:cNvSpPr txBox="1"/>
          <p:nvPr/>
        </p:nvSpPr>
        <p:spPr>
          <a:xfrm>
            <a:off x="548640" y="1051560"/>
            <a:ext cx="3291840" cy="320040"/>
          </a:xfrm>
          <a:prstGeom prst="rect">
            <a:avLst/>
          </a:prstGeom>
          <a:noFill/>
        </p:spPr>
        <p:txBody>
          <a:bodyPr wrap="none">
            <a:spAutoFit/>
          </a:bodyPr>
          <a:lstStyle/>
          <a:p>
            <a:pPr algn="ctr"/>
            <a:r>
              <a:rPr sz="1200" b="1" i="0">
                <a:solidFill>
                  <a:srgbClr val="1A3A5C"/>
                </a:solidFill>
                <a:latin typeface="Calibri"/>
              </a:rPr>
              <a:t>FEATURE SELECTION</a:t>
            </a:r>
          </a:p>
        </p:txBody>
      </p:sp>
      <p:sp>
        <p:nvSpPr>
          <p:cNvPr id="4" name="Rounded Rectangle 3"/>
          <p:cNvSpPr/>
          <p:nvPr/>
        </p:nvSpPr>
        <p:spPr>
          <a:xfrm>
            <a:off x="640080" y="1463040"/>
            <a:ext cx="3108960" cy="457200"/>
          </a:xfrm>
          <a:prstGeom prst="round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2048 Morgan bits</a:t>
            </a:r>
          </a:p>
        </p:txBody>
      </p:sp>
      <p:sp>
        <p:nvSpPr>
          <p:cNvPr id="5" name="Rounded Rectangle 4"/>
          <p:cNvSpPr/>
          <p:nvPr/>
        </p:nvSpPr>
        <p:spPr>
          <a:xfrm>
            <a:off x="937259" y="2011680"/>
            <a:ext cx="2514600" cy="457200"/>
          </a:xfrm>
          <a:prstGeom prst="roundRect">
            <a:avLst/>
          </a:prstGeom>
          <a:solidFill>
            <a:srgbClr val="3D6A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682 present in data</a:t>
            </a:r>
          </a:p>
        </p:txBody>
      </p:sp>
      <p:sp>
        <p:nvSpPr>
          <p:cNvPr id="6" name="Rounded Rectangle 5"/>
          <p:cNvSpPr/>
          <p:nvPr/>
        </p:nvSpPr>
        <p:spPr>
          <a:xfrm>
            <a:off x="1234439" y="2560320"/>
            <a:ext cx="1920240" cy="457200"/>
          </a:xfrm>
          <a:prstGeom prst="roundRect">
            <a:avLst/>
          </a:prstGeom>
          <a:solidFill>
            <a:srgbClr val="4A674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337 uncorrelated</a:t>
            </a:r>
          </a:p>
        </p:txBody>
      </p:sp>
      <p:sp>
        <p:nvSpPr>
          <p:cNvPr id="7" name="Rounded Rectangle 6"/>
          <p:cNvSpPr/>
          <p:nvPr/>
        </p:nvSpPr>
        <p:spPr>
          <a:xfrm>
            <a:off x="1531619" y="3108960"/>
            <a:ext cx="1325880" cy="457200"/>
          </a:xfrm>
          <a:prstGeom prst="round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10 key bits</a:t>
            </a:r>
          </a:p>
        </p:txBody>
      </p:sp>
      <p:sp>
        <p:nvSpPr>
          <p:cNvPr id="8" name="TextBox 7"/>
          <p:cNvSpPr txBox="1"/>
          <p:nvPr/>
        </p:nvSpPr>
        <p:spPr>
          <a:xfrm>
            <a:off x="548640" y="3703320"/>
            <a:ext cx="3291840" cy="365760"/>
          </a:xfrm>
          <a:prstGeom prst="rect">
            <a:avLst/>
          </a:prstGeom>
          <a:noFill/>
        </p:spPr>
        <p:txBody>
          <a:bodyPr wrap="none">
            <a:spAutoFit/>
          </a:bodyPr>
          <a:lstStyle/>
          <a:p>
            <a:pPr algn="ctr"/>
            <a:r>
              <a:rPr sz="1100" b="0" i="0">
                <a:solidFill>
                  <a:srgbClr val="888888"/>
                </a:solidFill>
                <a:latin typeface="Calibri"/>
              </a:rPr>
              <a:t>PFI threshold: ROC AUC drop of at least 0.01</a:t>
            </a:r>
          </a:p>
        </p:txBody>
      </p:sp>
      <p:graphicFrame>
        <p:nvGraphicFramePr>
          <p:cNvPr id="9" name="Table 8"/>
          <p:cNvGraphicFramePr>
            <a:graphicFrameLocks noGrp="1"/>
          </p:cNvGraphicFramePr>
          <p:nvPr/>
        </p:nvGraphicFramePr>
        <p:xfrm>
          <a:off x="4114800" y="1143000"/>
          <a:ext cx="3291840" cy="2286000"/>
        </p:xfrm>
        <a:graphic>
          <a:graphicData uri="http://schemas.openxmlformats.org/drawingml/2006/table">
            <a:tbl>
              <a:tblPr>
                <a:tableStyleId>{5C22544A-7EE6-4342-B048-85BDC9FD1C3A}</a:tableStyleId>
              </a:tblPr>
              <a:tblGrid>
                <a:gridCol w="1097280"/>
                <a:gridCol w="1097280"/>
                <a:gridCol w="1097280"/>
              </a:tblGrid>
              <a:tr h="381000">
                <a:tc>
                  <a:txBody>
                    <a:bodyPr/>
                    <a:lstStyle/>
                    <a:p>
                      <a:pPr algn="l"/>
                      <a:r>
                        <a:rPr sz="1200" b="1">
                          <a:solidFill>
                            <a:srgbClr val="FFFFFF"/>
                          </a:solidFill>
                          <a:latin typeface="Calibri"/>
                        </a:rPr>
                        <a:t>Metric</a:t>
                      </a:r>
                    </a:p>
                  </a:txBody>
                  <a:tcPr anchor="ctr" marT="25400" marB="25400">
                    <a:solidFill>
                      <a:srgbClr val="1A3A5C"/>
                    </a:solidFill>
                  </a:tcPr>
                </a:tc>
                <a:tc>
                  <a:txBody>
                    <a:bodyPr/>
                    <a:lstStyle/>
                    <a:p>
                      <a:pPr algn="ctr"/>
                      <a:r>
                        <a:rPr sz="1200" b="1">
                          <a:solidFill>
                            <a:srgbClr val="FFFFFF"/>
                          </a:solidFill>
                          <a:latin typeface="Calibri"/>
                        </a:rPr>
                        <a:t>Train</a:t>
                      </a:r>
                    </a:p>
                  </a:txBody>
                  <a:tcPr anchor="ctr" marT="25400" marB="25400">
                    <a:solidFill>
                      <a:srgbClr val="1A3A5C"/>
                    </a:solidFill>
                  </a:tcPr>
                </a:tc>
                <a:tc>
                  <a:txBody>
                    <a:bodyPr/>
                    <a:lstStyle/>
                    <a:p>
                      <a:pPr algn="ctr"/>
                      <a:r>
                        <a:rPr sz="1200" b="1">
                          <a:solidFill>
                            <a:srgbClr val="FFFFFF"/>
                          </a:solidFill>
                          <a:latin typeface="Calibri"/>
                        </a:rPr>
                        <a:t>Test</a:t>
                      </a:r>
                    </a:p>
                  </a:txBody>
                  <a:tcPr anchor="ctr" marT="25400" marB="25400">
                    <a:solidFill>
                      <a:srgbClr val="1A3A5C"/>
                    </a:solidFill>
                  </a:tcPr>
                </a:tc>
              </a:tr>
              <a:tr h="381000">
                <a:tc>
                  <a:txBody>
                    <a:bodyPr/>
                    <a:lstStyle/>
                    <a:p>
                      <a:pPr algn="l"/>
                      <a:r>
                        <a:rPr sz="1200">
                          <a:solidFill>
                            <a:srgbClr val="555555"/>
                          </a:solidFill>
                          <a:latin typeface="Calibri"/>
                        </a:rPr>
                        <a:t>Accuracy</a:t>
                      </a:r>
                    </a:p>
                  </a:txBody>
                  <a:tcPr anchor="ctr" marT="25400" marB="25400">
                    <a:solidFill>
                      <a:srgbClr val="FFFFFF"/>
                    </a:solidFill>
                  </a:tcPr>
                </a:tc>
                <a:tc>
                  <a:txBody>
                    <a:bodyPr/>
                    <a:lstStyle/>
                    <a:p>
                      <a:pPr algn="ctr"/>
                      <a:r>
                        <a:rPr sz="1200">
                          <a:solidFill>
                            <a:srgbClr val="555555"/>
                          </a:solidFill>
                          <a:latin typeface="Calibri"/>
                        </a:rPr>
                        <a:t>0.84</a:t>
                      </a:r>
                    </a:p>
                  </a:txBody>
                  <a:tcPr anchor="ctr" marT="25400" marB="25400">
                    <a:solidFill>
                      <a:srgbClr val="FFFFFF"/>
                    </a:solidFill>
                  </a:tcPr>
                </a:tc>
                <a:tc>
                  <a:txBody>
                    <a:bodyPr/>
                    <a:lstStyle/>
                    <a:p>
                      <a:pPr algn="ctr"/>
                      <a:r>
                        <a:rPr sz="1200">
                          <a:solidFill>
                            <a:srgbClr val="555555"/>
                          </a:solidFill>
                          <a:latin typeface="Calibri"/>
                        </a:rPr>
                        <a:t>0.81</a:t>
                      </a:r>
                    </a:p>
                  </a:txBody>
                  <a:tcPr anchor="ctr" marT="25400" marB="25400">
                    <a:solidFill>
                      <a:srgbClr val="FFFFFF"/>
                    </a:solidFill>
                  </a:tcPr>
                </a:tc>
              </a:tr>
              <a:tr h="381000">
                <a:tc>
                  <a:txBody>
                    <a:bodyPr/>
                    <a:lstStyle/>
                    <a:p>
                      <a:pPr algn="l"/>
                      <a:r>
                        <a:rPr sz="1200">
                          <a:solidFill>
                            <a:srgbClr val="555555"/>
                          </a:solidFill>
                          <a:latin typeface="Calibri"/>
                        </a:rPr>
                        <a:t>ROC AUC</a:t>
                      </a:r>
                    </a:p>
                  </a:txBody>
                  <a:tcPr anchor="ctr" marT="25400" marB="25400">
                    <a:solidFill>
                      <a:srgbClr val="FFFFFF"/>
                    </a:solidFill>
                  </a:tcPr>
                </a:tc>
                <a:tc>
                  <a:txBody>
                    <a:bodyPr/>
                    <a:lstStyle/>
                    <a:p>
                      <a:pPr algn="ctr"/>
                      <a:r>
                        <a:rPr sz="1200">
                          <a:solidFill>
                            <a:srgbClr val="555555"/>
                          </a:solidFill>
                          <a:latin typeface="Calibri"/>
                        </a:rPr>
                        <a:t>0.91</a:t>
                      </a:r>
                    </a:p>
                  </a:txBody>
                  <a:tcPr anchor="ctr" marT="25400" marB="25400">
                    <a:solidFill>
                      <a:srgbClr val="FFFFFF"/>
                    </a:solidFill>
                  </a:tcPr>
                </a:tc>
                <a:tc>
                  <a:txBody>
                    <a:bodyPr/>
                    <a:lstStyle/>
                    <a:p>
                      <a:pPr algn="ctr"/>
                      <a:r>
                        <a:rPr sz="1200">
                          <a:solidFill>
                            <a:srgbClr val="555555"/>
                          </a:solidFill>
                          <a:latin typeface="Calibri"/>
                        </a:rPr>
                        <a:t>0.88</a:t>
                      </a:r>
                    </a:p>
                  </a:txBody>
                  <a:tcPr anchor="ctr" marT="25400" marB="25400">
                    <a:solidFill>
                      <a:srgbClr val="FFFFFF"/>
                    </a:solidFill>
                  </a:tcPr>
                </a:tc>
              </a:tr>
              <a:tr h="381000">
                <a:tc>
                  <a:txBody>
                    <a:bodyPr/>
                    <a:lstStyle/>
                    <a:p>
                      <a:pPr algn="l"/>
                      <a:r>
                        <a:rPr sz="1200">
                          <a:solidFill>
                            <a:srgbClr val="555555"/>
                          </a:solidFill>
                          <a:latin typeface="Calibri"/>
                        </a:rPr>
                        <a:t>Sensitivity</a:t>
                      </a:r>
                    </a:p>
                  </a:txBody>
                  <a:tcPr anchor="ctr" marT="25400" marB="25400">
                    <a:solidFill>
                      <a:srgbClr val="FFFFFF"/>
                    </a:solidFill>
                  </a:tcPr>
                </a:tc>
                <a:tc>
                  <a:txBody>
                    <a:bodyPr/>
                    <a:lstStyle/>
                    <a:p>
                      <a:pPr algn="ctr"/>
                      <a:r>
                        <a:rPr sz="1200">
                          <a:solidFill>
                            <a:srgbClr val="555555"/>
                          </a:solidFill>
                          <a:latin typeface="Calibri"/>
                        </a:rPr>
                        <a:t>0.87</a:t>
                      </a:r>
                    </a:p>
                  </a:txBody>
                  <a:tcPr anchor="ctr" marT="25400" marB="25400">
                    <a:solidFill>
                      <a:srgbClr val="FFFFFF"/>
                    </a:solidFill>
                  </a:tcPr>
                </a:tc>
                <a:tc>
                  <a:txBody>
                    <a:bodyPr/>
                    <a:lstStyle/>
                    <a:p>
                      <a:pPr algn="ctr"/>
                      <a:r>
                        <a:rPr sz="1200">
                          <a:solidFill>
                            <a:srgbClr val="555555"/>
                          </a:solidFill>
                          <a:latin typeface="Calibri"/>
                        </a:rPr>
                        <a:t>0.83</a:t>
                      </a:r>
                    </a:p>
                  </a:txBody>
                  <a:tcPr anchor="ctr" marT="25400" marB="25400">
                    <a:solidFill>
                      <a:srgbClr val="FFFFFF"/>
                    </a:solidFill>
                  </a:tcPr>
                </a:tc>
              </a:tr>
              <a:tr h="381000">
                <a:tc>
                  <a:txBody>
                    <a:bodyPr/>
                    <a:lstStyle/>
                    <a:p>
                      <a:pPr algn="l"/>
                      <a:r>
                        <a:rPr sz="1200">
                          <a:solidFill>
                            <a:srgbClr val="555555"/>
                          </a:solidFill>
                          <a:latin typeface="Calibri"/>
                        </a:rPr>
                        <a:t>Specificity</a:t>
                      </a:r>
                    </a:p>
                  </a:txBody>
                  <a:tcPr anchor="ctr" marT="25400" marB="25400">
                    <a:solidFill>
                      <a:srgbClr val="FFFFFF"/>
                    </a:solidFill>
                  </a:tcPr>
                </a:tc>
                <a:tc>
                  <a:txBody>
                    <a:bodyPr/>
                    <a:lstStyle/>
                    <a:p>
                      <a:pPr algn="ctr"/>
                      <a:r>
                        <a:rPr sz="1200">
                          <a:solidFill>
                            <a:srgbClr val="555555"/>
                          </a:solidFill>
                          <a:latin typeface="Calibri"/>
                        </a:rPr>
                        <a:t>0.82</a:t>
                      </a:r>
                    </a:p>
                  </a:txBody>
                  <a:tcPr anchor="ctr" marT="25400" marB="25400">
                    <a:solidFill>
                      <a:srgbClr val="FFFFFF"/>
                    </a:solidFill>
                  </a:tcPr>
                </a:tc>
                <a:tc>
                  <a:txBody>
                    <a:bodyPr/>
                    <a:lstStyle/>
                    <a:p>
                      <a:pPr algn="ctr"/>
                      <a:r>
                        <a:rPr sz="1200">
                          <a:solidFill>
                            <a:srgbClr val="555555"/>
                          </a:solidFill>
                          <a:latin typeface="Calibri"/>
                        </a:rPr>
                        <a:t>0.80</a:t>
                      </a:r>
                    </a:p>
                  </a:txBody>
                  <a:tcPr anchor="ctr" marT="25400" marB="25400">
                    <a:solidFill>
                      <a:srgbClr val="FFFFFF"/>
                    </a:solidFill>
                  </a:tcPr>
                </a:tc>
              </a:tr>
              <a:tr h="381000">
                <a:tc>
                  <a:txBody>
                    <a:bodyPr/>
                    <a:lstStyle/>
                    <a:p>
                      <a:pPr algn="l"/>
                      <a:r>
                        <a:rPr sz="1200">
                          <a:solidFill>
                            <a:srgbClr val="555555"/>
                          </a:solidFill>
                          <a:latin typeface="Calibri"/>
                        </a:rPr>
                        <a:t>F1 score</a:t>
                      </a:r>
                    </a:p>
                  </a:txBody>
                  <a:tcPr anchor="ctr" marT="25400" marB="25400">
                    <a:solidFill>
                      <a:srgbClr val="FFFFFF"/>
                    </a:solidFill>
                  </a:tcPr>
                </a:tc>
                <a:tc>
                  <a:txBody>
                    <a:bodyPr/>
                    <a:lstStyle/>
                    <a:p>
                      <a:pPr algn="ctr"/>
                      <a:r>
                        <a:rPr sz="1200">
                          <a:solidFill>
                            <a:srgbClr val="555555"/>
                          </a:solidFill>
                          <a:latin typeface="Calibri"/>
                        </a:rPr>
                        <a:t>0.85</a:t>
                      </a:r>
                    </a:p>
                  </a:txBody>
                  <a:tcPr anchor="ctr" marT="25400" marB="25400">
                    <a:solidFill>
                      <a:srgbClr val="FFFFFF"/>
                    </a:solidFill>
                  </a:tcPr>
                </a:tc>
                <a:tc>
                  <a:txBody>
                    <a:bodyPr/>
                    <a:lstStyle/>
                    <a:p>
                      <a:pPr algn="ctr"/>
                      <a:r>
                        <a:rPr sz="1200">
                          <a:solidFill>
                            <a:srgbClr val="555555"/>
                          </a:solidFill>
                          <a:latin typeface="Calibri"/>
                        </a:rPr>
                        <a:t>0.82</a:t>
                      </a:r>
                    </a:p>
                  </a:txBody>
                  <a:tcPr anchor="ctr" marT="25400" marB="25400">
                    <a:solidFill>
                      <a:srgbClr val="FFFFFF"/>
                    </a:solidFill>
                  </a:tcPr>
                </a:tc>
              </a:tr>
            </a:tbl>
          </a:graphicData>
        </a:graphic>
      </p:graphicFrame>
      <p:sp>
        <p:nvSpPr>
          <p:cNvPr id="10" name="Rounded Rectangle 9"/>
          <p:cNvSpPr/>
          <p:nvPr/>
        </p:nvSpPr>
        <p:spPr>
          <a:xfrm>
            <a:off x="7772400" y="1143000"/>
            <a:ext cx="3840480" cy="2286000"/>
          </a:xfrm>
          <a:prstGeom prst="roundRect">
            <a:avLst/>
          </a:prstGeom>
          <a:solidFill>
            <a:srgbClr val="FBF4DF"/>
          </a:solidFill>
          <a:ln w="19050">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1325880"/>
            <a:ext cx="3429000" cy="1920240"/>
          </a:xfrm>
          <a:prstGeom prst="rect">
            <a:avLst/>
          </a:prstGeom>
          <a:noFill/>
        </p:spPr>
        <p:txBody>
          <a:bodyPr wrap="square">
            <a:spAutoFit/>
          </a:bodyPr>
          <a:lstStyle/>
          <a:p>
            <a:pPr algn="l"/>
            <a:r>
              <a:rPr sz="1200" b="1" i="0">
                <a:solidFill>
                  <a:srgbClr val="C9A227"/>
                </a:solidFill>
                <a:latin typeface="Calibri"/>
              </a:rPr>
              <a:t>KEY FEATURE CONFIRMED</a:t>
            </a:r>
          </a:p>
          <a:p>
            <a:pPr algn="l">
              <a:spcBef>
                <a:spcPts val="400"/>
              </a:spcBef>
              <a:spcAft>
                <a:spcPts val="200"/>
              </a:spcAft>
            </a:pPr>
            <a:r>
              <a:rPr sz="1500" b="1" i="0">
                <a:solidFill>
                  <a:srgbClr val="1A3A5C"/>
                </a:solidFill>
                <a:latin typeface="Calibri"/>
              </a:rPr>
              <a:t>Phenolic OH on an aromatic ring is strongly associated with anti </a:t>
            </a:r>
            <a:r>
              <a:rPr sz="1500" b="1" i="1">
                <a:solidFill>
                  <a:srgbClr val="1A3A5C"/>
                </a:solidFill>
                <a:latin typeface="Calibri"/>
              </a:rPr>
              <a:t>Salmonella</a:t>
            </a:r>
            <a:r>
              <a:rPr sz="1500" b="1" i="0">
                <a:solidFill>
                  <a:srgbClr val="1A3A5C"/>
                </a:solidFill>
                <a:latin typeface="Calibri"/>
              </a:rPr>
              <a:t> activity.</a:t>
            </a:r>
          </a:p>
          <a:p>
            <a:pPr algn="l">
              <a:spcBef>
                <a:spcPts val="400"/>
              </a:spcBef>
              <a:spcAft>
                <a:spcPts val="200"/>
              </a:spcAft>
            </a:pPr>
            <a:r>
              <a:rPr sz="1100" b="0" i="0">
                <a:solidFill>
                  <a:srgbClr val="888888"/>
                </a:solidFill>
                <a:latin typeface="Calibri"/>
              </a:rPr>
              <a:t>The model reproduces this well known essential oil chemistry, confirming it predicts correctly.</a:t>
            </a:r>
          </a:p>
        </p:txBody>
      </p:sp>
      <p:pic>
        <p:nvPicPr>
          <p:cNvPr id="12" name="Picture 11" descr="botanical-oregano-cut.png"/>
          <p:cNvPicPr>
            <a:picLocks noChangeAspect="1"/>
          </p:cNvPicPr>
          <p:nvPr/>
        </p:nvPicPr>
        <p:blipFill>
          <a:blip r:embed="rId2"/>
          <a:stretch>
            <a:fillRect/>
          </a:stretch>
        </p:blipFill>
        <p:spPr>
          <a:xfrm>
            <a:off x="1051560" y="4160520"/>
            <a:ext cx="740410" cy="1143000"/>
          </a:xfrm>
          <a:prstGeom prst="rect">
            <a:avLst/>
          </a:prstGeom>
        </p:spPr>
      </p:pic>
      <p:pic>
        <p:nvPicPr>
          <p:cNvPr id="13" name="Picture 12" descr="bit_1607.png"/>
          <p:cNvPicPr>
            <a:picLocks noChangeAspect="1"/>
          </p:cNvPicPr>
          <p:nvPr/>
        </p:nvPicPr>
        <p:blipFill>
          <a:blip r:embed="rId3"/>
          <a:stretch>
            <a:fillRect/>
          </a:stretch>
        </p:blipFill>
        <p:spPr>
          <a:xfrm>
            <a:off x="1280160" y="5321808"/>
            <a:ext cx="566928" cy="566928"/>
          </a:xfrm>
          <a:prstGeom prst="rect">
            <a:avLst/>
          </a:prstGeom>
        </p:spPr>
      </p:pic>
      <p:sp>
        <p:nvSpPr>
          <p:cNvPr id="14" name="TextBox 13"/>
          <p:cNvSpPr txBox="1"/>
          <p:nvPr/>
        </p:nvSpPr>
        <p:spPr>
          <a:xfrm>
            <a:off x="640080" y="5925312"/>
            <a:ext cx="2743200" cy="457200"/>
          </a:xfrm>
          <a:prstGeom prst="rect">
            <a:avLst/>
          </a:prstGeom>
          <a:noFill/>
        </p:spPr>
        <p:txBody>
          <a:bodyPr wrap="square">
            <a:spAutoFit/>
          </a:bodyPr>
          <a:lstStyle/>
          <a:p>
            <a:pPr algn="ctr"/>
            <a:r>
              <a:rPr sz="1300" b="1" i="0">
                <a:solidFill>
                  <a:srgbClr val="1A3A5C"/>
                </a:solidFill>
                <a:latin typeface="Calibri"/>
              </a:rPr>
              <a:t>Oregano</a:t>
            </a:r>
          </a:p>
          <a:p>
            <a:pPr algn="ctr">
              <a:spcBef>
                <a:spcPts val="400"/>
              </a:spcBef>
              <a:spcAft>
                <a:spcPts val="200"/>
              </a:spcAft>
            </a:pPr>
            <a:r>
              <a:rPr sz="1100" b="0" i="0">
                <a:solidFill>
                  <a:srgbClr val="4A6741"/>
                </a:solidFill>
                <a:latin typeface="Calibri"/>
              </a:rPr>
              <a:t>carvacrol · Bit 1607 positive</a:t>
            </a:r>
          </a:p>
        </p:txBody>
      </p:sp>
      <p:pic>
        <p:nvPicPr>
          <p:cNvPr id="15" name="Picture 14" descr="botanical-thyme-cut.png"/>
          <p:cNvPicPr>
            <a:picLocks noChangeAspect="1"/>
          </p:cNvPicPr>
          <p:nvPr/>
        </p:nvPicPr>
        <p:blipFill>
          <a:blip r:embed="rId4"/>
          <a:stretch>
            <a:fillRect/>
          </a:stretch>
        </p:blipFill>
        <p:spPr>
          <a:xfrm>
            <a:off x="3931920" y="4160520"/>
            <a:ext cx="769620" cy="1143000"/>
          </a:xfrm>
          <a:prstGeom prst="rect">
            <a:avLst/>
          </a:prstGeom>
        </p:spPr>
      </p:pic>
      <p:pic>
        <p:nvPicPr>
          <p:cNvPr id="16" name="Picture 15" descr="bit_1607.png"/>
          <p:cNvPicPr>
            <a:picLocks noChangeAspect="1"/>
          </p:cNvPicPr>
          <p:nvPr/>
        </p:nvPicPr>
        <p:blipFill>
          <a:blip r:embed="rId3"/>
          <a:stretch>
            <a:fillRect/>
          </a:stretch>
        </p:blipFill>
        <p:spPr>
          <a:xfrm>
            <a:off x="4160520" y="5321808"/>
            <a:ext cx="566928" cy="566928"/>
          </a:xfrm>
          <a:prstGeom prst="rect">
            <a:avLst/>
          </a:prstGeom>
        </p:spPr>
      </p:pic>
      <p:sp>
        <p:nvSpPr>
          <p:cNvPr id="17" name="TextBox 16"/>
          <p:cNvSpPr txBox="1"/>
          <p:nvPr/>
        </p:nvSpPr>
        <p:spPr>
          <a:xfrm>
            <a:off x="3520439" y="5925312"/>
            <a:ext cx="2743200" cy="457200"/>
          </a:xfrm>
          <a:prstGeom prst="rect">
            <a:avLst/>
          </a:prstGeom>
          <a:noFill/>
        </p:spPr>
        <p:txBody>
          <a:bodyPr wrap="square">
            <a:spAutoFit/>
          </a:bodyPr>
          <a:lstStyle/>
          <a:p>
            <a:pPr algn="ctr"/>
            <a:r>
              <a:rPr sz="1300" b="1" i="0">
                <a:solidFill>
                  <a:srgbClr val="1A3A5C"/>
                </a:solidFill>
                <a:latin typeface="Calibri"/>
              </a:rPr>
              <a:t>Wild thyme</a:t>
            </a:r>
          </a:p>
          <a:p>
            <a:pPr algn="ctr">
              <a:spcBef>
                <a:spcPts val="400"/>
              </a:spcBef>
              <a:spcAft>
                <a:spcPts val="200"/>
              </a:spcAft>
            </a:pPr>
            <a:r>
              <a:rPr sz="1100" b="0" i="0">
                <a:solidFill>
                  <a:srgbClr val="4A6741"/>
                </a:solidFill>
                <a:latin typeface="Calibri"/>
              </a:rPr>
              <a:t>thymol · Bit 1607 positive</a:t>
            </a:r>
          </a:p>
        </p:txBody>
      </p:sp>
      <p:pic>
        <p:nvPicPr>
          <p:cNvPr id="18" name="Picture 17" descr="botanical-clove-cut.png"/>
          <p:cNvPicPr>
            <a:picLocks noChangeAspect="1"/>
          </p:cNvPicPr>
          <p:nvPr/>
        </p:nvPicPr>
        <p:blipFill>
          <a:blip r:embed="rId5"/>
          <a:stretch>
            <a:fillRect/>
          </a:stretch>
        </p:blipFill>
        <p:spPr>
          <a:xfrm>
            <a:off x="6812280" y="4160520"/>
            <a:ext cx="838200" cy="1143000"/>
          </a:xfrm>
          <a:prstGeom prst="rect">
            <a:avLst/>
          </a:prstGeom>
        </p:spPr>
      </p:pic>
      <p:pic>
        <p:nvPicPr>
          <p:cNvPr id="19" name="Picture 18" descr="bit_1607.png"/>
          <p:cNvPicPr>
            <a:picLocks noChangeAspect="1"/>
          </p:cNvPicPr>
          <p:nvPr/>
        </p:nvPicPr>
        <p:blipFill>
          <a:blip r:embed="rId3"/>
          <a:stretch>
            <a:fillRect/>
          </a:stretch>
        </p:blipFill>
        <p:spPr>
          <a:xfrm>
            <a:off x="7040880" y="5321808"/>
            <a:ext cx="566928" cy="566928"/>
          </a:xfrm>
          <a:prstGeom prst="rect">
            <a:avLst/>
          </a:prstGeom>
        </p:spPr>
      </p:pic>
      <p:sp>
        <p:nvSpPr>
          <p:cNvPr id="20" name="TextBox 19"/>
          <p:cNvSpPr txBox="1"/>
          <p:nvPr/>
        </p:nvSpPr>
        <p:spPr>
          <a:xfrm>
            <a:off x="6400800" y="5925312"/>
            <a:ext cx="2743200" cy="457200"/>
          </a:xfrm>
          <a:prstGeom prst="rect">
            <a:avLst/>
          </a:prstGeom>
          <a:noFill/>
        </p:spPr>
        <p:txBody>
          <a:bodyPr wrap="square">
            <a:spAutoFit/>
          </a:bodyPr>
          <a:lstStyle/>
          <a:p>
            <a:pPr algn="ctr"/>
            <a:r>
              <a:rPr sz="1300" b="1" i="0">
                <a:solidFill>
                  <a:srgbClr val="1A3A5C"/>
                </a:solidFill>
                <a:latin typeface="Calibri"/>
              </a:rPr>
              <a:t>Clove</a:t>
            </a:r>
          </a:p>
          <a:p>
            <a:pPr algn="ctr">
              <a:spcBef>
                <a:spcPts val="400"/>
              </a:spcBef>
              <a:spcAft>
                <a:spcPts val="200"/>
              </a:spcAft>
            </a:pPr>
            <a:r>
              <a:rPr sz="1100" b="0" i="0">
                <a:solidFill>
                  <a:srgbClr val="4A6741"/>
                </a:solidFill>
                <a:latin typeface="Calibri"/>
              </a:rPr>
              <a:t>eugenol · Bit 1607 positive</a:t>
            </a:r>
          </a:p>
        </p:txBody>
      </p:sp>
      <p:pic>
        <p:nvPicPr>
          <p:cNvPr id="21" name="Picture 20" descr="botanical-blackpepper-cut.png"/>
          <p:cNvPicPr>
            <a:picLocks noChangeAspect="1"/>
          </p:cNvPicPr>
          <p:nvPr/>
        </p:nvPicPr>
        <p:blipFill>
          <a:blip r:embed="rId6"/>
          <a:stretch>
            <a:fillRect/>
          </a:stretch>
        </p:blipFill>
        <p:spPr>
          <a:xfrm>
            <a:off x="9692639" y="4160520"/>
            <a:ext cx="462099" cy="1143000"/>
          </a:xfrm>
          <a:prstGeom prst="rect">
            <a:avLst/>
          </a:prstGeom>
        </p:spPr>
      </p:pic>
      <p:pic>
        <p:nvPicPr>
          <p:cNvPr id="22" name="Picture 21" descr="bit_549.png"/>
          <p:cNvPicPr>
            <a:picLocks noChangeAspect="1"/>
          </p:cNvPicPr>
          <p:nvPr/>
        </p:nvPicPr>
        <p:blipFill>
          <a:blip r:embed="rId7"/>
          <a:stretch>
            <a:fillRect/>
          </a:stretch>
        </p:blipFill>
        <p:spPr>
          <a:xfrm>
            <a:off x="9921239" y="5321808"/>
            <a:ext cx="566928" cy="566928"/>
          </a:xfrm>
          <a:prstGeom prst="rect">
            <a:avLst/>
          </a:prstGeom>
        </p:spPr>
      </p:pic>
      <p:sp>
        <p:nvSpPr>
          <p:cNvPr id="23" name="TextBox 22"/>
          <p:cNvSpPr txBox="1"/>
          <p:nvPr/>
        </p:nvSpPr>
        <p:spPr>
          <a:xfrm>
            <a:off x="9281159" y="5925312"/>
            <a:ext cx="2743200" cy="457200"/>
          </a:xfrm>
          <a:prstGeom prst="rect">
            <a:avLst/>
          </a:prstGeom>
          <a:noFill/>
        </p:spPr>
        <p:txBody>
          <a:bodyPr wrap="square">
            <a:spAutoFit/>
          </a:bodyPr>
          <a:lstStyle/>
          <a:p>
            <a:pPr algn="ctr"/>
            <a:r>
              <a:rPr sz="1300" b="1" i="0">
                <a:solidFill>
                  <a:srgbClr val="1A3A5C"/>
                </a:solidFill>
                <a:latin typeface="Calibri"/>
              </a:rPr>
              <a:t>Black pepper</a:t>
            </a:r>
          </a:p>
          <a:p>
            <a:pPr algn="ctr">
              <a:spcBef>
                <a:spcPts val="400"/>
              </a:spcBef>
              <a:spcAft>
                <a:spcPts val="200"/>
              </a:spcAft>
            </a:pPr>
            <a:r>
              <a:rPr sz="1100" b="0" i="0">
                <a:solidFill>
                  <a:srgbClr val="B13507"/>
                </a:solidFill>
                <a:latin typeface="Calibri"/>
              </a:rPr>
              <a:t>β-pinene · Bit 549 negative</a:t>
            </a:r>
          </a:p>
        </p:txBody>
      </p:sp>
      <p:sp>
        <p:nvSpPr>
          <p:cNvPr id="24" name="TextBox 23"/>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lgn="l"/>
            <a:r>
              <a:rPr sz="3200" b="1" i="0">
                <a:solidFill>
                  <a:srgbClr val="1A3A5C"/>
                </a:solidFill>
                <a:latin typeface="Calibri"/>
              </a:rPr>
              <a:t>Limitations</a:t>
            </a:r>
          </a:p>
        </p:txBody>
      </p:sp>
      <p:sp>
        <p:nvSpPr>
          <p:cNvPr id="3" name="TextBox 2"/>
          <p:cNvSpPr txBox="1"/>
          <p:nvPr/>
        </p:nvSpPr>
        <p:spPr>
          <a:xfrm>
            <a:off x="640080" y="1371600"/>
            <a:ext cx="5212080" cy="4572000"/>
          </a:xfrm>
          <a:prstGeom prst="rect">
            <a:avLst/>
          </a:prstGeom>
          <a:noFill/>
        </p:spPr>
        <p:txBody>
          <a:bodyPr wrap="square">
            <a:spAutoFit/>
          </a:bodyPr>
          <a:lstStyle/>
          <a:p>
            <a:pPr algn="l"/>
            <a:r>
              <a:rPr sz="2000" b="1" i="0">
                <a:solidFill>
                  <a:srgbClr val="B13507"/>
                </a:solidFill>
                <a:latin typeface="Calibri"/>
              </a:rPr>
              <a:t>Experimental</a:t>
            </a:r>
          </a:p>
          <a:p>
            <a:pPr algn="l">
              <a:spcBef>
                <a:spcPts val="400"/>
              </a:spcBef>
              <a:spcAft>
                <a:spcPts val="200"/>
              </a:spcAft>
            </a:pPr>
            <a:r>
              <a:rPr sz="1500" b="1" i="0">
                <a:solidFill>
                  <a:srgbClr val="1A3A5C"/>
                </a:solidFill>
                <a:latin typeface="Calibri"/>
              </a:rPr>
              <a:t>1. Only four commercial oils</a:t>
            </a:r>
          </a:p>
          <a:p>
            <a:pPr algn="l">
              <a:spcBef>
                <a:spcPts val="400"/>
              </a:spcBef>
              <a:spcAft>
                <a:spcPts val="200"/>
              </a:spcAft>
            </a:pPr>
            <a:r>
              <a:rPr sz="1300" b="0" i="0">
                <a:solidFill>
                  <a:srgbClr val="555555"/>
                </a:solidFill>
                <a:latin typeface="Calibri"/>
              </a:rPr>
              <a:t>Limited chemotypic coverage; one production batch each.</a:t>
            </a:r>
          </a:p>
          <a:p>
            <a:pPr algn="l">
              <a:spcBef>
                <a:spcPts val="400"/>
              </a:spcBef>
              <a:spcAft>
                <a:spcPts val="200"/>
              </a:spcAft>
            </a:pPr>
            <a:r>
              <a:rPr sz="1500" b="1" i="0">
                <a:solidFill>
                  <a:srgbClr val="1A3A5C"/>
                </a:solidFill>
                <a:latin typeface="Calibri"/>
              </a:rPr>
              <a:t>2. Encapsulation was morphological</a:t>
            </a:r>
          </a:p>
          <a:p>
            <a:pPr algn="l">
              <a:spcBef>
                <a:spcPts val="400"/>
              </a:spcBef>
              <a:spcAft>
                <a:spcPts val="200"/>
              </a:spcAft>
            </a:pPr>
            <a:r>
              <a:rPr sz="1300" b="0" i="0">
                <a:solidFill>
                  <a:srgbClr val="555555"/>
                </a:solidFill>
                <a:latin typeface="Calibri"/>
              </a:rPr>
              <a:t>No release kinetics, retained bioactivity, or food matrix tests.</a:t>
            </a:r>
          </a:p>
          <a:p>
            <a:pPr algn="l">
              <a:spcBef>
                <a:spcPts val="400"/>
              </a:spcBef>
              <a:spcAft>
                <a:spcPts val="200"/>
              </a:spcAft>
            </a:pPr>
            <a:r>
              <a:rPr sz="1500" b="1" i="0">
                <a:solidFill>
                  <a:srgbClr val="1A3A5C"/>
                </a:solidFill>
                <a:latin typeface="Calibri"/>
              </a:rPr>
              <a:t>3. Single pathogen strain</a:t>
            </a:r>
          </a:p>
          <a:p>
            <a:pPr algn="l">
              <a:spcBef>
                <a:spcPts val="400"/>
              </a:spcBef>
              <a:spcAft>
                <a:spcPts val="200"/>
              </a:spcAft>
            </a:pPr>
            <a:r>
              <a:rPr sz="1300" b="0" i="0">
                <a:solidFill>
                  <a:srgbClr val="555555"/>
                </a:solidFill>
                <a:latin typeface="Calibri"/>
              </a:rPr>
              <a:t>Only </a:t>
            </a:r>
            <a:r>
              <a:rPr sz="1300" b="0" i="1">
                <a:solidFill>
                  <a:srgbClr val="555555"/>
                </a:solidFill>
                <a:latin typeface="Calibri"/>
              </a:rPr>
              <a:t>S.</a:t>
            </a:r>
            <a:r>
              <a:rPr sz="1300" b="0" i="0">
                <a:solidFill>
                  <a:srgbClr val="555555"/>
                </a:solidFill>
                <a:latin typeface="Calibri"/>
              </a:rPr>
              <a:t> Typhimurium ATCC 14028; no clinical isolates or biofilms.</a:t>
            </a:r>
          </a:p>
        </p:txBody>
      </p:sp>
      <p:sp>
        <p:nvSpPr>
          <p:cNvPr id="4" name="TextBox 3"/>
          <p:cNvSpPr txBox="1"/>
          <p:nvPr/>
        </p:nvSpPr>
        <p:spPr>
          <a:xfrm>
            <a:off x="6309360" y="1371600"/>
            <a:ext cx="5212080" cy="4572000"/>
          </a:xfrm>
          <a:prstGeom prst="rect">
            <a:avLst/>
          </a:prstGeom>
          <a:noFill/>
        </p:spPr>
        <p:txBody>
          <a:bodyPr wrap="square">
            <a:spAutoFit/>
          </a:bodyPr>
          <a:lstStyle/>
          <a:p>
            <a:pPr algn="l"/>
            <a:r>
              <a:rPr sz="2000" b="1" i="0">
                <a:solidFill>
                  <a:srgbClr val="1A3A5C"/>
                </a:solidFill>
                <a:latin typeface="Calibri"/>
              </a:rPr>
              <a:t>Computational</a:t>
            </a:r>
          </a:p>
          <a:p>
            <a:pPr algn="l">
              <a:spcBef>
                <a:spcPts val="400"/>
              </a:spcBef>
              <a:spcAft>
                <a:spcPts val="200"/>
              </a:spcAft>
            </a:pPr>
            <a:r>
              <a:rPr sz="1500" b="1" i="0">
                <a:solidFill>
                  <a:srgbClr val="1A3A5C"/>
                </a:solidFill>
                <a:latin typeface="Calibri"/>
              </a:rPr>
              <a:t>1. Heterogeneous literature data</a:t>
            </a:r>
          </a:p>
          <a:p>
            <a:pPr algn="l">
              <a:spcBef>
                <a:spcPts val="400"/>
              </a:spcBef>
              <a:spcAft>
                <a:spcPts val="200"/>
              </a:spcAft>
            </a:pPr>
            <a:r>
              <a:rPr sz="1300" b="0" i="0">
                <a:solidFill>
                  <a:srgbClr val="555555"/>
                </a:solidFill>
                <a:latin typeface="Calibri"/>
              </a:rPr>
              <a:t>MIC protocols, media, and strains vary across sources.</a:t>
            </a:r>
          </a:p>
          <a:p>
            <a:pPr algn="l">
              <a:spcBef>
                <a:spcPts val="400"/>
              </a:spcBef>
              <a:spcAft>
                <a:spcPts val="200"/>
              </a:spcAft>
            </a:pPr>
            <a:r>
              <a:rPr sz="1500" b="1" i="0">
                <a:solidFill>
                  <a:srgbClr val="1A3A5C"/>
                </a:solidFill>
                <a:latin typeface="Calibri"/>
              </a:rPr>
              <a:t>2. Internal validation only</a:t>
            </a:r>
          </a:p>
          <a:p>
            <a:pPr algn="l">
              <a:spcBef>
                <a:spcPts val="400"/>
              </a:spcBef>
              <a:spcAft>
                <a:spcPts val="200"/>
              </a:spcAft>
            </a:pPr>
            <a:r>
              <a:rPr sz="1300" b="0" i="0">
                <a:solidFill>
                  <a:srgbClr val="555555"/>
                </a:solidFill>
                <a:latin typeface="Calibri"/>
              </a:rPr>
              <a:t>Repeated stratified CV; no external holdout set.</a:t>
            </a:r>
          </a:p>
          <a:p>
            <a:pPr algn="l">
              <a:spcBef>
                <a:spcPts val="400"/>
              </a:spcBef>
              <a:spcAft>
                <a:spcPts val="200"/>
              </a:spcAft>
            </a:pPr>
            <a:r>
              <a:rPr sz="1500" b="1" i="0">
                <a:solidFill>
                  <a:srgbClr val="1A3A5C"/>
                </a:solidFill>
                <a:latin typeface="Calibri"/>
              </a:rPr>
              <a:t>3. Candidates, not confirmed mechanisms</a:t>
            </a:r>
          </a:p>
          <a:p>
            <a:pPr algn="l">
              <a:spcBef>
                <a:spcPts val="400"/>
              </a:spcBef>
              <a:spcAft>
                <a:spcPts val="200"/>
              </a:spcAft>
            </a:pPr>
            <a:r>
              <a:rPr sz="1300" b="0" i="0">
                <a:solidFill>
                  <a:srgbClr val="555555"/>
                </a:solidFill>
                <a:latin typeface="Calibri"/>
              </a:rPr>
              <a:t>Highlighted substructures still need wet lab confirmation.</a:t>
            </a:r>
          </a:p>
        </p:txBody>
      </p:sp>
      <p:sp>
        <p:nvSpPr>
          <p:cNvPr id="5" name="TextBox 4"/>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lgn="l"/>
            <a:r>
              <a:rPr sz="3200" b="1" i="0">
                <a:solidFill>
                  <a:srgbClr val="1A3A5C"/>
                </a:solidFill>
                <a:latin typeface="Calibri"/>
              </a:rPr>
              <a:t>Future Directions</a:t>
            </a:r>
          </a:p>
        </p:txBody>
      </p:sp>
      <p:sp>
        <p:nvSpPr>
          <p:cNvPr id="3" name="TextBox 2"/>
          <p:cNvSpPr txBox="1"/>
          <p:nvPr/>
        </p:nvSpPr>
        <p:spPr>
          <a:xfrm>
            <a:off x="548640" y="960120"/>
            <a:ext cx="11064240" cy="320040"/>
          </a:xfrm>
          <a:prstGeom prst="rect">
            <a:avLst/>
          </a:prstGeom>
          <a:noFill/>
        </p:spPr>
        <p:txBody>
          <a:bodyPr wrap="none">
            <a:spAutoFit/>
          </a:bodyPr>
          <a:lstStyle/>
          <a:p>
            <a:pPr algn="l"/>
            <a:r>
              <a:rPr sz="1400" b="0" i="0">
                <a:solidFill>
                  <a:srgbClr val="888888"/>
                </a:solidFill>
                <a:latin typeface="Calibri"/>
              </a:rPr>
              <a:t>From broader wet lab work to a closed AI to lab loop</a:t>
            </a:r>
          </a:p>
        </p:txBody>
      </p:sp>
      <p:sp>
        <p:nvSpPr>
          <p:cNvPr id="4" name="TextBox 3"/>
          <p:cNvSpPr txBox="1"/>
          <p:nvPr/>
        </p:nvSpPr>
        <p:spPr>
          <a:xfrm>
            <a:off x="640080" y="1371600"/>
            <a:ext cx="5212080" cy="3291840"/>
          </a:xfrm>
          <a:prstGeom prst="rect">
            <a:avLst/>
          </a:prstGeom>
          <a:noFill/>
        </p:spPr>
        <p:txBody>
          <a:bodyPr wrap="square">
            <a:spAutoFit/>
          </a:bodyPr>
          <a:lstStyle/>
          <a:p>
            <a:pPr algn="l"/>
            <a:r>
              <a:rPr sz="1800" b="1" i="0">
                <a:solidFill>
                  <a:srgbClr val="4A6741"/>
                </a:solidFill>
                <a:latin typeface="Calibri"/>
              </a:rPr>
              <a:t>Experimental</a:t>
            </a:r>
          </a:p>
          <a:p>
            <a:pPr algn="l">
              <a:spcBef>
                <a:spcPts val="400"/>
              </a:spcBef>
              <a:spcAft>
                <a:spcPts val="200"/>
              </a:spcAft>
            </a:pPr>
            <a:r>
              <a:rPr sz="1400" b="1" i="0">
                <a:solidFill>
                  <a:srgbClr val="1A3A5C"/>
                </a:solidFill>
                <a:latin typeface="Calibri"/>
              </a:rPr>
              <a:t>1. More oils &amp; microorganisms</a:t>
            </a:r>
          </a:p>
          <a:p>
            <a:pPr algn="l">
              <a:spcBef>
                <a:spcPts val="400"/>
              </a:spcBef>
              <a:spcAft>
                <a:spcPts val="200"/>
              </a:spcAft>
            </a:pPr>
            <a:r>
              <a:rPr sz="1200" b="0" i="0">
                <a:solidFill>
                  <a:srgbClr val="555555"/>
                </a:solidFill>
                <a:latin typeface="Calibri"/>
              </a:rPr>
              <a:t>Analyse a larger set of essential oils and microbes</a:t>
            </a:r>
          </a:p>
          <a:p>
            <a:pPr algn="l">
              <a:spcBef>
                <a:spcPts val="400"/>
              </a:spcBef>
              <a:spcAft>
                <a:spcPts val="200"/>
              </a:spcAft>
            </a:pPr>
            <a:r>
              <a:rPr sz="1400" b="1" i="0">
                <a:solidFill>
                  <a:srgbClr val="1A3A5C"/>
                </a:solidFill>
                <a:latin typeface="Calibri"/>
              </a:rPr>
              <a:t>2. Different encapsulation systems</a:t>
            </a:r>
          </a:p>
          <a:p>
            <a:pPr algn="l">
              <a:spcBef>
                <a:spcPts val="400"/>
              </a:spcBef>
              <a:spcAft>
                <a:spcPts val="200"/>
              </a:spcAft>
            </a:pPr>
            <a:r>
              <a:rPr sz="1200" b="0" i="0">
                <a:solidFill>
                  <a:srgbClr val="555555"/>
                </a:solidFill>
                <a:latin typeface="Calibri"/>
              </a:rPr>
              <a:t>Explore alternative carriers beyond alginate beads</a:t>
            </a:r>
          </a:p>
          <a:p>
            <a:pPr algn="l">
              <a:spcBef>
                <a:spcPts val="400"/>
              </a:spcBef>
              <a:spcAft>
                <a:spcPts val="200"/>
              </a:spcAft>
            </a:pPr>
            <a:r>
              <a:rPr sz="1400" b="1" i="0">
                <a:solidFill>
                  <a:srgbClr val="1A3A5C"/>
                </a:solidFill>
                <a:latin typeface="Calibri"/>
              </a:rPr>
              <a:t>3. Real food applications</a:t>
            </a:r>
          </a:p>
          <a:p>
            <a:pPr algn="l">
              <a:spcBef>
                <a:spcPts val="400"/>
              </a:spcBef>
              <a:spcAft>
                <a:spcPts val="200"/>
              </a:spcAft>
            </a:pPr>
            <a:r>
              <a:rPr sz="1200" b="0" i="0">
                <a:solidFill>
                  <a:srgbClr val="555555"/>
                </a:solidFill>
                <a:latin typeface="Calibri"/>
              </a:rPr>
              <a:t>Test formulations in actual food systems</a:t>
            </a:r>
          </a:p>
        </p:txBody>
      </p:sp>
      <p:sp>
        <p:nvSpPr>
          <p:cNvPr id="5" name="TextBox 4"/>
          <p:cNvSpPr txBox="1"/>
          <p:nvPr/>
        </p:nvSpPr>
        <p:spPr>
          <a:xfrm>
            <a:off x="6309360" y="1371600"/>
            <a:ext cx="5212080" cy="3291840"/>
          </a:xfrm>
          <a:prstGeom prst="rect">
            <a:avLst/>
          </a:prstGeom>
          <a:noFill/>
        </p:spPr>
        <p:txBody>
          <a:bodyPr wrap="square">
            <a:spAutoFit/>
          </a:bodyPr>
          <a:lstStyle/>
          <a:p>
            <a:pPr algn="l"/>
            <a:r>
              <a:rPr sz="1800" b="1" i="0">
                <a:solidFill>
                  <a:srgbClr val="1A3A5C"/>
                </a:solidFill>
                <a:latin typeface="Calibri"/>
              </a:rPr>
              <a:t>Computational</a:t>
            </a:r>
          </a:p>
          <a:p>
            <a:pPr algn="l">
              <a:spcBef>
                <a:spcPts val="400"/>
              </a:spcBef>
              <a:spcAft>
                <a:spcPts val="200"/>
              </a:spcAft>
            </a:pPr>
            <a:r>
              <a:rPr sz="1400" b="1" i="0">
                <a:solidFill>
                  <a:srgbClr val="1A3A5C"/>
                </a:solidFill>
                <a:latin typeface="Calibri"/>
              </a:rPr>
              <a:t>1. Extend the pipeline</a:t>
            </a:r>
          </a:p>
          <a:p>
            <a:pPr algn="l">
              <a:spcBef>
                <a:spcPts val="400"/>
              </a:spcBef>
              <a:spcAft>
                <a:spcPts val="200"/>
              </a:spcAft>
            </a:pPr>
            <a:r>
              <a:rPr sz="1200" b="0" i="0">
                <a:solidFill>
                  <a:srgbClr val="555555"/>
                </a:solidFill>
                <a:latin typeface="Calibri"/>
              </a:rPr>
              <a:t>Apply the same approach with modern AI methods</a:t>
            </a:r>
          </a:p>
          <a:p>
            <a:pPr algn="l">
              <a:spcBef>
                <a:spcPts val="400"/>
              </a:spcBef>
              <a:spcAft>
                <a:spcPts val="200"/>
              </a:spcAft>
            </a:pPr>
            <a:r>
              <a:rPr sz="1400" b="1" i="0">
                <a:solidFill>
                  <a:srgbClr val="1A3A5C"/>
                </a:solidFill>
                <a:latin typeface="Calibri"/>
              </a:rPr>
              <a:t>2. Graph nets &amp; molecular LMs</a:t>
            </a:r>
          </a:p>
          <a:p>
            <a:pPr algn="l">
              <a:spcBef>
                <a:spcPts val="400"/>
              </a:spcBef>
              <a:spcAft>
                <a:spcPts val="200"/>
              </a:spcAft>
            </a:pPr>
            <a:r>
              <a:rPr sz="1200" b="0" i="0">
                <a:solidFill>
                  <a:srgbClr val="555555"/>
                </a:solidFill>
                <a:latin typeface="Calibri"/>
              </a:rPr>
              <a:t>Richer models of chemical structure and activity</a:t>
            </a:r>
          </a:p>
          <a:p>
            <a:pPr algn="l">
              <a:spcBef>
                <a:spcPts val="400"/>
              </a:spcBef>
              <a:spcAft>
                <a:spcPts val="200"/>
              </a:spcAft>
            </a:pPr>
            <a:r>
              <a:rPr sz="1400" b="1" i="0">
                <a:solidFill>
                  <a:srgbClr val="1A3A5C"/>
                </a:solidFill>
                <a:latin typeface="Calibri"/>
              </a:rPr>
              <a:t>3. Active learning</a:t>
            </a:r>
          </a:p>
          <a:p>
            <a:pPr algn="l">
              <a:spcBef>
                <a:spcPts val="400"/>
              </a:spcBef>
              <a:spcAft>
                <a:spcPts val="200"/>
              </a:spcAft>
            </a:pPr>
            <a:r>
              <a:rPr sz="1200" b="0" i="0">
                <a:solidFill>
                  <a:srgbClr val="555555"/>
                </a:solidFill>
                <a:latin typeface="Calibri"/>
              </a:rPr>
              <a:t>Predictions guide the next laboratory experiments</a:t>
            </a:r>
          </a:p>
        </p:txBody>
      </p:sp>
      <p:sp>
        <p:nvSpPr>
          <p:cNvPr id="6" name="Rounded Rectangle 5"/>
          <p:cNvSpPr/>
          <p:nvPr/>
        </p:nvSpPr>
        <p:spPr>
          <a:xfrm>
            <a:off x="640080" y="4892040"/>
            <a:ext cx="10881360" cy="1234440"/>
          </a:xfrm>
          <a:prstGeom prst="roundRect">
            <a:avLst/>
          </a:prstGeom>
          <a:solidFill>
            <a:srgbClr val="ECF1EA"/>
          </a:solidFill>
          <a:ln w="19050">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029200"/>
            <a:ext cx="10332720" cy="1005840"/>
          </a:xfrm>
          <a:prstGeom prst="rect">
            <a:avLst/>
          </a:prstGeom>
          <a:noFill/>
        </p:spPr>
        <p:txBody>
          <a:bodyPr wrap="square">
            <a:spAutoFit/>
          </a:bodyPr>
          <a:lstStyle/>
          <a:p>
            <a:pPr algn="l"/>
            <a:r>
              <a:rPr sz="1600" b="1" i="0">
                <a:solidFill>
                  <a:srgbClr val="C9A227"/>
                </a:solidFill>
                <a:latin typeface="Calibri"/>
              </a:rPr>
              <a:t>Predict  →  Test  →  Retrain  →  repeat</a:t>
            </a:r>
          </a:p>
          <a:p>
            <a:pPr algn="l">
              <a:spcBef>
                <a:spcPts val="400"/>
              </a:spcBef>
              <a:spcAft>
                <a:spcPts val="200"/>
              </a:spcAft>
            </a:pPr>
            <a:r>
              <a:rPr sz="1400" b="1" i="0">
                <a:solidFill>
                  <a:srgbClr val="1A3A5C"/>
                </a:solidFill>
                <a:latin typeface="Calibri"/>
              </a:rPr>
              <a:t>Goal: continuous AI and lab feedback for faster discovery</a:t>
            </a:r>
          </a:p>
        </p:txBody>
      </p:sp>
      <p:sp>
        <p:nvSpPr>
          <p:cNvPr id="8" name="TextBox 7"/>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32720" cy="1097280"/>
          </a:xfrm>
          <a:prstGeom prst="rect">
            <a:avLst/>
          </a:prstGeom>
          <a:noFill/>
        </p:spPr>
        <p:txBody>
          <a:bodyPr wrap="none">
            <a:spAutoFit/>
          </a:bodyPr>
          <a:lstStyle/>
          <a:p>
            <a:pPr algn="ctr"/>
            <a:r>
              <a:rPr sz="4800" b="1" i="0">
                <a:solidFill>
                  <a:srgbClr val="1A3A5C"/>
                </a:solidFill>
                <a:latin typeface="Calibri"/>
              </a:rPr>
              <a:t>Thank you</a:t>
            </a:r>
          </a:p>
        </p:txBody>
      </p:sp>
      <p:sp>
        <p:nvSpPr>
          <p:cNvPr id="3" name="TextBox 2"/>
          <p:cNvSpPr txBox="1"/>
          <p:nvPr/>
        </p:nvSpPr>
        <p:spPr>
          <a:xfrm>
            <a:off x="914400" y="3749039"/>
            <a:ext cx="10332720" cy="548640"/>
          </a:xfrm>
          <a:prstGeom prst="rect">
            <a:avLst/>
          </a:prstGeom>
          <a:noFill/>
        </p:spPr>
        <p:txBody>
          <a:bodyPr wrap="none">
            <a:spAutoFit/>
          </a:bodyPr>
          <a:lstStyle/>
          <a:p>
            <a:pPr algn="ctr"/>
            <a:r>
              <a:rPr sz="2000" b="0" i="1">
                <a:solidFill>
                  <a:srgbClr val="555555"/>
                </a:solidFill>
                <a:latin typeface="Calibri"/>
              </a:rPr>
              <a:t>I welcome your questions</a:t>
            </a:r>
          </a:p>
        </p:txBody>
      </p:sp>
      <p:sp>
        <p:nvSpPr>
          <p:cNvPr id="4" name="TextBox 3"/>
          <p:cNvSpPr txBox="1"/>
          <p:nvPr/>
        </p:nvSpPr>
        <p:spPr>
          <a:xfrm>
            <a:off x="457200" y="6446520"/>
            <a:ext cx="8229600" cy="301752"/>
          </a:xfrm>
          <a:prstGeom prst="rect">
            <a:avLst/>
          </a:prstGeom>
          <a:noFill/>
        </p:spPr>
        <p:txBody>
          <a:bodyPr wrap="none">
            <a:spAutoFit/>
          </a:bodyPr>
          <a:lstStyle/>
          <a:p>
            <a:pPr algn="l"/>
            <a:r>
              <a:rPr sz="1000" b="0" i="0">
                <a:solidFill>
                  <a:srgbClr val="C9A227"/>
                </a:solidFill>
                <a:latin typeface="Calibri"/>
              </a:rPr>
              <a:t>Bridging phytochemistry &amp; AI</a:t>
            </a: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