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will present my doctoral research on essential oils and how we can use machine learning to understand what drives their antimicrobial activity against Salmonella. This work combines lab experiments with computational analysis at the Faculty of Agriculture, University of Belgrade.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start, I want to thank everyone who helped make this work possible: mentors, the experimental team in Belgrade, collaborators at the Faculty of Organizational Sciences, the Institute for Medicinal Plants, and supervisors during international mobility at Chalmers and related institutions.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I: experimental work characterizing commercial essential oils and encapsulation. Phase II: machine learning to identify molecular structures potentially involved in antimicrobial activity.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essential oils in 2026: plants already did chemical innovation; we now have ML, synthetic biology, and CRISPR. Why Salmonella: major foodborne pathogen and useful antimicrobial test bed. Why ML: hundreds of compounds make one by one testing impractical.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profiled tea tree, lavender, bergamot, and peppermint by GC MS. Antimicrobial MICs were 5 for lavender and bergamot and 10 for tea tree and peppermint. Peppermint was the strongest antioxidant. Oils were encapsulated in calcium alginate beads. The gap is the lack of a computational motif to plant mapping.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GC MS identified the dominant volatiles in each oil: terpinen 4 ol in tea tree, linalyl acetate in lavender and bergamot, isomenthol in peppermint.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Lavender and bergamot inhibited growth at 5; tea tree and peppermint at 10. Peppermint was the strongest antioxidant by DPPH and ABTS.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oils evaporate and are hard to dose. We encapsulated them by electrostatic extrusion into calcium alginate beads and freeze dried them. Wet beads about 2.0 mm shrank to about 1.4 mm, roughly 30%.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 pipeline: collect 171 oils, 87 active and 84 inactive, encode as Morgan fingerprints, train L1 logistic regression with permutation feature importance, and validate motifs against literature.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selection went from 2048 to 682 to 337 to 10 key bits. Test ROC AUC was 0.88. Phenolic OH, Bit 1607, was associated with activity; branched bicyclic hydrocarbons, Bit 549, with inactivity. This is an associative finding, not proven causation.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Experimental limits: four oils, morphology focused encapsulation, one Salmonella strain. Computational limits: heterogeneous literature, internal validation only, candidates needing wet lab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more oils and microbes, alternative encapsulation, food applications; extend the pipeline with graph neural networks, molecular language models, and active learning for a continuous loop between AI and the lab.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concludes my presentation. Thank you for your attention; I will be happy to answer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7.jpg"/><Relationship Id="rId7" Type="http://schemas.openxmlformats.org/officeDocument/2006/relationships/image" Target="../media/image8.jpg"/><Relationship Id="rId8" Type="http://schemas.openxmlformats.org/officeDocument/2006/relationships/image" Target="../media/image9.jpg"/><Relationship Id="rId9" Type="http://schemas.openxmlformats.org/officeDocument/2006/relationships/image" Target="../media/image10.jpg"/><Relationship Id="rId10" Type="http://schemas.openxmlformats.org/officeDocument/2006/relationships/image" Target="../media/image11.jpg"/><Relationship Id="rId11" Type="http://schemas.openxmlformats.org/officeDocument/2006/relationships/image" Target="../media/image12.jpg"/><Relationship Id="rId12" Type="http://schemas.openxmlformats.org/officeDocument/2006/relationships/image" Target="../media/image13.jpg"/><Relationship Id="rId13" Type="http://schemas.openxmlformats.org/officeDocument/2006/relationships/image" Target="../media/image14.jpg"/><Relationship Id="rId14" Type="http://schemas.openxmlformats.org/officeDocument/2006/relationships/image" Target="../media/image15.jpg"/><Relationship Id="rId15" Type="http://schemas.openxmlformats.org/officeDocument/2006/relationships/image" Target="../media/image16.jpg"/><Relationship Id="rId16" Type="http://schemas.openxmlformats.org/officeDocument/2006/relationships/image" Target="../media/image17.jpg"/><Relationship Id="rId17" Type="http://schemas.openxmlformats.org/officeDocument/2006/relationships/image" Target="../media/image18.jpg"/><Relationship Id="rId18" Type="http://schemas.openxmlformats.org/officeDocument/2006/relationships/image" Target="../media/image19.jpg"/><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slide" Target="slide9.xml"/><Relationship Id="rId4" Type="http://schemas.openxmlformats.org/officeDocument/2006/relationships/image" Target="../media/image29.png"/><Relationship Id="rId5" Type="http://schemas.openxmlformats.org/officeDocument/2006/relationships/slide" Target="slide10.xml"/><Relationship Id="rId6"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slide" Target="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slide" Target="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slide" Target="slide12.xml"/><Relationship Id="rId4" Type="http://schemas.openxmlformats.org/officeDocument/2006/relationships/image" Target="../media/image30.png"/><Relationship Id="rId5" Type="http://schemas.openxmlformats.org/officeDocument/2006/relationships/slide" Target="slide13.xml"/><Relationship Id="rId6"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slide" Target="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ub.png"/>
          <p:cNvPicPr>
            <a:picLocks noChangeAspect="1"/>
          </p:cNvPicPr>
          <p:nvPr/>
        </p:nvPicPr>
        <p:blipFill>
          <a:blip r:embed="rId2"/>
          <a:stretch>
            <a:fillRect/>
          </a:stretch>
        </p:blipFill>
        <p:spPr>
          <a:xfrm>
            <a:off x="640080" y="640080"/>
            <a:ext cx="1372458" cy="1828800"/>
          </a:xfrm>
          <a:prstGeom prst="rect">
            <a:avLst/>
          </a:prstGeom>
        </p:spPr>
      </p:pic>
      <p:pic>
        <p:nvPicPr>
          <p:cNvPr id="3" name="Picture 2" descr="agrif.png"/>
          <p:cNvPicPr>
            <a:picLocks noChangeAspect="1"/>
          </p:cNvPicPr>
          <p:nvPr/>
        </p:nvPicPr>
        <p:blipFill>
          <a:blip r:embed="rId3"/>
          <a:stretch>
            <a:fillRect/>
          </a:stretch>
        </p:blipFill>
        <p:spPr>
          <a:xfrm>
            <a:off x="9966960" y="640080"/>
            <a:ext cx="1492254" cy="1828800"/>
          </a:xfrm>
          <a:prstGeom prst="rect">
            <a:avLst/>
          </a:prstGeom>
        </p:spPr>
      </p:pic>
      <p:sp>
        <p:nvSpPr>
          <p:cNvPr id="4" name="TextBox 3"/>
          <p:cNvSpPr txBox="1"/>
          <p:nvPr/>
        </p:nvSpPr>
        <p:spPr>
          <a:xfrm>
            <a:off x="2377440" y="1234440"/>
            <a:ext cx="7406640" cy="548640"/>
          </a:xfrm>
          <a:prstGeom prst="rect">
            <a:avLst/>
          </a:prstGeom>
          <a:noFill/>
        </p:spPr>
        <p:txBody>
          <a:bodyPr wrap="none">
            <a:spAutoFit/>
          </a:bodyPr>
          <a:lstStyle/>
          <a:p>
            <a:pPr algn="ctr"/>
            <a:r>
              <a:rPr sz="1700" b="0" i="0">
                <a:solidFill>
                  <a:srgbClr val="555555"/>
                </a:solidFill>
                <a:latin typeface="Calibri"/>
              </a:rPr>
              <a:t>University of Belgrade  ·  Faculty of Agriculture</a:t>
            </a:r>
          </a:p>
        </p:txBody>
      </p:sp>
      <p:sp>
        <p:nvSpPr>
          <p:cNvPr id="5" name="TextBox 4"/>
          <p:cNvSpPr txBox="1"/>
          <p:nvPr/>
        </p:nvSpPr>
        <p:spPr>
          <a:xfrm>
            <a:off x="914400" y="2697480"/>
            <a:ext cx="10332720" cy="1828800"/>
          </a:xfrm>
          <a:prstGeom prst="rect">
            <a:avLst/>
          </a:prstGeom>
          <a:noFill/>
        </p:spPr>
        <p:txBody>
          <a:bodyPr wrap="none">
            <a:spAutoFit/>
          </a:bodyPr>
          <a:lstStyle/>
          <a:p>
            <a:pPr algn="ctr"/>
            <a:r>
              <a:rPr sz="2200" b="1" i="0">
                <a:solidFill>
                  <a:srgbClr val="1A3A5C"/>
                </a:solidFill>
                <a:latin typeface="Calibri"/>
              </a:rPr>
              <a:t>Chemical characterisation of essential oils and machine learning analysis of molecular substructures associated with antimicrobial activity against </a:t>
            </a:r>
            <a:r>
              <a:rPr sz="2200" b="1" i="1">
                <a:solidFill>
                  <a:srgbClr val="1A3A5C"/>
                </a:solidFill>
                <a:latin typeface="Calibri"/>
              </a:rPr>
              <a:t>Salmonella</a:t>
            </a:r>
            <a:r>
              <a:rPr sz="2200" b="1" i="0">
                <a:solidFill>
                  <a:srgbClr val="1A3A5C"/>
                </a:solidFill>
                <a:latin typeface="Calibri"/>
              </a:rPr>
              <a:t> Typhimurium for food industry applications</a:t>
            </a:r>
          </a:p>
        </p:txBody>
      </p:sp>
      <p:sp>
        <p:nvSpPr>
          <p:cNvPr id="6" name="TextBox 5"/>
          <p:cNvSpPr txBox="1"/>
          <p:nvPr/>
        </p:nvSpPr>
        <p:spPr>
          <a:xfrm>
            <a:off x="914400" y="4617720"/>
            <a:ext cx="10332720" cy="365760"/>
          </a:xfrm>
          <a:prstGeom prst="rect">
            <a:avLst/>
          </a:prstGeom>
          <a:noFill/>
        </p:spPr>
        <p:txBody>
          <a:bodyPr wrap="none">
            <a:spAutoFit/>
          </a:bodyPr>
          <a:lstStyle/>
          <a:p>
            <a:pPr algn="ctr"/>
            <a:r>
              <a:rPr sz="1800" b="1" i="0">
                <a:solidFill>
                  <a:srgbClr val="C9A227"/>
                </a:solidFill>
                <a:latin typeface="Calibri"/>
              </a:rPr>
              <a:t>Doctoral Defense</a:t>
            </a:r>
          </a:p>
        </p:txBody>
      </p:sp>
      <p:sp>
        <p:nvSpPr>
          <p:cNvPr id="7" name="TextBox 6"/>
          <p:cNvSpPr txBox="1"/>
          <p:nvPr/>
        </p:nvSpPr>
        <p:spPr>
          <a:xfrm>
            <a:off x="914400" y="5120640"/>
            <a:ext cx="10332720" cy="1097280"/>
          </a:xfrm>
          <a:prstGeom prst="rect">
            <a:avLst/>
          </a:prstGeom>
          <a:noFill/>
        </p:spPr>
        <p:txBody>
          <a:bodyPr wrap="square">
            <a:spAutoFit/>
          </a:bodyPr>
          <a:lstStyle/>
          <a:p>
            <a:pPr algn="ctr"/>
            <a:r>
              <a:rPr sz="1600" b="0" i="0">
                <a:solidFill>
                  <a:srgbClr val="1A3A5C"/>
                </a:solidFill>
                <a:latin typeface="Calibri"/>
              </a:rPr>
              <a:t>Student: Maria Lagerholm</a:t>
            </a:r>
          </a:p>
          <a:p>
            <a:pPr algn="ctr">
              <a:spcBef>
                <a:spcPts val="400"/>
              </a:spcBef>
              <a:spcAft>
                <a:spcPts val="200"/>
              </a:spcAft>
            </a:pPr>
            <a:r>
              <a:rPr sz="1500" b="0" i="0">
                <a:solidFill>
                  <a:srgbClr val="555555"/>
                </a:solidFill>
                <a:latin typeface="Calibri"/>
              </a:rPr>
              <a:t>Mentors: Prof Dr Viktor Nedović, Prof Dr Mirjana Pešić</a:t>
            </a:r>
          </a:p>
          <a:p>
            <a:pPr algn="ctr">
              <a:spcBef>
                <a:spcPts val="400"/>
              </a:spcBef>
              <a:spcAft>
                <a:spcPts val="200"/>
              </a:spcAft>
            </a:pPr>
            <a:r>
              <a:rPr sz="1600" b="0" i="0">
                <a:solidFill>
                  <a:srgbClr val="4A6741"/>
                </a:solidFill>
                <a:latin typeface="Calibri"/>
              </a:rPr>
              <a:t>2026</a:t>
            </a:r>
          </a:p>
        </p:txBody>
      </p:sp>
      <p:sp>
        <p:nvSpPr>
          <p:cNvPr id="8" name="TextBox 7"/>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pPr algn="l"/>
            <a:r>
              <a:rPr sz="3000" b="1" i="0">
                <a:solidFill>
                  <a:srgbClr val="1A3A5C"/>
                </a:solidFill>
                <a:latin typeface="Calibri"/>
              </a:rPr>
              <a:t>Acknowledgments</a:t>
            </a:r>
          </a:p>
        </p:txBody>
      </p:sp>
      <p:sp>
        <p:nvSpPr>
          <p:cNvPr id="3" name="TextBox 2"/>
          <p:cNvSpPr txBox="1"/>
          <p:nvPr/>
        </p:nvSpPr>
        <p:spPr>
          <a:xfrm>
            <a:off x="548640" y="914400"/>
            <a:ext cx="11064240" cy="320040"/>
          </a:xfrm>
          <a:prstGeom prst="rect">
            <a:avLst/>
          </a:prstGeom>
          <a:noFill/>
        </p:spPr>
        <p:txBody>
          <a:bodyPr wrap="none">
            <a:spAutoFit/>
          </a:bodyPr>
          <a:lstStyle/>
          <a:p>
            <a:pPr algn="l"/>
            <a:r>
              <a:rPr sz="1400" b="0" i="1">
                <a:solidFill>
                  <a:srgbClr val="555555"/>
                </a:solidFill>
                <a:latin typeface="Calibri"/>
              </a:rPr>
              <a:t>With gratitude to all collaborators who contributed to this research</a:t>
            </a:r>
          </a:p>
        </p:txBody>
      </p:sp>
      <p:pic>
        <p:nvPicPr>
          <p:cNvPr id="4" name="Picture 3" descr="viktor_sq.jpg"/>
          <p:cNvPicPr>
            <a:picLocks noChangeAspect="1"/>
          </p:cNvPicPr>
          <p:nvPr/>
        </p:nvPicPr>
        <p:blipFill>
          <a:blip r:embed="rId2"/>
          <a:stretch>
            <a:fillRect/>
          </a:stretch>
        </p:blipFill>
        <p:spPr>
          <a:xfrm>
            <a:off x="4129887" y="1188720"/>
            <a:ext cx="868680" cy="868680"/>
          </a:xfrm>
          <a:prstGeom prst="ellipse">
            <a:avLst/>
          </a:prstGeom>
          <a:ln w="19050">
            <a:solidFill>
              <a:srgbClr val="C9A227"/>
            </a:solidFill>
          </a:ln>
        </p:spPr>
      </p:pic>
      <p:sp>
        <p:nvSpPr>
          <p:cNvPr id="5" name="TextBox 4"/>
          <p:cNvSpPr txBox="1"/>
          <p:nvPr/>
        </p:nvSpPr>
        <p:spPr>
          <a:xfrm>
            <a:off x="3101187" y="2084831"/>
            <a:ext cx="2926080" cy="457200"/>
          </a:xfrm>
          <a:prstGeom prst="rect">
            <a:avLst/>
          </a:prstGeom>
          <a:noFill/>
        </p:spPr>
        <p:txBody>
          <a:bodyPr wrap="square">
            <a:spAutoFit/>
          </a:bodyPr>
          <a:lstStyle/>
          <a:p>
            <a:pPr algn="ctr"/>
            <a:r>
              <a:rPr sz="900" b="1" i="0">
                <a:solidFill>
                  <a:srgbClr val="1A3A5C"/>
                </a:solidFill>
                <a:latin typeface="Calibri"/>
              </a:rPr>
              <a:t>Prof Dr Viktor Nedović</a:t>
            </a:r>
          </a:p>
          <a:p>
            <a:pPr algn="ctr">
              <a:spcBef>
                <a:spcPts val="400"/>
              </a:spcBef>
              <a:spcAft>
                <a:spcPts val="200"/>
              </a:spcAft>
            </a:pPr>
            <a:r>
              <a:rPr sz="800" b="0" i="0">
                <a:solidFill>
                  <a:srgbClr val="888888"/>
                </a:solidFill>
                <a:latin typeface="Calibri"/>
              </a:rPr>
              <a:t>Faculty of Agriculture, UB</a:t>
            </a:r>
          </a:p>
        </p:txBody>
      </p:sp>
      <p:pic>
        <p:nvPicPr>
          <p:cNvPr id="6" name="Picture 5" descr="mirjana_sq.jpg"/>
          <p:cNvPicPr>
            <a:picLocks noChangeAspect="1"/>
          </p:cNvPicPr>
          <p:nvPr/>
        </p:nvPicPr>
        <p:blipFill>
          <a:blip r:embed="rId3"/>
          <a:stretch>
            <a:fillRect/>
          </a:stretch>
        </p:blipFill>
        <p:spPr>
          <a:xfrm>
            <a:off x="7193127" y="1188720"/>
            <a:ext cx="868680" cy="868680"/>
          </a:xfrm>
          <a:prstGeom prst="ellipse">
            <a:avLst/>
          </a:prstGeom>
          <a:ln w="19050">
            <a:solidFill>
              <a:srgbClr val="C9A227"/>
            </a:solidFill>
          </a:ln>
        </p:spPr>
      </p:pic>
      <p:sp>
        <p:nvSpPr>
          <p:cNvPr id="7" name="TextBox 6"/>
          <p:cNvSpPr txBox="1"/>
          <p:nvPr/>
        </p:nvSpPr>
        <p:spPr>
          <a:xfrm>
            <a:off x="6164427" y="2084831"/>
            <a:ext cx="2926080" cy="457200"/>
          </a:xfrm>
          <a:prstGeom prst="rect">
            <a:avLst/>
          </a:prstGeom>
          <a:noFill/>
        </p:spPr>
        <p:txBody>
          <a:bodyPr wrap="square">
            <a:spAutoFit/>
          </a:bodyPr>
          <a:lstStyle/>
          <a:p>
            <a:pPr algn="ctr"/>
            <a:r>
              <a:rPr sz="900" b="1" i="0">
                <a:solidFill>
                  <a:srgbClr val="1A3A5C"/>
                </a:solidFill>
                <a:latin typeface="Calibri"/>
              </a:rPr>
              <a:t>Prof Dr Mirjana Pešić</a:t>
            </a:r>
          </a:p>
          <a:p>
            <a:pPr algn="ctr">
              <a:spcBef>
                <a:spcPts val="400"/>
              </a:spcBef>
              <a:spcAft>
                <a:spcPts val="200"/>
              </a:spcAft>
            </a:pPr>
            <a:r>
              <a:rPr sz="800" b="0" i="0">
                <a:solidFill>
                  <a:srgbClr val="888888"/>
                </a:solidFill>
                <a:latin typeface="Calibri"/>
              </a:rPr>
              <a:t>Faculty of Agriculture, UB</a:t>
            </a:r>
          </a:p>
        </p:txBody>
      </p:sp>
      <p:pic>
        <p:nvPicPr>
          <p:cNvPr id="8" name="Picture 7" descr="anaS_sq.jpg"/>
          <p:cNvPicPr>
            <a:picLocks noChangeAspect="1"/>
          </p:cNvPicPr>
          <p:nvPr/>
        </p:nvPicPr>
        <p:blipFill>
          <a:blip r:embed="rId4"/>
          <a:stretch>
            <a:fillRect/>
          </a:stretch>
        </p:blipFill>
        <p:spPr>
          <a:xfrm>
            <a:off x="1432407" y="2660904"/>
            <a:ext cx="731520" cy="731520"/>
          </a:xfrm>
          <a:prstGeom prst="ellipse">
            <a:avLst/>
          </a:prstGeom>
          <a:ln w="19050">
            <a:solidFill>
              <a:srgbClr val="C9A227"/>
            </a:solidFill>
          </a:ln>
        </p:spPr>
      </p:pic>
      <p:sp>
        <p:nvSpPr>
          <p:cNvPr id="9" name="TextBox 8"/>
          <p:cNvSpPr txBox="1"/>
          <p:nvPr/>
        </p:nvSpPr>
        <p:spPr>
          <a:xfrm>
            <a:off x="792327" y="3419856"/>
            <a:ext cx="2011680" cy="457200"/>
          </a:xfrm>
          <a:prstGeom prst="rect">
            <a:avLst/>
          </a:prstGeom>
          <a:noFill/>
        </p:spPr>
        <p:txBody>
          <a:bodyPr wrap="square">
            <a:spAutoFit/>
          </a:bodyPr>
          <a:lstStyle/>
          <a:p>
            <a:pPr algn="ctr"/>
            <a:r>
              <a:rPr sz="900" b="1" i="0">
                <a:solidFill>
                  <a:srgbClr val="1A3A5C"/>
                </a:solidFill>
                <a:latin typeface="Calibri"/>
              </a:rPr>
              <a:t>Dr Ana Salević</a:t>
            </a:r>
          </a:p>
          <a:p>
            <a:pPr algn="ctr">
              <a:spcBef>
                <a:spcPts val="400"/>
              </a:spcBef>
              <a:spcAft>
                <a:spcPts val="200"/>
              </a:spcAft>
            </a:pPr>
            <a:r>
              <a:rPr sz="800" b="0" i="0">
                <a:solidFill>
                  <a:srgbClr val="888888"/>
                </a:solidFill>
                <a:latin typeface="Calibri"/>
              </a:rPr>
              <a:t>Faculty of Agriculture, UB</a:t>
            </a:r>
          </a:p>
        </p:txBody>
      </p:sp>
      <p:pic>
        <p:nvPicPr>
          <p:cNvPr id="10" name="Picture 9" descr="anaK_sq.jpg"/>
          <p:cNvPicPr>
            <a:picLocks noChangeAspect="1"/>
          </p:cNvPicPr>
          <p:nvPr/>
        </p:nvPicPr>
        <p:blipFill>
          <a:blip r:embed="rId5"/>
          <a:stretch>
            <a:fillRect/>
          </a:stretch>
        </p:blipFill>
        <p:spPr>
          <a:xfrm>
            <a:off x="3581247" y="2660904"/>
            <a:ext cx="731520" cy="731520"/>
          </a:xfrm>
          <a:prstGeom prst="ellipse">
            <a:avLst/>
          </a:prstGeom>
          <a:ln w="19050">
            <a:solidFill>
              <a:srgbClr val="C9A227"/>
            </a:solidFill>
          </a:ln>
        </p:spPr>
      </p:pic>
      <p:sp>
        <p:nvSpPr>
          <p:cNvPr id="11" name="TextBox 10"/>
          <p:cNvSpPr txBox="1"/>
          <p:nvPr/>
        </p:nvSpPr>
        <p:spPr>
          <a:xfrm>
            <a:off x="2941167" y="3419856"/>
            <a:ext cx="2011680" cy="457200"/>
          </a:xfrm>
          <a:prstGeom prst="rect">
            <a:avLst/>
          </a:prstGeom>
          <a:noFill/>
        </p:spPr>
        <p:txBody>
          <a:bodyPr wrap="square">
            <a:spAutoFit/>
          </a:bodyPr>
          <a:lstStyle/>
          <a:p>
            <a:pPr algn="ctr"/>
            <a:r>
              <a:rPr sz="900" b="1" i="0">
                <a:solidFill>
                  <a:srgbClr val="1A3A5C"/>
                </a:solidFill>
                <a:latin typeface="Calibri"/>
              </a:rPr>
              <a:t>Dr Ana Kalušević</a:t>
            </a:r>
          </a:p>
          <a:p>
            <a:pPr algn="ctr">
              <a:spcBef>
                <a:spcPts val="400"/>
              </a:spcBef>
              <a:spcAft>
                <a:spcPts val="200"/>
              </a:spcAft>
            </a:pPr>
            <a:r>
              <a:rPr sz="800" b="0" i="0">
                <a:solidFill>
                  <a:srgbClr val="888888"/>
                </a:solidFill>
                <a:latin typeface="Calibri"/>
              </a:rPr>
              <a:t>Institute of Meat Hygiene</a:t>
            </a:r>
          </a:p>
        </p:txBody>
      </p:sp>
      <p:pic>
        <p:nvPicPr>
          <p:cNvPr id="12" name="Picture 11" descr="steva_sq.jpg"/>
          <p:cNvPicPr>
            <a:picLocks noChangeAspect="1"/>
          </p:cNvPicPr>
          <p:nvPr/>
        </p:nvPicPr>
        <p:blipFill>
          <a:blip r:embed="rId6"/>
          <a:stretch>
            <a:fillRect/>
          </a:stretch>
        </p:blipFill>
        <p:spPr>
          <a:xfrm>
            <a:off x="5730087" y="2660904"/>
            <a:ext cx="731520" cy="731520"/>
          </a:xfrm>
          <a:prstGeom prst="ellipse">
            <a:avLst/>
          </a:prstGeom>
          <a:ln w="19050">
            <a:solidFill>
              <a:srgbClr val="C9A227"/>
            </a:solidFill>
          </a:ln>
        </p:spPr>
      </p:pic>
      <p:sp>
        <p:nvSpPr>
          <p:cNvPr id="13" name="TextBox 12"/>
          <p:cNvSpPr txBox="1"/>
          <p:nvPr/>
        </p:nvSpPr>
        <p:spPr>
          <a:xfrm>
            <a:off x="5090007" y="3419856"/>
            <a:ext cx="2011680" cy="457200"/>
          </a:xfrm>
          <a:prstGeom prst="rect">
            <a:avLst/>
          </a:prstGeom>
          <a:noFill/>
        </p:spPr>
        <p:txBody>
          <a:bodyPr wrap="square">
            <a:spAutoFit/>
          </a:bodyPr>
          <a:lstStyle/>
          <a:p>
            <a:pPr algn="ctr"/>
            <a:r>
              <a:rPr sz="900" b="1" i="0">
                <a:solidFill>
                  <a:srgbClr val="1A3A5C"/>
                </a:solidFill>
                <a:latin typeface="Calibri"/>
              </a:rPr>
              <a:t>Dr Steva Lević</a:t>
            </a:r>
          </a:p>
          <a:p>
            <a:pPr algn="ctr">
              <a:spcBef>
                <a:spcPts val="400"/>
              </a:spcBef>
              <a:spcAft>
                <a:spcPts val="200"/>
              </a:spcAft>
            </a:pPr>
            <a:r>
              <a:rPr sz="800" b="0" i="0">
                <a:solidFill>
                  <a:srgbClr val="888888"/>
                </a:solidFill>
                <a:latin typeface="Calibri"/>
              </a:rPr>
              <a:t>Faculty of Agriculture, UB</a:t>
            </a:r>
          </a:p>
        </p:txBody>
      </p:sp>
      <p:pic>
        <p:nvPicPr>
          <p:cNvPr id="14" name="Picture 13" descr="milena_sq.jpg"/>
          <p:cNvPicPr>
            <a:picLocks noChangeAspect="1"/>
          </p:cNvPicPr>
          <p:nvPr/>
        </p:nvPicPr>
        <p:blipFill>
          <a:blip r:embed="rId7"/>
          <a:stretch>
            <a:fillRect/>
          </a:stretch>
        </p:blipFill>
        <p:spPr>
          <a:xfrm>
            <a:off x="7878927" y="2660904"/>
            <a:ext cx="731520" cy="731520"/>
          </a:xfrm>
          <a:prstGeom prst="ellipse">
            <a:avLst/>
          </a:prstGeom>
          <a:ln w="19050">
            <a:solidFill>
              <a:srgbClr val="C9A227"/>
            </a:solidFill>
          </a:ln>
        </p:spPr>
      </p:pic>
      <p:sp>
        <p:nvSpPr>
          <p:cNvPr id="15" name="TextBox 14"/>
          <p:cNvSpPr txBox="1"/>
          <p:nvPr/>
        </p:nvSpPr>
        <p:spPr>
          <a:xfrm>
            <a:off x="7238847" y="3419856"/>
            <a:ext cx="2011680" cy="457200"/>
          </a:xfrm>
          <a:prstGeom prst="rect">
            <a:avLst/>
          </a:prstGeom>
          <a:noFill/>
        </p:spPr>
        <p:txBody>
          <a:bodyPr wrap="square">
            <a:spAutoFit/>
          </a:bodyPr>
          <a:lstStyle/>
          <a:p>
            <a:pPr algn="ctr"/>
            <a:r>
              <a:rPr sz="900" b="1" i="0">
                <a:solidFill>
                  <a:srgbClr val="1A3A5C"/>
                </a:solidFill>
                <a:latin typeface="Calibri"/>
              </a:rPr>
              <a:t>Dr Milena Pantić</a:t>
            </a:r>
          </a:p>
          <a:p>
            <a:pPr algn="ctr">
              <a:spcBef>
                <a:spcPts val="400"/>
              </a:spcBef>
              <a:spcAft>
                <a:spcPts val="200"/>
              </a:spcAft>
            </a:pPr>
            <a:r>
              <a:rPr sz="800" b="0" i="0">
                <a:solidFill>
                  <a:srgbClr val="888888"/>
                </a:solidFill>
                <a:latin typeface="Calibri"/>
              </a:rPr>
              <a:t>Faculty of Agriculture, UB</a:t>
            </a:r>
          </a:p>
        </p:txBody>
      </p:sp>
      <p:pic>
        <p:nvPicPr>
          <p:cNvPr id="16" name="Picture 15" descr="miomir_sq.jpg"/>
          <p:cNvPicPr>
            <a:picLocks noChangeAspect="1"/>
          </p:cNvPicPr>
          <p:nvPr/>
        </p:nvPicPr>
        <p:blipFill>
          <a:blip r:embed="rId8"/>
          <a:stretch>
            <a:fillRect/>
          </a:stretch>
        </p:blipFill>
        <p:spPr>
          <a:xfrm>
            <a:off x="10027767" y="2660904"/>
            <a:ext cx="731520" cy="731520"/>
          </a:xfrm>
          <a:prstGeom prst="ellipse">
            <a:avLst/>
          </a:prstGeom>
          <a:ln w="19050">
            <a:solidFill>
              <a:srgbClr val="C9A227"/>
            </a:solidFill>
          </a:ln>
        </p:spPr>
      </p:pic>
      <p:sp>
        <p:nvSpPr>
          <p:cNvPr id="17" name="TextBox 16"/>
          <p:cNvSpPr txBox="1"/>
          <p:nvPr/>
        </p:nvSpPr>
        <p:spPr>
          <a:xfrm>
            <a:off x="9387687" y="3419856"/>
            <a:ext cx="2011680" cy="457200"/>
          </a:xfrm>
          <a:prstGeom prst="rect">
            <a:avLst/>
          </a:prstGeom>
          <a:noFill/>
        </p:spPr>
        <p:txBody>
          <a:bodyPr wrap="square">
            <a:spAutoFit/>
          </a:bodyPr>
          <a:lstStyle/>
          <a:p>
            <a:pPr algn="ctr"/>
            <a:r>
              <a:rPr sz="900" b="1" i="0">
                <a:solidFill>
                  <a:srgbClr val="1A3A5C"/>
                </a:solidFill>
                <a:latin typeface="Calibri"/>
              </a:rPr>
              <a:t>Prof Dr Miomir Nikšić</a:t>
            </a:r>
          </a:p>
          <a:p>
            <a:pPr algn="ctr">
              <a:spcBef>
                <a:spcPts val="400"/>
              </a:spcBef>
              <a:spcAft>
                <a:spcPts val="200"/>
              </a:spcAft>
            </a:pPr>
            <a:r>
              <a:rPr sz="800" b="0" i="0">
                <a:solidFill>
                  <a:srgbClr val="888888"/>
                </a:solidFill>
                <a:latin typeface="Calibri"/>
              </a:rPr>
              <a:t>Faculty of Agriculture, UB</a:t>
            </a:r>
          </a:p>
        </p:txBody>
      </p:sp>
      <p:pic>
        <p:nvPicPr>
          <p:cNvPr id="18" name="Picture 17" descr="milos_sq.jpg"/>
          <p:cNvPicPr>
            <a:picLocks noChangeAspect="1"/>
          </p:cNvPicPr>
          <p:nvPr/>
        </p:nvPicPr>
        <p:blipFill>
          <a:blip r:embed="rId9"/>
          <a:stretch>
            <a:fillRect/>
          </a:stretch>
        </p:blipFill>
        <p:spPr>
          <a:xfrm>
            <a:off x="1432407" y="3995928"/>
            <a:ext cx="731520" cy="731520"/>
          </a:xfrm>
          <a:prstGeom prst="ellipse">
            <a:avLst/>
          </a:prstGeom>
          <a:ln w="19050">
            <a:solidFill>
              <a:srgbClr val="C9A227"/>
            </a:solidFill>
          </a:ln>
        </p:spPr>
      </p:pic>
      <p:sp>
        <p:nvSpPr>
          <p:cNvPr id="19" name="TextBox 18"/>
          <p:cNvSpPr txBox="1"/>
          <p:nvPr/>
        </p:nvSpPr>
        <p:spPr>
          <a:xfrm>
            <a:off x="792327" y="4754880"/>
            <a:ext cx="2011680" cy="457200"/>
          </a:xfrm>
          <a:prstGeom prst="rect">
            <a:avLst/>
          </a:prstGeom>
          <a:noFill/>
        </p:spPr>
        <p:txBody>
          <a:bodyPr wrap="square">
            <a:spAutoFit/>
          </a:bodyPr>
          <a:lstStyle/>
          <a:p>
            <a:pPr algn="ctr"/>
            <a:r>
              <a:rPr sz="900" b="1" i="0">
                <a:solidFill>
                  <a:srgbClr val="1A3A5C"/>
                </a:solidFill>
                <a:latin typeface="Calibri"/>
              </a:rPr>
              <a:t>Dr Miloš Jovanović</a:t>
            </a:r>
          </a:p>
          <a:p>
            <a:pPr algn="ctr">
              <a:spcBef>
                <a:spcPts val="400"/>
              </a:spcBef>
              <a:spcAft>
                <a:spcPts val="200"/>
              </a:spcAft>
            </a:pPr>
            <a:r>
              <a:rPr sz="800" b="0" i="0">
                <a:solidFill>
                  <a:srgbClr val="888888"/>
                </a:solidFill>
                <a:latin typeface="Calibri"/>
              </a:rPr>
              <a:t>Faculty of Organizational Sciences</a:t>
            </a:r>
          </a:p>
        </p:txBody>
      </p:sp>
      <p:pic>
        <p:nvPicPr>
          <p:cNvPr id="20" name="Picture 19" descr="marija-kuzmanovic_sq.jpg"/>
          <p:cNvPicPr>
            <a:picLocks noChangeAspect="1"/>
          </p:cNvPicPr>
          <p:nvPr/>
        </p:nvPicPr>
        <p:blipFill>
          <a:blip r:embed="rId10"/>
          <a:stretch>
            <a:fillRect/>
          </a:stretch>
        </p:blipFill>
        <p:spPr>
          <a:xfrm>
            <a:off x="3581247" y="3995928"/>
            <a:ext cx="731520" cy="731520"/>
          </a:xfrm>
          <a:prstGeom prst="ellipse">
            <a:avLst/>
          </a:prstGeom>
          <a:ln w="19050">
            <a:solidFill>
              <a:srgbClr val="C9A227"/>
            </a:solidFill>
          </a:ln>
        </p:spPr>
      </p:pic>
      <p:sp>
        <p:nvSpPr>
          <p:cNvPr id="21" name="TextBox 20"/>
          <p:cNvSpPr txBox="1"/>
          <p:nvPr/>
        </p:nvSpPr>
        <p:spPr>
          <a:xfrm>
            <a:off x="2941167" y="4754880"/>
            <a:ext cx="2011680" cy="457200"/>
          </a:xfrm>
          <a:prstGeom prst="rect">
            <a:avLst/>
          </a:prstGeom>
          <a:noFill/>
        </p:spPr>
        <p:txBody>
          <a:bodyPr wrap="square">
            <a:spAutoFit/>
          </a:bodyPr>
          <a:lstStyle/>
          <a:p>
            <a:pPr algn="ctr"/>
            <a:r>
              <a:rPr sz="900" b="1" i="0">
                <a:solidFill>
                  <a:srgbClr val="1A3A5C"/>
                </a:solidFill>
                <a:latin typeface="Calibri"/>
              </a:rPr>
              <a:t>Dr Marija Kuzmanović</a:t>
            </a:r>
          </a:p>
          <a:p>
            <a:pPr algn="ctr">
              <a:spcBef>
                <a:spcPts val="400"/>
              </a:spcBef>
              <a:spcAft>
                <a:spcPts val="200"/>
              </a:spcAft>
            </a:pPr>
            <a:r>
              <a:rPr sz="800" b="0" i="0">
                <a:solidFill>
                  <a:srgbClr val="888888"/>
                </a:solidFill>
                <a:latin typeface="Calibri"/>
              </a:rPr>
              <a:t>Faculty of Organizational Sciences</a:t>
            </a:r>
          </a:p>
        </p:txBody>
      </p:sp>
      <p:pic>
        <p:nvPicPr>
          <p:cNvPr id="22" name="Picture 21" descr="dejan_sq.jpg"/>
          <p:cNvPicPr>
            <a:picLocks noChangeAspect="1"/>
          </p:cNvPicPr>
          <p:nvPr/>
        </p:nvPicPr>
        <p:blipFill>
          <a:blip r:embed="rId11"/>
          <a:stretch>
            <a:fillRect/>
          </a:stretch>
        </p:blipFill>
        <p:spPr>
          <a:xfrm>
            <a:off x="5730087" y="3995928"/>
            <a:ext cx="731520" cy="731520"/>
          </a:xfrm>
          <a:prstGeom prst="ellipse">
            <a:avLst/>
          </a:prstGeom>
          <a:ln w="19050">
            <a:solidFill>
              <a:srgbClr val="C9A227"/>
            </a:solidFill>
          </a:ln>
        </p:spPr>
      </p:pic>
      <p:sp>
        <p:nvSpPr>
          <p:cNvPr id="23" name="TextBox 22"/>
          <p:cNvSpPr txBox="1"/>
          <p:nvPr/>
        </p:nvSpPr>
        <p:spPr>
          <a:xfrm>
            <a:off x="5090007" y="4754880"/>
            <a:ext cx="2011680" cy="457200"/>
          </a:xfrm>
          <a:prstGeom prst="rect">
            <a:avLst/>
          </a:prstGeom>
          <a:noFill/>
        </p:spPr>
        <p:txBody>
          <a:bodyPr wrap="square">
            <a:spAutoFit/>
          </a:bodyPr>
          <a:lstStyle/>
          <a:p>
            <a:pPr algn="ctr"/>
            <a:r>
              <a:rPr sz="900" b="1" i="0">
                <a:solidFill>
                  <a:srgbClr val="1A3A5C"/>
                </a:solidFill>
                <a:latin typeface="Calibri"/>
              </a:rPr>
              <a:t>Dr Dejan Pljevljakušić</a:t>
            </a:r>
          </a:p>
          <a:p>
            <a:pPr algn="ctr">
              <a:spcBef>
                <a:spcPts val="400"/>
              </a:spcBef>
              <a:spcAft>
                <a:spcPts val="200"/>
              </a:spcAft>
            </a:pPr>
            <a:r>
              <a:rPr sz="800" b="0" i="0">
                <a:solidFill>
                  <a:srgbClr val="888888"/>
                </a:solidFill>
                <a:latin typeface="Calibri"/>
              </a:rPr>
              <a:t>Institute Dr Josif Pančić</a:t>
            </a:r>
          </a:p>
        </p:txBody>
      </p:sp>
      <p:pic>
        <p:nvPicPr>
          <p:cNvPr id="24" name="Picture 23" descr="Katarina-Savikin_sq.jpg"/>
          <p:cNvPicPr>
            <a:picLocks noChangeAspect="1"/>
          </p:cNvPicPr>
          <p:nvPr/>
        </p:nvPicPr>
        <p:blipFill>
          <a:blip r:embed="rId12"/>
          <a:stretch>
            <a:fillRect/>
          </a:stretch>
        </p:blipFill>
        <p:spPr>
          <a:xfrm>
            <a:off x="7878927" y="3995928"/>
            <a:ext cx="731520" cy="731520"/>
          </a:xfrm>
          <a:prstGeom prst="ellipse">
            <a:avLst/>
          </a:prstGeom>
          <a:ln w="19050">
            <a:solidFill>
              <a:srgbClr val="C9A227"/>
            </a:solidFill>
          </a:ln>
        </p:spPr>
      </p:pic>
      <p:sp>
        <p:nvSpPr>
          <p:cNvPr id="25" name="TextBox 24"/>
          <p:cNvSpPr txBox="1"/>
          <p:nvPr/>
        </p:nvSpPr>
        <p:spPr>
          <a:xfrm>
            <a:off x="7238847" y="4754880"/>
            <a:ext cx="2011680" cy="457200"/>
          </a:xfrm>
          <a:prstGeom prst="rect">
            <a:avLst/>
          </a:prstGeom>
          <a:noFill/>
        </p:spPr>
        <p:txBody>
          <a:bodyPr wrap="square">
            <a:spAutoFit/>
          </a:bodyPr>
          <a:lstStyle/>
          <a:p>
            <a:pPr algn="ctr"/>
            <a:r>
              <a:rPr sz="900" b="1" i="0">
                <a:solidFill>
                  <a:srgbClr val="1A3A5C"/>
                </a:solidFill>
                <a:latin typeface="Calibri"/>
              </a:rPr>
              <a:t>Dr Katarina Šavikin</a:t>
            </a:r>
          </a:p>
          <a:p>
            <a:pPr algn="ctr">
              <a:spcBef>
                <a:spcPts val="400"/>
              </a:spcBef>
              <a:spcAft>
                <a:spcPts val="200"/>
              </a:spcAft>
            </a:pPr>
            <a:r>
              <a:rPr sz="800" b="0" i="0">
                <a:solidFill>
                  <a:srgbClr val="888888"/>
                </a:solidFill>
                <a:latin typeface="Calibri"/>
              </a:rPr>
              <a:t>Institute Dr Josif Pančić</a:t>
            </a:r>
          </a:p>
        </p:txBody>
      </p:sp>
      <p:pic>
        <p:nvPicPr>
          <p:cNvPr id="26" name="Picture 25" descr="Natasa-Milosavljevic_sq.jpg"/>
          <p:cNvPicPr>
            <a:picLocks noChangeAspect="1"/>
          </p:cNvPicPr>
          <p:nvPr/>
        </p:nvPicPr>
        <p:blipFill>
          <a:blip r:embed="rId13"/>
          <a:stretch>
            <a:fillRect/>
          </a:stretch>
        </p:blipFill>
        <p:spPr>
          <a:xfrm>
            <a:off x="10027767" y="3995928"/>
            <a:ext cx="731520" cy="731520"/>
          </a:xfrm>
          <a:prstGeom prst="ellipse">
            <a:avLst/>
          </a:prstGeom>
          <a:ln w="19050">
            <a:solidFill>
              <a:srgbClr val="C9A227"/>
            </a:solidFill>
          </a:ln>
        </p:spPr>
      </p:pic>
      <p:sp>
        <p:nvSpPr>
          <p:cNvPr id="27" name="TextBox 26"/>
          <p:cNvSpPr txBox="1"/>
          <p:nvPr/>
        </p:nvSpPr>
        <p:spPr>
          <a:xfrm>
            <a:off x="9387687" y="4754880"/>
            <a:ext cx="2011680" cy="457200"/>
          </a:xfrm>
          <a:prstGeom prst="rect">
            <a:avLst/>
          </a:prstGeom>
          <a:noFill/>
        </p:spPr>
        <p:txBody>
          <a:bodyPr wrap="square">
            <a:spAutoFit/>
          </a:bodyPr>
          <a:lstStyle/>
          <a:p>
            <a:pPr algn="ctr"/>
            <a:r>
              <a:rPr sz="900" b="1" i="0">
                <a:solidFill>
                  <a:srgbClr val="1A3A5C"/>
                </a:solidFill>
                <a:latin typeface="Calibri"/>
              </a:rPr>
              <a:t>Prof Dr Nataša Milosavljević</a:t>
            </a:r>
          </a:p>
          <a:p>
            <a:pPr algn="ctr">
              <a:spcBef>
                <a:spcPts val="400"/>
              </a:spcBef>
              <a:spcAft>
                <a:spcPts val="200"/>
              </a:spcAft>
            </a:pPr>
            <a:r>
              <a:rPr sz="800" b="0" i="0">
                <a:solidFill>
                  <a:srgbClr val="888888"/>
                </a:solidFill>
                <a:latin typeface="Calibri"/>
              </a:rPr>
              <a:t>Faculty of Agriculture, UB</a:t>
            </a:r>
          </a:p>
        </p:txBody>
      </p:sp>
      <p:pic>
        <p:nvPicPr>
          <p:cNvPr id="28" name="Picture 27" descr="ivan_sq.jpg"/>
          <p:cNvPicPr>
            <a:picLocks noChangeAspect="1"/>
          </p:cNvPicPr>
          <p:nvPr/>
        </p:nvPicPr>
        <p:blipFill>
          <a:blip r:embed="rId14"/>
          <a:stretch>
            <a:fillRect/>
          </a:stretch>
        </p:blipFill>
        <p:spPr>
          <a:xfrm>
            <a:off x="1432407" y="5330952"/>
            <a:ext cx="731520" cy="731520"/>
          </a:xfrm>
          <a:prstGeom prst="ellipse">
            <a:avLst/>
          </a:prstGeom>
          <a:ln w="19050">
            <a:solidFill>
              <a:srgbClr val="C9A227"/>
            </a:solidFill>
          </a:ln>
        </p:spPr>
      </p:pic>
      <p:sp>
        <p:nvSpPr>
          <p:cNvPr id="29" name="TextBox 28"/>
          <p:cNvSpPr txBox="1"/>
          <p:nvPr/>
        </p:nvSpPr>
        <p:spPr>
          <a:xfrm>
            <a:off x="792327" y="6089904"/>
            <a:ext cx="2011680" cy="457200"/>
          </a:xfrm>
          <a:prstGeom prst="rect">
            <a:avLst/>
          </a:prstGeom>
          <a:noFill/>
        </p:spPr>
        <p:txBody>
          <a:bodyPr wrap="square">
            <a:spAutoFit/>
          </a:bodyPr>
          <a:lstStyle/>
          <a:p>
            <a:pPr algn="ctr"/>
            <a:r>
              <a:rPr sz="900" b="1" i="0">
                <a:solidFill>
                  <a:srgbClr val="1A3A5C"/>
                </a:solidFill>
                <a:latin typeface="Calibri"/>
              </a:rPr>
              <a:t>Prof Dr Ivan Mijaković</a:t>
            </a:r>
          </a:p>
          <a:p>
            <a:pPr algn="ctr">
              <a:spcBef>
                <a:spcPts val="400"/>
              </a:spcBef>
              <a:spcAft>
                <a:spcPts val="200"/>
              </a:spcAft>
            </a:pPr>
            <a:r>
              <a:rPr sz="800" b="0" i="0">
                <a:solidFill>
                  <a:srgbClr val="888888"/>
                </a:solidFill>
                <a:latin typeface="Calibri"/>
              </a:rPr>
              <a:t>Chalmers &amp; DTU</a:t>
            </a:r>
          </a:p>
        </p:txBody>
      </p:sp>
      <p:pic>
        <p:nvPicPr>
          <p:cNvPr id="30" name="Picture 29" descr="nielsen_sq.jpg"/>
          <p:cNvPicPr>
            <a:picLocks noChangeAspect="1"/>
          </p:cNvPicPr>
          <p:nvPr/>
        </p:nvPicPr>
        <p:blipFill>
          <a:blip r:embed="rId15"/>
          <a:stretch>
            <a:fillRect/>
          </a:stretch>
        </p:blipFill>
        <p:spPr>
          <a:xfrm>
            <a:off x="3581247" y="5330952"/>
            <a:ext cx="731520" cy="731520"/>
          </a:xfrm>
          <a:prstGeom prst="ellipse">
            <a:avLst/>
          </a:prstGeom>
          <a:ln w="19050">
            <a:solidFill>
              <a:srgbClr val="C9A227"/>
            </a:solidFill>
          </a:ln>
        </p:spPr>
      </p:pic>
      <p:sp>
        <p:nvSpPr>
          <p:cNvPr id="31" name="TextBox 30"/>
          <p:cNvSpPr txBox="1"/>
          <p:nvPr/>
        </p:nvSpPr>
        <p:spPr>
          <a:xfrm>
            <a:off x="2941167" y="6089904"/>
            <a:ext cx="2011680" cy="457200"/>
          </a:xfrm>
          <a:prstGeom prst="rect">
            <a:avLst/>
          </a:prstGeom>
          <a:noFill/>
        </p:spPr>
        <p:txBody>
          <a:bodyPr wrap="square">
            <a:spAutoFit/>
          </a:bodyPr>
          <a:lstStyle/>
          <a:p>
            <a:pPr algn="ctr"/>
            <a:r>
              <a:rPr sz="900" b="1" i="0">
                <a:solidFill>
                  <a:srgbClr val="1A3A5C"/>
                </a:solidFill>
                <a:latin typeface="Calibri"/>
              </a:rPr>
              <a:t>Prof Dr Jens Nielsen</a:t>
            </a:r>
          </a:p>
          <a:p>
            <a:pPr algn="ctr">
              <a:spcBef>
                <a:spcPts val="400"/>
              </a:spcBef>
              <a:spcAft>
                <a:spcPts val="200"/>
              </a:spcAft>
            </a:pPr>
            <a:r>
              <a:rPr sz="800" b="0" i="0">
                <a:solidFill>
                  <a:srgbClr val="888888"/>
                </a:solidFill>
                <a:latin typeface="Calibri"/>
              </a:rPr>
              <a:t>BioInnovation Institute &amp; Chalmers</a:t>
            </a:r>
          </a:p>
        </p:txBody>
      </p:sp>
      <p:pic>
        <p:nvPicPr>
          <p:cNvPr id="32" name="Picture 31" descr="aleksej_sq.jpg"/>
          <p:cNvPicPr>
            <a:picLocks noChangeAspect="1"/>
          </p:cNvPicPr>
          <p:nvPr/>
        </p:nvPicPr>
        <p:blipFill>
          <a:blip r:embed="rId16"/>
          <a:stretch>
            <a:fillRect/>
          </a:stretch>
        </p:blipFill>
        <p:spPr>
          <a:xfrm>
            <a:off x="5730087" y="5330952"/>
            <a:ext cx="731520" cy="731520"/>
          </a:xfrm>
          <a:prstGeom prst="ellipse">
            <a:avLst/>
          </a:prstGeom>
          <a:ln w="19050">
            <a:solidFill>
              <a:srgbClr val="C9A227"/>
            </a:solidFill>
          </a:ln>
        </p:spPr>
      </p:pic>
      <p:sp>
        <p:nvSpPr>
          <p:cNvPr id="33" name="TextBox 32"/>
          <p:cNvSpPr txBox="1"/>
          <p:nvPr/>
        </p:nvSpPr>
        <p:spPr>
          <a:xfrm>
            <a:off x="5090007" y="6089904"/>
            <a:ext cx="2011680" cy="457200"/>
          </a:xfrm>
          <a:prstGeom prst="rect">
            <a:avLst/>
          </a:prstGeom>
          <a:noFill/>
        </p:spPr>
        <p:txBody>
          <a:bodyPr wrap="square">
            <a:spAutoFit/>
          </a:bodyPr>
          <a:lstStyle/>
          <a:p>
            <a:pPr algn="ctr"/>
            <a:r>
              <a:rPr sz="900" b="1" i="0">
                <a:solidFill>
                  <a:srgbClr val="1A3A5C"/>
                </a:solidFill>
                <a:latin typeface="Calibri"/>
              </a:rPr>
              <a:t>Prof Dr Aleksej Zelezniak</a:t>
            </a:r>
          </a:p>
          <a:p>
            <a:pPr algn="ctr">
              <a:spcBef>
                <a:spcPts val="400"/>
              </a:spcBef>
              <a:spcAft>
                <a:spcPts val="200"/>
              </a:spcAft>
            </a:pPr>
            <a:r>
              <a:rPr sz="800" b="0" i="0">
                <a:solidFill>
                  <a:srgbClr val="888888"/>
                </a:solidFill>
                <a:latin typeface="Calibri"/>
              </a:rPr>
              <a:t>Chalmers &amp; Vilnius</a:t>
            </a:r>
          </a:p>
        </p:txBody>
      </p:sp>
      <p:pic>
        <p:nvPicPr>
          <p:cNvPr id="34" name="Picture 33" descr="jan_zrimec_sq.jpg"/>
          <p:cNvPicPr>
            <a:picLocks noChangeAspect="1"/>
          </p:cNvPicPr>
          <p:nvPr/>
        </p:nvPicPr>
        <p:blipFill>
          <a:blip r:embed="rId17"/>
          <a:stretch>
            <a:fillRect/>
          </a:stretch>
        </p:blipFill>
        <p:spPr>
          <a:xfrm>
            <a:off x="7878927" y="5330952"/>
            <a:ext cx="731520" cy="731520"/>
          </a:xfrm>
          <a:prstGeom prst="ellipse">
            <a:avLst/>
          </a:prstGeom>
          <a:ln w="19050">
            <a:solidFill>
              <a:srgbClr val="C9A227"/>
            </a:solidFill>
          </a:ln>
        </p:spPr>
      </p:pic>
      <p:sp>
        <p:nvSpPr>
          <p:cNvPr id="35" name="TextBox 34"/>
          <p:cNvSpPr txBox="1"/>
          <p:nvPr/>
        </p:nvSpPr>
        <p:spPr>
          <a:xfrm>
            <a:off x="7238847" y="6089904"/>
            <a:ext cx="2011680" cy="457200"/>
          </a:xfrm>
          <a:prstGeom prst="rect">
            <a:avLst/>
          </a:prstGeom>
          <a:noFill/>
        </p:spPr>
        <p:txBody>
          <a:bodyPr wrap="square">
            <a:spAutoFit/>
          </a:bodyPr>
          <a:lstStyle/>
          <a:p>
            <a:pPr algn="ctr"/>
            <a:r>
              <a:rPr sz="900" b="1" i="0">
                <a:solidFill>
                  <a:srgbClr val="1A3A5C"/>
                </a:solidFill>
                <a:latin typeface="Calibri"/>
              </a:rPr>
              <a:t>Dr Jan Zrimec</a:t>
            </a:r>
          </a:p>
          <a:p>
            <a:pPr algn="ctr">
              <a:spcBef>
                <a:spcPts val="400"/>
              </a:spcBef>
              <a:spcAft>
                <a:spcPts val="200"/>
              </a:spcAft>
            </a:pPr>
            <a:r>
              <a:rPr sz="800" b="0" i="0">
                <a:solidFill>
                  <a:srgbClr val="888888"/>
                </a:solidFill>
                <a:latin typeface="Calibri"/>
              </a:rPr>
              <a:t>NIB Slovenia &amp; Chalmers</a:t>
            </a:r>
          </a:p>
        </p:txBody>
      </p:sp>
      <p:pic>
        <p:nvPicPr>
          <p:cNvPr id="36" name="Picture 35" descr="filip_sq.jpg"/>
          <p:cNvPicPr>
            <a:picLocks noChangeAspect="1"/>
          </p:cNvPicPr>
          <p:nvPr/>
        </p:nvPicPr>
        <p:blipFill>
          <a:blip r:embed="rId18"/>
          <a:stretch>
            <a:fillRect/>
          </a:stretch>
        </p:blipFill>
        <p:spPr>
          <a:xfrm>
            <a:off x="10027767" y="5330952"/>
            <a:ext cx="731520" cy="731520"/>
          </a:xfrm>
          <a:prstGeom prst="ellipse">
            <a:avLst/>
          </a:prstGeom>
          <a:ln w="19050">
            <a:solidFill>
              <a:srgbClr val="C9A227"/>
            </a:solidFill>
          </a:ln>
        </p:spPr>
      </p:pic>
      <p:sp>
        <p:nvSpPr>
          <p:cNvPr id="37" name="TextBox 36"/>
          <p:cNvSpPr txBox="1"/>
          <p:nvPr/>
        </p:nvSpPr>
        <p:spPr>
          <a:xfrm>
            <a:off x="9387687" y="6089904"/>
            <a:ext cx="2011680" cy="457200"/>
          </a:xfrm>
          <a:prstGeom prst="rect">
            <a:avLst/>
          </a:prstGeom>
          <a:noFill/>
        </p:spPr>
        <p:txBody>
          <a:bodyPr wrap="square">
            <a:spAutoFit/>
          </a:bodyPr>
          <a:lstStyle/>
          <a:p>
            <a:pPr algn="ctr"/>
            <a:r>
              <a:rPr sz="900" b="1" i="0">
                <a:solidFill>
                  <a:srgbClr val="1A3A5C"/>
                </a:solidFill>
                <a:latin typeface="Calibri"/>
              </a:rPr>
              <a:t>Filip Buric</a:t>
            </a:r>
          </a:p>
          <a:p>
            <a:pPr algn="ctr">
              <a:spcBef>
                <a:spcPts val="400"/>
              </a:spcBef>
              <a:spcAft>
                <a:spcPts val="200"/>
              </a:spcAft>
            </a:pPr>
            <a:r>
              <a:rPr sz="800" b="0" i="0">
                <a:solidFill>
                  <a:srgbClr val="888888"/>
                </a:solidFill>
                <a:latin typeface="Calibri"/>
              </a:rPr>
              <a:t>Chalmers University</a:t>
            </a:r>
          </a:p>
        </p:txBody>
      </p:sp>
      <p:sp>
        <p:nvSpPr>
          <p:cNvPr id="38" name="TextBox 37"/>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pPr algn="l"/>
            <a:r>
              <a:rPr sz="3200" b="1" i="0">
                <a:solidFill>
                  <a:srgbClr val="1A3A5C"/>
                </a:solidFill>
                <a:latin typeface="Calibri"/>
              </a:rPr>
              <a:t>Research Roadmap</a:t>
            </a:r>
          </a:p>
        </p:txBody>
      </p:sp>
      <p:pic>
        <p:nvPicPr>
          <p:cNvPr id="3" name="Picture 2" descr="botanical-lab-work-cut.png"/>
          <p:cNvPicPr>
            <a:picLocks noChangeAspect="1"/>
          </p:cNvPicPr>
          <p:nvPr/>
        </p:nvPicPr>
        <p:blipFill>
          <a:blip r:embed="rId2"/>
          <a:stretch>
            <a:fillRect/>
          </a:stretch>
        </p:blipFill>
        <p:spPr>
          <a:xfrm>
            <a:off x="1097280" y="1463040"/>
            <a:ext cx="1319479" cy="1920240"/>
          </a:xfrm>
          <a:prstGeom prst="rect">
            <a:avLst/>
          </a:prstGeom>
        </p:spPr>
      </p:pic>
      <p:pic>
        <p:nvPicPr>
          <p:cNvPr id="4" name="Picture 3" descr="botanical-ml-analysis-cut.png"/>
          <p:cNvPicPr>
            <a:picLocks noChangeAspect="1"/>
          </p:cNvPicPr>
          <p:nvPr/>
        </p:nvPicPr>
        <p:blipFill>
          <a:blip r:embed="rId3"/>
          <a:stretch>
            <a:fillRect/>
          </a:stretch>
        </p:blipFill>
        <p:spPr>
          <a:xfrm>
            <a:off x="7863840" y="1463040"/>
            <a:ext cx="1286561" cy="1920240"/>
          </a:xfrm>
          <a:prstGeom prst="rect">
            <a:avLst/>
          </a:prstGeom>
        </p:spPr>
      </p:pic>
      <p:sp>
        <p:nvSpPr>
          <p:cNvPr id="5" name="TextBox 4"/>
          <p:cNvSpPr txBox="1"/>
          <p:nvPr/>
        </p:nvSpPr>
        <p:spPr>
          <a:xfrm>
            <a:off x="640080" y="3566160"/>
            <a:ext cx="4572000" cy="2377440"/>
          </a:xfrm>
          <a:prstGeom prst="rect">
            <a:avLst/>
          </a:prstGeom>
          <a:noFill/>
        </p:spPr>
        <p:txBody>
          <a:bodyPr wrap="square">
            <a:spAutoFit/>
          </a:bodyPr>
          <a:lstStyle/>
          <a:p>
            <a:pPr algn="l"/>
            <a:r>
              <a:rPr sz="1200" b="1" i="0">
                <a:solidFill>
                  <a:srgbClr val="4A6741"/>
                </a:solidFill>
                <a:latin typeface="Calibri"/>
              </a:rPr>
              <a:t>PHASE I: FOUNDATION</a:t>
            </a:r>
          </a:p>
          <a:p>
            <a:pPr algn="l">
              <a:spcBef>
                <a:spcPts val="400"/>
              </a:spcBef>
              <a:spcAft>
                <a:spcPts val="200"/>
              </a:spcAft>
            </a:pPr>
            <a:r>
              <a:rPr sz="2000" b="1" i="0">
                <a:solidFill>
                  <a:srgbClr val="1A3A5C"/>
                </a:solidFill>
                <a:latin typeface="Calibri"/>
              </a:rPr>
              <a:t>Experimental Lab Work</a:t>
            </a:r>
          </a:p>
          <a:p>
            <a:pPr algn="l">
              <a:spcBef>
                <a:spcPts val="400"/>
              </a:spcBef>
              <a:spcAft>
                <a:spcPts val="200"/>
              </a:spcAft>
            </a:pPr>
            <a:r>
              <a:rPr sz="1400" b="0" i="0">
                <a:solidFill>
                  <a:srgbClr val="555555"/>
                </a:solidFill>
                <a:latin typeface="Calibri"/>
              </a:rPr>
              <a:t>GC MS profiling and bioactivity validation of 4 commercial EOs; development of calcium alginate delivery systems.</a:t>
            </a:r>
          </a:p>
          <a:p>
            <a:pPr algn="l">
              <a:spcBef>
                <a:spcPts val="400"/>
              </a:spcBef>
              <a:spcAft>
                <a:spcPts val="200"/>
              </a:spcAft>
            </a:pPr>
            <a:r>
              <a:rPr sz="1300" b="1" i="0">
                <a:solidFill>
                  <a:srgbClr val="4A6741"/>
                </a:solidFill>
                <a:latin typeface="Calibri"/>
              </a:rPr>
              <a:t>Outcome: Encapsulation Strategy</a:t>
            </a:r>
          </a:p>
        </p:txBody>
      </p:sp>
      <p:sp>
        <p:nvSpPr>
          <p:cNvPr id="6" name="TextBox 5"/>
          <p:cNvSpPr txBox="1"/>
          <p:nvPr/>
        </p:nvSpPr>
        <p:spPr>
          <a:xfrm>
            <a:off x="7040880" y="3566160"/>
            <a:ext cx="4572000" cy="2377440"/>
          </a:xfrm>
          <a:prstGeom prst="rect">
            <a:avLst/>
          </a:prstGeom>
          <a:noFill/>
        </p:spPr>
        <p:txBody>
          <a:bodyPr wrap="square">
            <a:spAutoFit/>
          </a:bodyPr>
          <a:lstStyle/>
          <a:p>
            <a:pPr algn="l"/>
            <a:r>
              <a:rPr sz="1200" b="1" i="0">
                <a:solidFill>
                  <a:srgbClr val="1A3A5C"/>
                </a:solidFill>
                <a:latin typeface="Calibri"/>
              </a:rPr>
              <a:t>PHASE II: DATA DRIVEN ANALYSIS</a:t>
            </a:r>
          </a:p>
          <a:p>
            <a:pPr algn="l">
              <a:spcBef>
                <a:spcPts val="400"/>
              </a:spcBef>
              <a:spcAft>
                <a:spcPts val="200"/>
              </a:spcAft>
            </a:pPr>
            <a:r>
              <a:rPr sz="2000" b="1" i="0">
                <a:solidFill>
                  <a:srgbClr val="1A3A5C"/>
                </a:solidFill>
                <a:latin typeface="Calibri"/>
              </a:rPr>
              <a:t>Machine Learning &amp; Meta Analysis</a:t>
            </a:r>
          </a:p>
          <a:p>
            <a:pPr algn="l">
              <a:spcBef>
                <a:spcPts val="400"/>
              </a:spcBef>
              <a:spcAft>
                <a:spcPts val="200"/>
              </a:spcAft>
            </a:pPr>
            <a:r>
              <a:rPr sz="1400" b="0" i="0">
                <a:solidFill>
                  <a:srgbClr val="555555"/>
                </a:solidFill>
                <a:latin typeface="Calibri"/>
              </a:rPr>
              <a:t>Decoding molecular drivers of antimicrobial activity through large scale data mining.</a:t>
            </a:r>
          </a:p>
          <a:p>
            <a:pPr algn="l">
              <a:spcBef>
                <a:spcPts val="400"/>
              </a:spcBef>
              <a:spcAft>
                <a:spcPts val="200"/>
              </a:spcAft>
            </a:pPr>
            <a:r>
              <a:rPr sz="1300" b="1" i="0">
                <a:solidFill>
                  <a:srgbClr val="1A3A5C"/>
                </a:solidFill>
                <a:latin typeface="Calibri"/>
              </a:rPr>
              <a:t>Outcome: Molecular Insight</a:t>
            </a:r>
          </a:p>
        </p:txBody>
      </p:sp>
      <p:sp>
        <p:nvSpPr>
          <p:cNvPr id="7" name="TextBox 6"/>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064240" cy="914400"/>
          </a:xfrm>
          <a:prstGeom prst="rect">
            <a:avLst/>
          </a:prstGeom>
          <a:noFill/>
        </p:spPr>
        <p:txBody>
          <a:bodyPr wrap="none">
            <a:spAutoFit/>
          </a:bodyPr>
          <a:lstStyle/>
          <a:p>
            <a:pPr algn="ctr"/>
            <a:r>
              <a:rPr sz="4400" b="1" i="0">
                <a:solidFill>
                  <a:srgbClr val="1A3A5C"/>
                </a:solidFill>
                <a:latin typeface="Calibri"/>
              </a:rPr>
              <a:t>Why?</a:t>
            </a:r>
          </a:p>
        </p:txBody>
      </p:sp>
      <p:sp>
        <p:nvSpPr>
          <p:cNvPr id="3" name="Rounded Rectangle 2"/>
          <p:cNvSpPr/>
          <p:nvPr/>
        </p:nvSpPr>
        <p:spPr>
          <a:xfrm>
            <a:off x="1280160" y="1920240"/>
            <a:ext cx="9601200" cy="114300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80160" y="1920240"/>
            <a:ext cx="128016" cy="1143000"/>
          </a:xfrm>
          <a:prstGeom prst="rect">
            <a:avLst/>
          </a:prstGeom>
          <a:solidFill>
            <a:srgbClr val="B135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45920" y="2029968"/>
            <a:ext cx="9052560" cy="960120"/>
          </a:xfrm>
          <a:prstGeom prst="rect">
            <a:avLst/>
          </a:prstGeom>
          <a:noFill/>
        </p:spPr>
        <p:txBody>
          <a:bodyPr wrap="square">
            <a:spAutoFit/>
          </a:bodyPr>
          <a:lstStyle/>
          <a:p>
            <a:pPr algn="l"/>
            <a:r>
              <a:rPr sz="1800" b="1" i="0">
                <a:solidFill>
                  <a:srgbClr val="1A3A5C"/>
                </a:solidFill>
                <a:latin typeface="Calibri"/>
              </a:rPr>
              <a:t>Why did we focus on </a:t>
            </a:r>
            <a:r>
              <a:rPr sz="1800" b="1" i="1">
                <a:solidFill>
                  <a:srgbClr val="1A3A5C"/>
                </a:solidFill>
                <a:latin typeface="Calibri"/>
              </a:rPr>
              <a:t>Salmonella</a:t>
            </a:r>
            <a:r>
              <a:rPr sz="1800" b="1" i="0">
                <a:solidFill>
                  <a:srgbClr val="1A3A5C"/>
                </a:solidFill>
                <a:latin typeface="Calibri"/>
              </a:rPr>
              <a:t>?</a:t>
            </a:r>
          </a:p>
          <a:p>
            <a:pPr algn="l">
              <a:spcBef>
                <a:spcPts val="400"/>
              </a:spcBef>
              <a:spcAft>
                <a:spcPts val="200"/>
              </a:spcAft>
            </a:pPr>
            <a:r>
              <a:rPr sz="1300" b="0" i="0">
                <a:solidFill>
                  <a:srgbClr val="555555"/>
                </a:solidFill>
                <a:latin typeface="Calibri"/>
              </a:rPr>
              <a:t>Major foodborne pathogen · food safety model · survives in food · inflammation · test bed for new antimicrobials</a:t>
            </a:r>
          </a:p>
        </p:txBody>
      </p:sp>
      <p:sp>
        <p:nvSpPr>
          <p:cNvPr id="6" name="Rounded Rectangle 5"/>
          <p:cNvSpPr/>
          <p:nvPr/>
        </p:nvSpPr>
        <p:spPr>
          <a:xfrm>
            <a:off x="1280160" y="3291840"/>
            <a:ext cx="9601200" cy="114300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80160" y="3291840"/>
            <a:ext cx="128016" cy="1143000"/>
          </a:xfrm>
          <a:prstGeom prst="rect">
            <a:avLst/>
          </a:prstGeom>
          <a:solidFill>
            <a:srgbClr val="4A67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3401568"/>
            <a:ext cx="9052560" cy="960120"/>
          </a:xfrm>
          <a:prstGeom prst="rect">
            <a:avLst/>
          </a:prstGeom>
          <a:noFill/>
        </p:spPr>
        <p:txBody>
          <a:bodyPr wrap="square">
            <a:spAutoFit/>
          </a:bodyPr>
          <a:lstStyle/>
          <a:p>
            <a:pPr algn="l"/>
            <a:r>
              <a:rPr sz="1800" b="1" i="0">
                <a:solidFill>
                  <a:srgbClr val="1A3A5C"/>
                </a:solidFill>
                <a:latin typeface="Calibri"/>
              </a:rPr>
              <a:t>Why study essential oils in 2026?</a:t>
            </a:r>
          </a:p>
          <a:p>
            <a:pPr algn="l">
              <a:spcBef>
                <a:spcPts val="400"/>
              </a:spcBef>
              <a:spcAft>
                <a:spcPts val="200"/>
              </a:spcAft>
            </a:pPr>
            <a:r>
              <a:rPr sz="1300" b="0" i="0">
                <a:solidFill>
                  <a:srgbClr val="555555"/>
                </a:solidFill>
                <a:latin typeface="Calibri"/>
              </a:rPr>
              <a:t>Plant chemical innovation · complex bioactive mixtures · ML &amp; CRISPR · engineered microbes · beyond extraction</a:t>
            </a:r>
          </a:p>
        </p:txBody>
      </p:sp>
      <p:sp>
        <p:nvSpPr>
          <p:cNvPr id="9" name="Rounded Rectangle 8"/>
          <p:cNvSpPr/>
          <p:nvPr/>
        </p:nvSpPr>
        <p:spPr>
          <a:xfrm>
            <a:off x="1280160" y="4663440"/>
            <a:ext cx="9601200" cy="114300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80160" y="4663440"/>
            <a:ext cx="128016" cy="1143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45920" y="4773168"/>
            <a:ext cx="9052560" cy="960120"/>
          </a:xfrm>
          <a:prstGeom prst="rect">
            <a:avLst/>
          </a:prstGeom>
          <a:noFill/>
        </p:spPr>
        <p:txBody>
          <a:bodyPr wrap="square">
            <a:spAutoFit/>
          </a:bodyPr>
          <a:lstStyle/>
          <a:p>
            <a:pPr algn="l"/>
            <a:r>
              <a:rPr sz="1800" b="1" i="0">
                <a:solidFill>
                  <a:srgbClr val="1A3A5C"/>
                </a:solidFill>
                <a:latin typeface="Calibri"/>
              </a:rPr>
              <a:t>Why machine learning?</a:t>
            </a:r>
          </a:p>
          <a:p>
            <a:pPr algn="l">
              <a:spcBef>
                <a:spcPts val="400"/>
              </a:spcBef>
              <a:spcAft>
                <a:spcPts val="200"/>
              </a:spcAft>
            </a:pPr>
            <a:r>
              <a:rPr sz="1300" b="0" i="0">
                <a:solidFill>
                  <a:srgbClr val="555555"/>
                </a:solidFill>
                <a:latin typeface="Calibri"/>
              </a:rPr>
              <a:t>Hundreds of compounds · impractical individual testing · patterns across many oils</a:t>
            </a:r>
          </a:p>
        </p:txBody>
      </p:sp>
      <p:sp>
        <p:nvSpPr>
          <p:cNvPr id="12" name="TextBox 11"/>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
            <a:ext cx="11064240" cy="320040"/>
          </a:xfrm>
          <a:prstGeom prst="rect">
            <a:avLst/>
          </a:prstGeom>
          <a:noFill/>
        </p:spPr>
        <p:txBody>
          <a:bodyPr wrap="none">
            <a:spAutoFit/>
          </a:bodyPr>
          <a:lstStyle/>
          <a:p>
            <a:pPr algn="l"/>
            <a:r>
              <a:rPr sz="1400" b="1" i="0">
                <a:solidFill>
                  <a:srgbClr val="4A6741"/>
                </a:solidFill>
                <a:latin typeface="Calibri"/>
              </a:rPr>
              <a:t>PHASE I</a:t>
            </a:r>
          </a:p>
        </p:txBody>
      </p:sp>
      <p:sp>
        <p:nvSpPr>
          <p:cNvPr id="3" name="TextBox 2"/>
          <p:cNvSpPr txBox="1"/>
          <p:nvPr/>
        </p:nvSpPr>
        <p:spPr>
          <a:xfrm>
            <a:off x="548640" y="411480"/>
            <a:ext cx="11064240" cy="640080"/>
          </a:xfrm>
          <a:prstGeom prst="rect">
            <a:avLst/>
          </a:prstGeom>
          <a:noFill/>
        </p:spPr>
        <p:txBody>
          <a:bodyPr wrap="none">
            <a:spAutoFit/>
          </a:bodyPr>
          <a:lstStyle/>
          <a:p>
            <a:pPr algn="l"/>
            <a:r>
              <a:rPr sz="3200" b="1" i="0">
                <a:solidFill>
                  <a:srgbClr val="1A3A5C"/>
                </a:solidFill>
                <a:latin typeface="Calibri"/>
              </a:rPr>
              <a:t>Lab Experiments</a:t>
            </a:r>
          </a:p>
        </p:txBody>
      </p:sp>
      <p:pic>
        <p:nvPicPr>
          <p:cNvPr id="4" name="Picture 3" descr="botanical-teatree-cut.png"/>
          <p:cNvPicPr>
            <a:picLocks noChangeAspect="1"/>
          </p:cNvPicPr>
          <p:nvPr/>
        </p:nvPicPr>
        <p:blipFill>
          <a:blip r:embed="rId2"/>
          <a:stretch>
            <a:fillRect/>
          </a:stretch>
        </p:blipFill>
        <p:spPr>
          <a:xfrm>
            <a:off x="1097280" y="1143000"/>
            <a:ext cx="654253" cy="1234440"/>
          </a:xfrm>
          <a:prstGeom prst="rect">
            <a:avLst/>
          </a:prstGeom>
        </p:spPr>
      </p:pic>
      <p:sp>
        <p:nvSpPr>
          <p:cNvPr id="5" name="TextBox 4"/>
          <p:cNvSpPr txBox="1"/>
          <p:nvPr/>
        </p:nvSpPr>
        <p:spPr>
          <a:xfrm>
            <a:off x="914400" y="2423160"/>
            <a:ext cx="2194560" cy="548640"/>
          </a:xfrm>
          <a:prstGeom prst="rect">
            <a:avLst/>
          </a:prstGeom>
          <a:noFill/>
        </p:spPr>
        <p:txBody>
          <a:bodyPr wrap="square">
            <a:spAutoFit/>
          </a:bodyPr>
          <a:lstStyle/>
          <a:p>
            <a:pPr algn="ctr"/>
            <a:r>
              <a:rPr sz="1200" b="1" i="0">
                <a:solidFill>
                  <a:srgbClr val="1A3A5C"/>
                </a:solidFill>
                <a:latin typeface="Calibri"/>
              </a:rPr>
              <a:t>Tea tree</a:t>
            </a:r>
          </a:p>
          <a:p>
            <a:pPr algn="ctr">
              <a:spcBef>
                <a:spcPts val="400"/>
              </a:spcBef>
              <a:spcAft>
                <a:spcPts val="200"/>
              </a:spcAft>
            </a:pPr>
            <a:r>
              <a:rPr sz="1100" b="0" i="0">
                <a:solidFill>
                  <a:srgbClr val="4A6741"/>
                </a:solidFill>
                <a:latin typeface="Calibri"/>
              </a:rPr>
              <a:t>terpinen-4-ol</a:t>
            </a:r>
          </a:p>
        </p:txBody>
      </p:sp>
      <p:pic>
        <p:nvPicPr>
          <p:cNvPr id="6" name="Picture 5" descr="botanical-lavender-cut.png"/>
          <p:cNvPicPr>
            <a:picLocks noChangeAspect="1"/>
          </p:cNvPicPr>
          <p:nvPr/>
        </p:nvPicPr>
        <p:blipFill>
          <a:blip r:embed="rId3"/>
          <a:stretch>
            <a:fillRect/>
          </a:stretch>
        </p:blipFill>
        <p:spPr>
          <a:xfrm>
            <a:off x="3749039" y="1143000"/>
            <a:ext cx="585477" cy="1234440"/>
          </a:xfrm>
          <a:prstGeom prst="rect">
            <a:avLst/>
          </a:prstGeom>
        </p:spPr>
      </p:pic>
      <p:sp>
        <p:nvSpPr>
          <p:cNvPr id="7" name="TextBox 6"/>
          <p:cNvSpPr txBox="1"/>
          <p:nvPr/>
        </p:nvSpPr>
        <p:spPr>
          <a:xfrm>
            <a:off x="3566159" y="2423160"/>
            <a:ext cx="2194560" cy="548640"/>
          </a:xfrm>
          <a:prstGeom prst="rect">
            <a:avLst/>
          </a:prstGeom>
          <a:noFill/>
        </p:spPr>
        <p:txBody>
          <a:bodyPr wrap="square">
            <a:spAutoFit/>
          </a:bodyPr>
          <a:lstStyle/>
          <a:p>
            <a:pPr algn="ctr"/>
            <a:r>
              <a:rPr sz="1200" b="1" i="0">
                <a:solidFill>
                  <a:srgbClr val="1A3A5C"/>
                </a:solidFill>
                <a:latin typeface="Calibri"/>
              </a:rPr>
              <a:t>Lavender</a:t>
            </a:r>
          </a:p>
          <a:p>
            <a:pPr algn="ctr">
              <a:spcBef>
                <a:spcPts val="400"/>
              </a:spcBef>
              <a:spcAft>
                <a:spcPts val="200"/>
              </a:spcAft>
            </a:pPr>
            <a:r>
              <a:rPr sz="1100" b="0" i="0">
                <a:solidFill>
                  <a:srgbClr val="4A6741"/>
                </a:solidFill>
                <a:latin typeface="Calibri"/>
              </a:rPr>
              <a:t>linalyl acetate</a:t>
            </a:r>
          </a:p>
        </p:txBody>
      </p:sp>
      <p:pic>
        <p:nvPicPr>
          <p:cNvPr id="8" name="Picture 7" descr="botanical-bergamot-cut.png"/>
          <p:cNvPicPr>
            <a:picLocks noChangeAspect="1"/>
          </p:cNvPicPr>
          <p:nvPr/>
        </p:nvPicPr>
        <p:blipFill>
          <a:blip r:embed="rId4"/>
          <a:stretch>
            <a:fillRect/>
          </a:stretch>
        </p:blipFill>
        <p:spPr>
          <a:xfrm>
            <a:off x="6400800" y="1143000"/>
            <a:ext cx="782988" cy="1234440"/>
          </a:xfrm>
          <a:prstGeom prst="rect">
            <a:avLst/>
          </a:prstGeom>
        </p:spPr>
      </p:pic>
      <p:sp>
        <p:nvSpPr>
          <p:cNvPr id="9" name="TextBox 8"/>
          <p:cNvSpPr txBox="1"/>
          <p:nvPr/>
        </p:nvSpPr>
        <p:spPr>
          <a:xfrm>
            <a:off x="6217920" y="2423160"/>
            <a:ext cx="2194560" cy="548640"/>
          </a:xfrm>
          <a:prstGeom prst="rect">
            <a:avLst/>
          </a:prstGeom>
          <a:noFill/>
        </p:spPr>
        <p:txBody>
          <a:bodyPr wrap="square">
            <a:spAutoFit/>
          </a:bodyPr>
          <a:lstStyle/>
          <a:p>
            <a:pPr algn="ctr"/>
            <a:r>
              <a:rPr sz="1200" b="1" i="0">
                <a:solidFill>
                  <a:srgbClr val="1A3A5C"/>
                </a:solidFill>
                <a:latin typeface="Calibri"/>
              </a:rPr>
              <a:t>Bergamot</a:t>
            </a:r>
          </a:p>
          <a:p>
            <a:pPr algn="ctr">
              <a:spcBef>
                <a:spcPts val="400"/>
              </a:spcBef>
              <a:spcAft>
                <a:spcPts val="200"/>
              </a:spcAft>
            </a:pPr>
            <a:r>
              <a:rPr sz="1100" b="0" i="0">
                <a:solidFill>
                  <a:srgbClr val="4A6741"/>
                </a:solidFill>
                <a:latin typeface="Calibri"/>
              </a:rPr>
              <a:t>linalyl acetate</a:t>
            </a:r>
          </a:p>
        </p:txBody>
      </p:sp>
      <p:pic>
        <p:nvPicPr>
          <p:cNvPr id="10" name="Picture 9" descr="botanical-peppermint-cut.png"/>
          <p:cNvPicPr>
            <a:picLocks noChangeAspect="1"/>
          </p:cNvPicPr>
          <p:nvPr/>
        </p:nvPicPr>
        <p:blipFill>
          <a:blip r:embed="rId5"/>
          <a:stretch>
            <a:fillRect/>
          </a:stretch>
        </p:blipFill>
        <p:spPr>
          <a:xfrm>
            <a:off x="9052559" y="1143000"/>
            <a:ext cx="564315" cy="1234440"/>
          </a:xfrm>
          <a:prstGeom prst="rect">
            <a:avLst/>
          </a:prstGeom>
        </p:spPr>
      </p:pic>
      <p:sp>
        <p:nvSpPr>
          <p:cNvPr id="11" name="TextBox 10"/>
          <p:cNvSpPr txBox="1"/>
          <p:nvPr/>
        </p:nvSpPr>
        <p:spPr>
          <a:xfrm>
            <a:off x="8869680" y="2423160"/>
            <a:ext cx="2194560" cy="548640"/>
          </a:xfrm>
          <a:prstGeom prst="rect">
            <a:avLst/>
          </a:prstGeom>
          <a:noFill/>
        </p:spPr>
        <p:txBody>
          <a:bodyPr wrap="square">
            <a:spAutoFit/>
          </a:bodyPr>
          <a:lstStyle/>
          <a:p>
            <a:pPr algn="ctr"/>
            <a:r>
              <a:rPr sz="1200" b="1" i="0">
                <a:solidFill>
                  <a:srgbClr val="1A3A5C"/>
                </a:solidFill>
                <a:latin typeface="Calibri"/>
              </a:rPr>
              <a:t>Peppermint</a:t>
            </a:r>
          </a:p>
          <a:p>
            <a:pPr algn="ctr">
              <a:spcBef>
                <a:spcPts val="400"/>
              </a:spcBef>
              <a:spcAft>
                <a:spcPts val="200"/>
              </a:spcAft>
            </a:pPr>
            <a:r>
              <a:rPr sz="1100" b="0" i="0">
                <a:solidFill>
                  <a:srgbClr val="4A6741"/>
                </a:solidFill>
                <a:latin typeface="Calibri"/>
              </a:rPr>
              <a:t>isomenthol</a:t>
            </a:r>
          </a:p>
        </p:txBody>
      </p:sp>
      <p:sp>
        <p:nvSpPr>
          <p:cNvPr id="12" name="Rounded Rectangle 11"/>
          <p:cNvSpPr/>
          <p:nvPr/>
        </p:nvSpPr>
        <p:spPr>
          <a:xfrm>
            <a:off x="731520" y="3108960"/>
            <a:ext cx="3474720" cy="205740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108960"/>
            <a:ext cx="3474720" cy="73152"/>
          </a:xfrm>
          <a:prstGeom prst="rect">
            <a:avLst/>
          </a:prstGeom>
          <a:solidFill>
            <a:srgbClr val="4A67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c-ms.png"/>
          <p:cNvPicPr>
            <a:picLocks noChangeAspect="1"/>
          </p:cNvPicPr>
          <p:nvPr/>
        </p:nvPicPr>
        <p:blipFill>
          <a:blip r:embed="rId6"/>
          <a:stretch>
            <a:fillRect/>
          </a:stretch>
        </p:blipFill>
        <p:spPr>
          <a:xfrm>
            <a:off x="1783080" y="3291840"/>
            <a:ext cx="457874" cy="640080"/>
          </a:xfrm>
          <a:prstGeom prst="rect">
            <a:avLst/>
          </a:prstGeom>
        </p:spPr>
      </p:pic>
      <p:sp>
        <p:nvSpPr>
          <p:cNvPr id="15" name="TextBox 14"/>
          <p:cNvSpPr txBox="1"/>
          <p:nvPr/>
        </p:nvSpPr>
        <p:spPr>
          <a:xfrm>
            <a:off x="914400" y="4023360"/>
            <a:ext cx="3108960" cy="1051560"/>
          </a:xfrm>
          <a:prstGeom prst="rect">
            <a:avLst/>
          </a:prstGeom>
          <a:noFill/>
        </p:spPr>
        <p:txBody>
          <a:bodyPr wrap="square">
            <a:spAutoFit/>
          </a:bodyPr>
          <a:lstStyle/>
          <a:p>
            <a:pPr algn="l"/>
            <a:r>
              <a:rPr sz="1100" b="1" i="0">
                <a:solidFill>
                  <a:srgbClr val="4A6741"/>
                </a:solidFill>
                <a:latin typeface="Calibri"/>
              </a:rPr>
              <a:t>01 · Chemotyping</a:t>
            </a:r>
          </a:p>
          <a:p>
            <a:pPr algn="l">
              <a:spcBef>
                <a:spcPts val="400"/>
              </a:spcBef>
              <a:spcAft>
                <a:spcPts val="200"/>
              </a:spcAft>
            </a:pPr>
            <a:r>
              <a:rPr sz="1600" b="1" i="0">
                <a:solidFill>
                  <a:srgbClr val="1A3A5C"/>
                </a:solidFill>
                <a:latin typeface="Calibri"/>
              </a:rPr>
              <a:t>GC MS</a:t>
            </a:r>
          </a:p>
          <a:p>
            <a:pPr algn="l">
              <a:spcBef>
                <a:spcPts val="400"/>
              </a:spcBef>
              <a:spcAft>
                <a:spcPts val="200"/>
              </a:spcAft>
            </a:pPr>
            <a:r>
              <a:rPr sz="1200" b="0" i="0">
                <a:solidFill>
                  <a:srgbClr val="555555"/>
                </a:solidFill>
                <a:latin typeface="Calibri"/>
              </a:rPr>
              <a:t>Four oils · &gt;98% volatiles</a:t>
            </a:r>
          </a:p>
        </p:txBody>
      </p:sp>
      <p:sp>
        <p:nvSpPr>
          <p:cNvPr id="16" name="Rounded Rectangle 15"/>
          <p:cNvSpPr/>
          <p:nvPr/>
        </p:nvSpPr>
        <p:spPr>
          <a:xfrm>
            <a:off x="4480559" y="3108960"/>
            <a:ext cx="3474720" cy="205740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59" y="3108960"/>
            <a:ext cx="3474720" cy="73152"/>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ntimicrob.png"/>
          <p:cNvPicPr>
            <a:picLocks noChangeAspect="1"/>
          </p:cNvPicPr>
          <p:nvPr/>
        </p:nvPicPr>
        <p:blipFill>
          <a:blip r:embed="rId7"/>
          <a:stretch>
            <a:fillRect/>
          </a:stretch>
        </p:blipFill>
        <p:spPr>
          <a:xfrm>
            <a:off x="5532119" y="3291840"/>
            <a:ext cx="2036197" cy="640080"/>
          </a:xfrm>
          <a:prstGeom prst="rect">
            <a:avLst/>
          </a:prstGeom>
        </p:spPr>
      </p:pic>
      <p:sp>
        <p:nvSpPr>
          <p:cNvPr id="19" name="TextBox 18"/>
          <p:cNvSpPr txBox="1"/>
          <p:nvPr/>
        </p:nvSpPr>
        <p:spPr>
          <a:xfrm>
            <a:off x="4663440" y="4023360"/>
            <a:ext cx="3108960" cy="1051560"/>
          </a:xfrm>
          <a:prstGeom prst="rect">
            <a:avLst/>
          </a:prstGeom>
          <a:noFill/>
        </p:spPr>
        <p:txBody>
          <a:bodyPr wrap="square">
            <a:spAutoFit/>
          </a:bodyPr>
          <a:lstStyle/>
          <a:p>
            <a:pPr algn="l"/>
            <a:r>
              <a:rPr sz="1100" b="1" i="0">
                <a:solidFill>
                  <a:srgbClr val="1A3A5C"/>
                </a:solidFill>
                <a:latin typeface="Calibri"/>
              </a:rPr>
              <a:t>02 · Bioactivity</a:t>
            </a:r>
          </a:p>
          <a:p>
            <a:pPr algn="l">
              <a:spcBef>
                <a:spcPts val="400"/>
              </a:spcBef>
              <a:spcAft>
                <a:spcPts val="200"/>
              </a:spcAft>
            </a:pPr>
            <a:r>
              <a:rPr sz="1600" b="1" i="0">
                <a:solidFill>
                  <a:srgbClr val="1A3A5C"/>
                </a:solidFill>
                <a:latin typeface="Calibri"/>
              </a:rPr>
              <a:t>MIC &amp; antioxidants</a:t>
            </a:r>
          </a:p>
          <a:p>
            <a:pPr algn="l">
              <a:spcBef>
                <a:spcPts val="400"/>
              </a:spcBef>
              <a:spcAft>
                <a:spcPts val="200"/>
              </a:spcAft>
            </a:pPr>
            <a:r>
              <a:rPr sz="1200" b="0" i="1">
                <a:solidFill>
                  <a:srgbClr val="555555"/>
                </a:solidFill>
                <a:latin typeface="Calibri"/>
              </a:rPr>
              <a:t>S.</a:t>
            </a:r>
            <a:r>
              <a:rPr sz="1200" b="0" i="0">
                <a:solidFill>
                  <a:srgbClr val="555555"/>
                </a:solidFill>
                <a:latin typeface="Calibri"/>
              </a:rPr>
              <a:t> Typhimurium · DPPH / ABTS</a:t>
            </a:r>
          </a:p>
        </p:txBody>
      </p:sp>
      <p:sp>
        <p:nvSpPr>
          <p:cNvPr id="20" name="Rounded Rectangle 19"/>
          <p:cNvSpPr/>
          <p:nvPr/>
        </p:nvSpPr>
        <p:spPr>
          <a:xfrm>
            <a:off x="8229600" y="3108960"/>
            <a:ext cx="3474720" cy="205740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3108960"/>
            <a:ext cx="3474720" cy="7315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eads-shrinkage.png"/>
          <p:cNvPicPr>
            <a:picLocks noChangeAspect="1"/>
          </p:cNvPicPr>
          <p:nvPr/>
        </p:nvPicPr>
        <p:blipFill>
          <a:blip r:embed="rId8"/>
          <a:stretch>
            <a:fillRect/>
          </a:stretch>
        </p:blipFill>
        <p:spPr>
          <a:xfrm>
            <a:off x="9281160" y="3291840"/>
            <a:ext cx="2145133" cy="640080"/>
          </a:xfrm>
          <a:prstGeom prst="rect">
            <a:avLst/>
          </a:prstGeom>
        </p:spPr>
      </p:pic>
      <p:sp>
        <p:nvSpPr>
          <p:cNvPr id="23" name="TextBox 22"/>
          <p:cNvSpPr txBox="1"/>
          <p:nvPr/>
        </p:nvSpPr>
        <p:spPr>
          <a:xfrm>
            <a:off x="8412480" y="4023360"/>
            <a:ext cx="3108960" cy="1051560"/>
          </a:xfrm>
          <a:prstGeom prst="rect">
            <a:avLst/>
          </a:prstGeom>
          <a:noFill/>
        </p:spPr>
        <p:txBody>
          <a:bodyPr wrap="square">
            <a:spAutoFit/>
          </a:bodyPr>
          <a:lstStyle/>
          <a:p>
            <a:pPr algn="l"/>
            <a:r>
              <a:rPr sz="1100" b="1" i="0">
                <a:solidFill>
                  <a:srgbClr val="C9A227"/>
                </a:solidFill>
                <a:latin typeface="Calibri"/>
              </a:rPr>
              <a:t>03 · Delivery</a:t>
            </a:r>
          </a:p>
          <a:p>
            <a:pPr algn="l">
              <a:spcBef>
                <a:spcPts val="400"/>
              </a:spcBef>
              <a:spcAft>
                <a:spcPts val="200"/>
              </a:spcAft>
            </a:pPr>
            <a:r>
              <a:rPr sz="1600" b="1" i="0">
                <a:solidFill>
                  <a:srgbClr val="1A3A5C"/>
                </a:solidFill>
                <a:latin typeface="Calibri"/>
              </a:rPr>
              <a:t>Alginate beads</a:t>
            </a:r>
          </a:p>
          <a:p>
            <a:pPr algn="l">
              <a:spcBef>
                <a:spcPts val="400"/>
              </a:spcBef>
              <a:spcAft>
                <a:spcPts val="200"/>
              </a:spcAft>
            </a:pPr>
            <a:r>
              <a:rPr sz="1200" b="0" i="0">
                <a:solidFill>
                  <a:srgbClr val="555555"/>
                </a:solidFill>
                <a:latin typeface="Calibri"/>
              </a:rPr>
              <a:t>2.0 to 1.4 mm</a:t>
            </a:r>
          </a:p>
        </p:txBody>
      </p:sp>
      <p:sp>
        <p:nvSpPr>
          <p:cNvPr id="24" name="Rounded Rectangle 23"/>
          <p:cNvSpPr/>
          <p:nvPr/>
        </p:nvSpPr>
        <p:spPr>
          <a:xfrm>
            <a:off x="731520" y="5349240"/>
            <a:ext cx="10698480" cy="960120"/>
          </a:xfrm>
          <a:prstGeom prst="roundRect">
            <a:avLst/>
          </a:prstGeom>
          <a:solidFill>
            <a:srgbClr val="F7E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40680"/>
            <a:ext cx="10149840" cy="822960"/>
          </a:xfrm>
          <a:prstGeom prst="rect">
            <a:avLst/>
          </a:prstGeom>
          <a:noFill/>
        </p:spPr>
        <p:txBody>
          <a:bodyPr wrap="square">
            <a:spAutoFit/>
          </a:bodyPr>
          <a:lstStyle/>
          <a:p>
            <a:pPr algn="l"/>
            <a:r>
              <a:rPr sz="1100" b="1" i="0">
                <a:solidFill>
                  <a:srgbClr val="B13507"/>
                </a:solidFill>
                <a:latin typeface="Calibri"/>
              </a:rPr>
              <a:t>RESEARCH GAP</a:t>
            </a:r>
          </a:p>
          <a:p>
            <a:pPr algn="l">
              <a:spcBef>
                <a:spcPts val="400"/>
              </a:spcBef>
              <a:spcAft>
                <a:spcPts val="200"/>
              </a:spcAft>
            </a:pPr>
            <a:r>
              <a:rPr sz="1300" b="0" i="0">
                <a:solidFill>
                  <a:srgbClr val="1A3A5C"/>
                </a:solidFill>
                <a:latin typeface="Calibri"/>
              </a:rPr>
              <a:t>Absence of a computational way to map active chemical motifs to plants, so we no longer need to test compounds one by one in the lab.</a:t>
            </a:r>
          </a:p>
        </p:txBody>
      </p:sp>
      <p:sp>
        <p:nvSpPr>
          <p:cNvPr id="26" name="TextBox 25"/>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
            <a:ext cx="11064240" cy="320040"/>
          </a:xfrm>
          <a:prstGeom prst="rect">
            <a:avLst/>
          </a:prstGeom>
          <a:noFill/>
        </p:spPr>
        <p:txBody>
          <a:bodyPr wrap="none">
            <a:spAutoFit/>
          </a:bodyPr>
          <a:lstStyle/>
          <a:p>
            <a:pPr algn="l"/>
            <a:r>
              <a:rPr sz="1400" b="1" i="0">
                <a:solidFill>
                  <a:srgbClr val="4A6741"/>
                </a:solidFill>
                <a:latin typeface="Calibri"/>
              </a:rPr>
              <a:t>01 · CHEMOTYPING</a:t>
            </a:r>
          </a:p>
        </p:txBody>
      </p:sp>
      <p:sp>
        <p:nvSpPr>
          <p:cNvPr id="3" name="TextBox 2"/>
          <p:cNvSpPr txBox="1"/>
          <p:nvPr/>
        </p:nvSpPr>
        <p:spPr>
          <a:xfrm>
            <a:off x="548640" y="411480"/>
            <a:ext cx="11064240" cy="640080"/>
          </a:xfrm>
          <a:prstGeom prst="rect">
            <a:avLst/>
          </a:prstGeom>
          <a:noFill/>
        </p:spPr>
        <p:txBody>
          <a:bodyPr wrap="none">
            <a:spAutoFit/>
          </a:bodyPr>
          <a:lstStyle/>
          <a:p>
            <a:pPr algn="l"/>
            <a:r>
              <a:rPr sz="3200" b="1" i="0">
                <a:solidFill>
                  <a:srgbClr val="1A3A5C"/>
                </a:solidFill>
                <a:latin typeface="Calibri"/>
              </a:rPr>
              <a:t>GC MS profiling</a:t>
            </a:r>
          </a:p>
        </p:txBody>
      </p:sp>
      <p:sp>
        <p:nvSpPr>
          <p:cNvPr id="4" name="TextBox 3"/>
          <p:cNvSpPr txBox="1"/>
          <p:nvPr/>
        </p:nvSpPr>
        <p:spPr>
          <a:xfrm>
            <a:off x="640080" y="1463040"/>
            <a:ext cx="5943600" cy="4114800"/>
          </a:xfrm>
          <a:prstGeom prst="rect">
            <a:avLst/>
          </a:prstGeom>
          <a:noFill/>
        </p:spPr>
        <p:txBody>
          <a:bodyPr wrap="square">
            <a:spAutoFit/>
          </a:bodyPr>
          <a:lstStyle/>
          <a:p>
            <a:pPr algn="l"/>
            <a:r>
              <a:rPr sz="1500" b="0" i="0">
                <a:solidFill>
                  <a:srgbClr val="555555"/>
                </a:solidFill>
                <a:latin typeface="Calibri"/>
              </a:rPr>
              <a:t>Four commercial oils · &gt;98% of volatiles identified</a:t>
            </a:r>
          </a:p>
          <a:p>
            <a:pPr algn="l">
              <a:spcBef>
                <a:spcPts val="400"/>
              </a:spcBef>
              <a:spcAft>
                <a:spcPts val="200"/>
              </a:spcAft>
            </a:pPr>
          </a:p>
          <a:p>
            <a:pPr algn="l">
              <a:spcBef>
                <a:spcPts val="400"/>
              </a:spcBef>
              <a:spcAft>
                <a:spcPts val="200"/>
              </a:spcAft>
            </a:pPr>
            <a:r>
              <a:rPr sz="1700" b="1" i="0">
                <a:solidFill>
                  <a:srgbClr val="4A6741"/>
                </a:solidFill>
                <a:latin typeface="Calibri"/>
              </a:rPr>
              <a:t>Tea tree : Terpinen-4-ol · 45%</a:t>
            </a:r>
          </a:p>
          <a:p>
            <a:pPr algn="l">
              <a:spcBef>
                <a:spcPts val="400"/>
              </a:spcBef>
              <a:spcAft>
                <a:spcPts val="200"/>
              </a:spcAft>
            </a:pPr>
            <a:r>
              <a:rPr sz="1700" b="1" i="0">
                <a:solidFill>
                  <a:srgbClr val="1A3A5C"/>
                </a:solidFill>
                <a:latin typeface="Calibri"/>
              </a:rPr>
              <a:t>Lavender : Linalyl acetate · 42%</a:t>
            </a:r>
          </a:p>
          <a:p>
            <a:pPr algn="l">
              <a:spcBef>
                <a:spcPts val="400"/>
              </a:spcBef>
              <a:spcAft>
                <a:spcPts val="200"/>
              </a:spcAft>
            </a:pPr>
            <a:r>
              <a:rPr sz="1700" b="1" i="0">
                <a:solidFill>
                  <a:srgbClr val="C9A227"/>
                </a:solidFill>
                <a:latin typeface="Calibri"/>
              </a:rPr>
              <a:t>Bergamot : Linalyl acetate · 58%</a:t>
            </a:r>
          </a:p>
          <a:p>
            <a:pPr algn="l">
              <a:spcBef>
                <a:spcPts val="400"/>
              </a:spcBef>
              <a:spcAft>
                <a:spcPts val="200"/>
              </a:spcAft>
            </a:pPr>
            <a:r>
              <a:rPr sz="1700" b="1" i="0">
                <a:solidFill>
                  <a:srgbClr val="20B2AA"/>
                </a:solidFill>
                <a:latin typeface="Calibri"/>
              </a:rPr>
              <a:t>Peppermint : Isomenthol · 49%</a:t>
            </a:r>
          </a:p>
        </p:txBody>
      </p:sp>
      <p:pic>
        <p:nvPicPr>
          <p:cNvPr id="5" name="Picture 4" descr="gc-ms.png">
            <a:hlinkClick action="ppaction://hlinksldjump" r:id="rId3"/>
          </p:cNvPr>
          <p:cNvPicPr>
            <a:picLocks noChangeAspect="1"/>
          </p:cNvPicPr>
          <p:nvPr/>
        </p:nvPicPr>
        <p:blipFill>
          <a:blip r:embed="rId2"/>
          <a:stretch>
            <a:fillRect/>
          </a:stretch>
        </p:blipFill>
        <p:spPr>
          <a:xfrm>
            <a:off x="7315200" y="1234440"/>
            <a:ext cx="3205120" cy="4480560"/>
          </a:xfrm>
          <a:prstGeom prst="rect">
            <a:avLst/>
          </a:prstGeom>
        </p:spPr>
      </p:pic>
      <p:sp>
        <p:nvSpPr>
          <p:cNvPr id="6" name="TextBox 5"/>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a:hlinkClick action="ppaction://hlinksldjump" r:id="rId3"/>
          </p:cNvPr>
          <p:cNvSpPr/>
          <p:nvPr/>
        </p:nvSpPr>
        <p:spPr>
          <a:xfrm>
            <a:off x="0" y="0"/>
            <a:ext cx="12191695"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c-ms.png">
            <a:hlinkClick action="ppaction://hlinksldjump" r:id="rId3"/>
          </p:cNvPr>
          <p:cNvPicPr>
            <a:picLocks noChangeAspect="1"/>
          </p:cNvPicPr>
          <p:nvPr/>
        </p:nvPicPr>
        <p:blipFill>
          <a:blip r:embed="rId2"/>
          <a:stretch>
            <a:fillRect/>
          </a:stretch>
        </p:blipFill>
        <p:spPr>
          <a:xfrm>
            <a:off x="3839181" y="274320"/>
            <a:ext cx="4513332" cy="6309360"/>
          </a:xfrm>
          <a:prstGeom prst="rect">
            <a:avLst/>
          </a:prstGeom>
        </p:spPr>
      </p:pic>
      <p:sp>
        <p:nvSpPr>
          <p:cNvPr id="4" name="TextBox 3"/>
          <p:cNvSpPr txBox="1"/>
          <p:nvPr/>
        </p:nvSpPr>
        <p:spPr>
          <a:xfrm>
            <a:off x="365760" y="6473952"/>
            <a:ext cx="5486400" cy="292608"/>
          </a:xfrm>
          <a:prstGeom prst="rect">
            <a:avLst/>
          </a:prstGeom>
          <a:noFill/>
        </p:spPr>
        <p:txBody>
          <a:bodyPr wrap="none">
            <a:spAutoFit/>
          </a:bodyPr>
          <a:lstStyle/>
          <a:p>
            <a:pPr algn="l"/>
            <a:r>
              <a:rPr sz="1100" b="0" i="0">
                <a:solidFill>
                  <a:srgbClr val="CCCCCC"/>
                </a:solidFill>
                <a:latin typeface="Calibri"/>
              </a:rPr>
              <a:t>Click image to go back</a:t>
            </a:r>
          </a:p>
        </p:txBody>
      </p:sp>
    </p:spTree>
  </p:cSld>
  <p:clrMapOvr>
    <a:masterClrMapping/>
  </p:clrMapOvr>
  <p:transition spd="slow">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
            <a:ext cx="11064240" cy="320040"/>
          </a:xfrm>
          <a:prstGeom prst="rect">
            <a:avLst/>
          </a:prstGeom>
          <a:noFill/>
        </p:spPr>
        <p:txBody>
          <a:bodyPr wrap="none">
            <a:spAutoFit/>
          </a:bodyPr>
          <a:lstStyle/>
          <a:p>
            <a:pPr algn="l"/>
            <a:r>
              <a:rPr sz="1400" b="1" i="0">
                <a:solidFill>
                  <a:srgbClr val="1A3A5C"/>
                </a:solidFill>
                <a:latin typeface="Calibri"/>
              </a:rPr>
              <a:t>02 · BIOACTIVITY</a:t>
            </a:r>
          </a:p>
        </p:txBody>
      </p:sp>
      <p:sp>
        <p:nvSpPr>
          <p:cNvPr id="3" name="TextBox 2"/>
          <p:cNvSpPr txBox="1"/>
          <p:nvPr/>
        </p:nvSpPr>
        <p:spPr>
          <a:xfrm>
            <a:off x="548640" y="411480"/>
            <a:ext cx="11064240" cy="640080"/>
          </a:xfrm>
          <a:prstGeom prst="rect">
            <a:avLst/>
          </a:prstGeom>
          <a:noFill/>
        </p:spPr>
        <p:txBody>
          <a:bodyPr wrap="none">
            <a:spAutoFit/>
          </a:bodyPr>
          <a:lstStyle/>
          <a:p>
            <a:pPr algn="l"/>
            <a:r>
              <a:rPr sz="3200" b="1" i="1">
                <a:solidFill>
                  <a:srgbClr val="1A3A5C"/>
                </a:solidFill>
                <a:latin typeface="Calibri"/>
              </a:rPr>
              <a:t>S.</a:t>
            </a:r>
            <a:r>
              <a:rPr sz="3200" b="1" i="0">
                <a:solidFill>
                  <a:srgbClr val="1A3A5C"/>
                </a:solidFill>
                <a:latin typeface="Calibri"/>
              </a:rPr>
              <a:t> Typhimurium ATCC 14028</a:t>
            </a:r>
          </a:p>
        </p:txBody>
      </p:sp>
      <p:sp>
        <p:nvSpPr>
          <p:cNvPr id="4" name="Rounded Rectangle 3"/>
          <p:cNvSpPr/>
          <p:nvPr/>
        </p:nvSpPr>
        <p:spPr>
          <a:xfrm>
            <a:off x="548640" y="1371600"/>
            <a:ext cx="5394960" cy="448056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4754880" cy="457200"/>
          </a:xfrm>
          <a:prstGeom prst="rect">
            <a:avLst/>
          </a:prstGeom>
          <a:noFill/>
        </p:spPr>
        <p:txBody>
          <a:bodyPr wrap="none">
            <a:spAutoFit/>
          </a:bodyPr>
          <a:lstStyle/>
          <a:p>
            <a:pPr algn="l"/>
            <a:r>
              <a:rPr sz="1700" b="1" i="0">
                <a:solidFill>
                  <a:srgbClr val="1A3A5C"/>
                </a:solidFill>
                <a:latin typeface="Calibri"/>
              </a:rPr>
              <a:t>Antimicrobial · MIC</a:t>
            </a:r>
          </a:p>
        </p:txBody>
      </p:sp>
      <p:sp>
        <p:nvSpPr>
          <p:cNvPr id="6" name="TextBox 5"/>
          <p:cNvSpPr txBox="1"/>
          <p:nvPr/>
        </p:nvSpPr>
        <p:spPr>
          <a:xfrm>
            <a:off x="914400" y="2286000"/>
            <a:ext cx="2377440" cy="1463040"/>
          </a:xfrm>
          <a:prstGeom prst="rect">
            <a:avLst/>
          </a:prstGeom>
          <a:noFill/>
        </p:spPr>
        <p:txBody>
          <a:bodyPr wrap="square">
            <a:spAutoFit/>
          </a:bodyPr>
          <a:lstStyle/>
          <a:p>
            <a:pPr algn="ctr"/>
            <a:r>
              <a:rPr sz="4600" b="1" i="0">
                <a:solidFill>
                  <a:srgbClr val="1A3A5C"/>
                </a:solidFill>
                <a:latin typeface="Calibri"/>
              </a:rPr>
              <a:t>5</a:t>
            </a:r>
          </a:p>
          <a:p>
            <a:pPr algn="ctr">
              <a:spcBef>
                <a:spcPts val="400"/>
              </a:spcBef>
              <a:spcAft>
                <a:spcPts val="200"/>
              </a:spcAft>
            </a:pPr>
            <a:r>
              <a:rPr sz="1500" b="0" i="0">
                <a:solidFill>
                  <a:srgbClr val="555555"/>
                </a:solidFill>
                <a:latin typeface="Calibri"/>
              </a:rPr>
              <a:t>µg/mL</a:t>
            </a:r>
          </a:p>
          <a:p>
            <a:pPr algn="ctr">
              <a:spcBef>
                <a:spcPts val="400"/>
              </a:spcBef>
              <a:spcAft>
                <a:spcPts val="200"/>
              </a:spcAft>
            </a:pPr>
            <a:r>
              <a:rPr sz="1300" b="1" i="0">
                <a:solidFill>
                  <a:srgbClr val="555555"/>
                </a:solidFill>
                <a:latin typeface="Calibri"/>
              </a:rPr>
              <a:t>Lavender · Bergamot</a:t>
            </a:r>
          </a:p>
        </p:txBody>
      </p:sp>
      <p:sp>
        <p:nvSpPr>
          <p:cNvPr id="7" name="TextBox 6"/>
          <p:cNvSpPr txBox="1"/>
          <p:nvPr/>
        </p:nvSpPr>
        <p:spPr>
          <a:xfrm>
            <a:off x="3291840" y="2286000"/>
            <a:ext cx="2377440" cy="1463040"/>
          </a:xfrm>
          <a:prstGeom prst="rect">
            <a:avLst/>
          </a:prstGeom>
          <a:noFill/>
        </p:spPr>
        <p:txBody>
          <a:bodyPr wrap="square">
            <a:spAutoFit/>
          </a:bodyPr>
          <a:lstStyle/>
          <a:p>
            <a:pPr algn="ctr"/>
            <a:r>
              <a:rPr sz="4600" b="1" i="0">
                <a:solidFill>
                  <a:srgbClr val="4A6741"/>
                </a:solidFill>
                <a:latin typeface="Calibri"/>
              </a:rPr>
              <a:t>10</a:t>
            </a:r>
          </a:p>
          <a:p>
            <a:pPr algn="ctr">
              <a:spcBef>
                <a:spcPts val="400"/>
              </a:spcBef>
              <a:spcAft>
                <a:spcPts val="200"/>
              </a:spcAft>
            </a:pPr>
            <a:r>
              <a:rPr sz="1500" b="0" i="0">
                <a:solidFill>
                  <a:srgbClr val="555555"/>
                </a:solidFill>
                <a:latin typeface="Calibri"/>
              </a:rPr>
              <a:t>µg/mL</a:t>
            </a:r>
          </a:p>
          <a:p>
            <a:pPr algn="ctr">
              <a:spcBef>
                <a:spcPts val="400"/>
              </a:spcBef>
              <a:spcAft>
                <a:spcPts val="200"/>
              </a:spcAft>
            </a:pPr>
            <a:r>
              <a:rPr sz="1300" b="1" i="0">
                <a:solidFill>
                  <a:srgbClr val="555555"/>
                </a:solidFill>
                <a:latin typeface="Calibri"/>
              </a:rPr>
              <a:t>Tea tree · Peppermint</a:t>
            </a:r>
          </a:p>
        </p:txBody>
      </p:sp>
      <p:pic>
        <p:nvPicPr>
          <p:cNvPr id="8" name="Picture 7" descr="antimicrob.png">
            <a:hlinkClick action="ppaction://hlinksldjump" r:id="rId3"/>
          </p:cNvPr>
          <p:cNvPicPr>
            <a:picLocks noChangeAspect="1"/>
          </p:cNvPicPr>
          <p:nvPr/>
        </p:nvPicPr>
        <p:blipFill>
          <a:blip r:embed="rId2"/>
          <a:stretch>
            <a:fillRect/>
          </a:stretch>
        </p:blipFill>
        <p:spPr>
          <a:xfrm>
            <a:off x="1554480" y="4114800"/>
            <a:ext cx="3383280" cy="1063537"/>
          </a:xfrm>
          <a:prstGeom prst="rect">
            <a:avLst/>
          </a:prstGeom>
        </p:spPr>
      </p:pic>
      <p:sp>
        <p:nvSpPr>
          <p:cNvPr id="9" name="TextBox 8"/>
          <p:cNvSpPr txBox="1"/>
          <p:nvPr/>
        </p:nvSpPr>
        <p:spPr>
          <a:xfrm>
            <a:off x="914400" y="5486400"/>
            <a:ext cx="4663440" cy="274320"/>
          </a:xfrm>
          <a:prstGeom prst="rect">
            <a:avLst/>
          </a:prstGeom>
          <a:noFill/>
        </p:spPr>
        <p:txBody>
          <a:bodyPr wrap="none">
            <a:spAutoFit/>
          </a:bodyPr>
          <a:lstStyle/>
          <a:p>
            <a:pPr algn="ctr"/>
            <a:r>
              <a:rPr sz="1000" b="0" i="0">
                <a:solidFill>
                  <a:srgbClr val="888888"/>
                </a:solidFill>
                <a:latin typeface="Calibri"/>
              </a:rPr>
              <a:t>MIC table 4.5</a:t>
            </a:r>
          </a:p>
        </p:txBody>
      </p:sp>
      <p:sp>
        <p:nvSpPr>
          <p:cNvPr id="10" name="Rounded Rectangle 9"/>
          <p:cNvSpPr/>
          <p:nvPr/>
        </p:nvSpPr>
        <p:spPr>
          <a:xfrm>
            <a:off x="6217920" y="1371600"/>
            <a:ext cx="5394960" cy="448056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508760"/>
            <a:ext cx="4754880" cy="457200"/>
          </a:xfrm>
          <a:prstGeom prst="rect">
            <a:avLst/>
          </a:prstGeom>
          <a:noFill/>
        </p:spPr>
        <p:txBody>
          <a:bodyPr wrap="none">
            <a:spAutoFit/>
          </a:bodyPr>
          <a:lstStyle/>
          <a:p>
            <a:pPr algn="l"/>
            <a:r>
              <a:rPr sz="1700" b="1" i="0">
                <a:solidFill>
                  <a:srgbClr val="1A3A5C"/>
                </a:solidFill>
                <a:latin typeface="Calibri"/>
              </a:rPr>
              <a:t>Antioxidant · mmol TE/L</a:t>
            </a:r>
          </a:p>
        </p:txBody>
      </p:sp>
      <p:graphicFrame>
        <p:nvGraphicFramePr>
          <p:cNvPr id="12" name="Table 11"/>
          <p:cNvGraphicFramePr>
            <a:graphicFrameLocks noGrp="1"/>
          </p:cNvGraphicFramePr>
          <p:nvPr/>
        </p:nvGraphicFramePr>
        <p:xfrm>
          <a:off x="6675120" y="2103120"/>
          <a:ext cx="4572000" cy="1828800"/>
        </p:xfrm>
        <a:graphic>
          <a:graphicData uri="http://schemas.openxmlformats.org/drawingml/2006/table">
            <a:tbl>
              <a:tblPr>
                <a:tableStyleId>{5C22544A-7EE6-4342-B048-85BDC9FD1C3A}</a:tableStyleId>
              </a:tblPr>
              <a:tblGrid>
                <a:gridCol w="1524000"/>
                <a:gridCol w="1524000"/>
                <a:gridCol w="1524000"/>
              </a:tblGrid>
              <a:tr h="365760">
                <a:tc>
                  <a:txBody>
                    <a:bodyPr/>
                    <a:lstStyle/>
                    <a:p>
                      <a:pPr algn="l"/>
                      <a:r>
                        <a:rPr sz="1200" b="1">
                          <a:solidFill>
                            <a:srgbClr val="FFFFFF"/>
                          </a:solidFill>
                          <a:latin typeface="Calibri"/>
                        </a:rPr>
                        <a:t>Oil</a:t>
                      </a:r>
                    </a:p>
                  </a:txBody>
                  <a:tcPr anchor="ctr" marT="25400" marB="25400">
                    <a:solidFill>
                      <a:srgbClr val="1A3A5C"/>
                    </a:solidFill>
                  </a:tcPr>
                </a:tc>
                <a:tc>
                  <a:txBody>
                    <a:bodyPr/>
                    <a:lstStyle/>
                    <a:p>
                      <a:pPr algn="ctr"/>
                      <a:r>
                        <a:rPr sz="1200" b="1">
                          <a:solidFill>
                            <a:srgbClr val="FFFFFF"/>
                          </a:solidFill>
                          <a:latin typeface="Calibri"/>
                        </a:rPr>
                        <a:t>DPPH</a:t>
                      </a:r>
                    </a:p>
                  </a:txBody>
                  <a:tcPr anchor="ctr" marT="25400" marB="25400">
                    <a:solidFill>
                      <a:srgbClr val="1A3A5C"/>
                    </a:solidFill>
                  </a:tcPr>
                </a:tc>
                <a:tc>
                  <a:txBody>
                    <a:bodyPr/>
                    <a:lstStyle/>
                    <a:p>
                      <a:pPr algn="ctr"/>
                      <a:r>
                        <a:rPr sz="1200" b="1">
                          <a:solidFill>
                            <a:srgbClr val="FFFFFF"/>
                          </a:solidFill>
                          <a:latin typeface="Calibri"/>
                        </a:rPr>
                        <a:t>ABTS</a:t>
                      </a:r>
                    </a:p>
                  </a:txBody>
                  <a:tcPr anchor="ctr" marT="25400" marB="25400">
                    <a:solidFill>
                      <a:srgbClr val="1A3A5C"/>
                    </a:solidFill>
                  </a:tcPr>
                </a:tc>
              </a:tr>
              <a:tr h="365760">
                <a:tc>
                  <a:txBody>
                    <a:bodyPr/>
                    <a:lstStyle/>
                    <a:p>
                      <a:pPr algn="l"/>
                      <a:r>
                        <a:rPr sz="1200">
                          <a:solidFill>
                            <a:srgbClr val="555555"/>
                          </a:solidFill>
                          <a:latin typeface="Calibri"/>
                        </a:rPr>
                        <a:t>Tea tree</a:t>
                      </a:r>
                    </a:p>
                  </a:txBody>
                  <a:tcPr anchor="ctr" marT="25400" marB="25400">
                    <a:solidFill>
                      <a:srgbClr val="FFFFFF"/>
                    </a:solidFill>
                  </a:tcPr>
                </a:tc>
                <a:tc>
                  <a:txBody>
                    <a:bodyPr/>
                    <a:lstStyle/>
                    <a:p>
                      <a:pPr algn="ctr"/>
                      <a:r>
                        <a:rPr sz="1200">
                          <a:solidFill>
                            <a:srgbClr val="555555"/>
                          </a:solidFill>
                          <a:latin typeface="Calibri"/>
                        </a:rPr>
                        <a:t>8</a:t>
                      </a:r>
                    </a:p>
                  </a:txBody>
                  <a:tcPr anchor="ctr" marT="25400" marB="25400">
                    <a:solidFill>
                      <a:srgbClr val="FFFFFF"/>
                    </a:solidFill>
                  </a:tcPr>
                </a:tc>
                <a:tc>
                  <a:txBody>
                    <a:bodyPr/>
                    <a:lstStyle/>
                    <a:p>
                      <a:pPr algn="ctr"/>
                      <a:r>
                        <a:rPr sz="1200">
                          <a:solidFill>
                            <a:srgbClr val="555555"/>
                          </a:solidFill>
                          <a:latin typeface="Calibri"/>
                        </a:rPr>
                        <a:t>169</a:t>
                      </a:r>
                    </a:p>
                  </a:txBody>
                  <a:tcPr anchor="ctr" marT="25400" marB="25400">
                    <a:solidFill>
                      <a:srgbClr val="FFFFFF"/>
                    </a:solidFill>
                  </a:tcPr>
                </a:tc>
              </a:tr>
              <a:tr h="365760">
                <a:tc>
                  <a:txBody>
                    <a:bodyPr/>
                    <a:lstStyle/>
                    <a:p>
                      <a:pPr algn="l"/>
                      <a:r>
                        <a:rPr sz="1200">
                          <a:solidFill>
                            <a:srgbClr val="555555"/>
                          </a:solidFill>
                          <a:latin typeface="Calibri"/>
                        </a:rPr>
                        <a:t>Lavender</a:t>
                      </a:r>
                    </a:p>
                  </a:txBody>
                  <a:tcPr anchor="ctr" marT="25400" marB="25400">
                    <a:solidFill>
                      <a:srgbClr val="FFFFFF"/>
                    </a:solidFill>
                  </a:tcPr>
                </a:tc>
                <a:tc>
                  <a:txBody>
                    <a:bodyPr/>
                    <a:lstStyle/>
                    <a:p>
                      <a:pPr algn="ctr"/>
                      <a:r>
                        <a:rPr sz="1200">
                          <a:solidFill>
                            <a:srgbClr val="555555"/>
                          </a:solidFill>
                          <a:latin typeface="Calibri"/>
                        </a:rPr>
                        <a:t>19</a:t>
                      </a:r>
                    </a:p>
                  </a:txBody>
                  <a:tcPr anchor="ctr" marT="25400" marB="25400">
                    <a:solidFill>
                      <a:srgbClr val="FFFFFF"/>
                    </a:solidFill>
                  </a:tcPr>
                </a:tc>
                <a:tc>
                  <a:txBody>
                    <a:bodyPr/>
                    <a:lstStyle/>
                    <a:p>
                      <a:pPr algn="ctr"/>
                      <a:r>
                        <a:rPr sz="1200">
                          <a:solidFill>
                            <a:srgbClr val="555555"/>
                          </a:solidFill>
                          <a:latin typeface="Calibri"/>
                        </a:rPr>
                        <a:t>49</a:t>
                      </a:r>
                    </a:p>
                  </a:txBody>
                  <a:tcPr anchor="ctr" marT="25400" marB="25400">
                    <a:solidFill>
                      <a:srgbClr val="FFFFFF"/>
                    </a:solidFill>
                  </a:tcPr>
                </a:tc>
              </a:tr>
              <a:tr h="365760">
                <a:tc>
                  <a:txBody>
                    <a:bodyPr/>
                    <a:lstStyle/>
                    <a:p>
                      <a:pPr algn="l"/>
                      <a:r>
                        <a:rPr sz="1200">
                          <a:solidFill>
                            <a:srgbClr val="555555"/>
                          </a:solidFill>
                          <a:latin typeface="Calibri"/>
                        </a:rPr>
                        <a:t>Bergamot</a:t>
                      </a:r>
                    </a:p>
                  </a:txBody>
                  <a:tcPr anchor="ctr" marT="25400" marB="25400">
                    <a:solidFill>
                      <a:srgbClr val="FFFFFF"/>
                    </a:solidFill>
                  </a:tcPr>
                </a:tc>
                <a:tc>
                  <a:txBody>
                    <a:bodyPr/>
                    <a:lstStyle/>
                    <a:p>
                      <a:pPr algn="ctr"/>
                      <a:r>
                        <a:rPr sz="1200">
                          <a:solidFill>
                            <a:srgbClr val="555555"/>
                          </a:solidFill>
                          <a:latin typeface="Calibri"/>
                        </a:rPr>
                        <a:t>17</a:t>
                      </a:r>
                    </a:p>
                  </a:txBody>
                  <a:tcPr anchor="ctr" marT="25400" marB="25400">
                    <a:solidFill>
                      <a:srgbClr val="FFFFFF"/>
                    </a:solidFill>
                  </a:tcPr>
                </a:tc>
                <a:tc>
                  <a:txBody>
                    <a:bodyPr/>
                    <a:lstStyle/>
                    <a:p>
                      <a:pPr algn="ctr"/>
                      <a:r>
                        <a:rPr sz="1200">
                          <a:solidFill>
                            <a:srgbClr val="555555"/>
                          </a:solidFill>
                          <a:latin typeface="Calibri"/>
                        </a:rPr>
                        <a:t>99</a:t>
                      </a:r>
                    </a:p>
                  </a:txBody>
                  <a:tcPr anchor="ctr" marT="25400" marB="25400">
                    <a:solidFill>
                      <a:srgbClr val="FFFFFF"/>
                    </a:solidFill>
                  </a:tcPr>
                </a:tc>
              </a:tr>
              <a:tr h="365760">
                <a:tc>
                  <a:txBody>
                    <a:bodyPr/>
                    <a:lstStyle/>
                    <a:p>
                      <a:pPr algn="l"/>
                      <a:r>
                        <a:rPr sz="1200">
                          <a:solidFill>
                            <a:srgbClr val="555555"/>
                          </a:solidFill>
                          <a:latin typeface="Calibri"/>
                        </a:rPr>
                        <a:t>Peppermint</a:t>
                      </a:r>
                    </a:p>
                  </a:txBody>
                  <a:tcPr anchor="ctr" marT="25400" marB="25400">
                    <a:solidFill>
                      <a:srgbClr val="FFFFFF"/>
                    </a:solidFill>
                  </a:tcPr>
                </a:tc>
                <a:tc>
                  <a:txBody>
                    <a:bodyPr/>
                    <a:lstStyle/>
                    <a:p>
                      <a:pPr algn="ctr"/>
                      <a:r>
                        <a:rPr sz="1200">
                          <a:solidFill>
                            <a:srgbClr val="555555"/>
                          </a:solidFill>
                          <a:latin typeface="Calibri"/>
                        </a:rPr>
                        <a:t>23</a:t>
                      </a:r>
                    </a:p>
                  </a:txBody>
                  <a:tcPr anchor="ctr" marT="25400" marB="25400">
                    <a:solidFill>
                      <a:srgbClr val="FFFFFF"/>
                    </a:solidFill>
                  </a:tcPr>
                </a:tc>
                <a:tc>
                  <a:txBody>
                    <a:bodyPr/>
                    <a:lstStyle/>
                    <a:p>
                      <a:pPr algn="ctr"/>
                      <a:r>
                        <a:rPr sz="1200">
                          <a:solidFill>
                            <a:srgbClr val="555555"/>
                          </a:solidFill>
                          <a:latin typeface="Calibri"/>
                        </a:rPr>
                        <a:t>191</a:t>
                      </a:r>
                    </a:p>
                  </a:txBody>
                  <a:tcPr anchor="ctr" marT="25400" marB="25400">
                    <a:solidFill>
                      <a:srgbClr val="FFFFFF"/>
                    </a:solidFill>
                  </a:tcPr>
                </a:tc>
              </a:tr>
            </a:tbl>
          </a:graphicData>
        </a:graphic>
      </p:graphicFrame>
      <p:pic>
        <p:nvPicPr>
          <p:cNvPr id="13" name="Picture 12" descr="antiox.png">
            <a:hlinkClick action="ppaction://hlinksldjump" r:id="rId5"/>
          </p:cNvPr>
          <p:cNvPicPr>
            <a:picLocks noChangeAspect="1"/>
          </p:cNvPicPr>
          <p:nvPr/>
        </p:nvPicPr>
        <p:blipFill>
          <a:blip r:embed="rId4"/>
          <a:stretch>
            <a:fillRect/>
          </a:stretch>
        </p:blipFill>
        <p:spPr>
          <a:xfrm>
            <a:off x="7635240" y="4069080"/>
            <a:ext cx="2710672" cy="1143000"/>
          </a:xfrm>
          <a:prstGeom prst="rect">
            <a:avLst/>
          </a:prstGeom>
        </p:spPr>
      </p:pic>
      <p:sp>
        <p:nvSpPr>
          <p:cNvPr id="14" name="TextBox 13"/>
          <p:cNvSpPr txBox="1"/>
          <p:nvPr/>
        </p:nvSpPr>
        <p:spPr>
          <a:xfrm>
            <a:off x="6309360" y="5257800"/>
            <a:ext cx="5212080" cy="274320"/>
          </a:xfrm>
          <a:prstGeom prst="rect">
            <a:avLst/>
          </a:prstGeom>
          <a:noFill/>
        </p:spPr>
        <p:txBody>
          <a:bodyPr wrap="none">
            <a:spAutoFit/>
          </a:bodyPr>
          <a:lstStyle/>
          <a:p>
            <a:pPr algn="ctr"/>
            <a:r>
              <a:rPr sz="1000" b="0" i="0">
                <a:solidFill>
                  <a:srgbClr val="888888"/>
                </a:solidFill>
                <a:latin typeface="Calibri"/>
              </a:rPr>
              <a:t>Table 4.4</a:t>
            </a:r>
          </a:p>
        </p:txBody>
      </p:sp>
      <p:sp>
        <p:nvSpPr>
          <p:cNvPr id="15" name="TextBox 14"/>
          <p:cNvSpPr txBox="1"/>
          <p:nvPr/>
        </p:nvSpPr>
        <p:spPr>
          <a:xfrm>
            <a:off x="6309360" y="5532120"/>
            <a:ext cx="5212080" cy="365760"/>
          </a:xfrm>
          <a:prstGeom prst="rect">
            <a:avLst/>
          </a:prstGeom>
          <a:noFill/>
        </p:spPr>
        <p:txBody>
          <a:bodyPr wrap="none">
            <a:spAutoFit/>
          </a:bodyPr>
          <a:lstStyle/>
          <a:p>
            <a:pPr algn="ctr"/>
            <a:r>
              <a:rPr sz="1200" b="0" i="0">
                <a:solidFill>
                  <a:srgbClr val="888888"/>
                </a:solidFill>
                <a:latin typeface="Calibri"/>
              </a:rPr>
              <a:t>Fresh oils · still measurable after 12 months</a:t>
            </a:r>
          </a:p>
        </p:txBody>
      </p:sp>
      <p:sp>
        <p:nvSpPr>
          <p:cNvPr id="16" name="TextBox 15"/>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a:hlinkClick action="ppaction://hlinksldjump" r:id="rId3"/>
          </p:cNvPr>
          <p:cNvSpPr/>
          <p:nvPr/>
        </p:nvSpPr>
        <p:spPr>
          <a:xfrm>
            <a:off x="0" y="0"/>
            <a:ext cx="12191695"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ntimicrob.png">
            <a:hlinkClick action="ppaction://hlinksldjump" r:id="rId3"/>
          </p:cNvPr>
          <p:cNvPicPr>
            <a:picLocks noChangeAspect="1"/>
          </p:cNvPicPr>
          <p:nvPr/>
        </p:nvPicPr>
        <p:blipFill>
          <a:blip r:embed="rId2"/>
          <a:stretch>
            <a:fillRect/>
          </a:stretch>
        </p:blipFill>
        <p:spPr>
          <a:xfrm>
            <a:off x="274320" y="1598998"/>
            <a:ext cx="11643055" cy="3660003"/>
          </a:xfrm>
          <a:prstGeom prst="rect">
            <a:avLst/>
          </a:prstGeom>
        </p:spPr>
      </p:pic>
      <p:sp>
        <p:nvSpPr>
          <p:cNvPr id="4" name="TextBox 3"/>
          <p:cNvSpPr txBox="1"/>
          <p:nvPr/>
        </p:nvSpPr>
        <p:spPr>
          <a:xfrm>
            <a:off x="365760" y="6473952"/>
            <a:ext cx="5486400" cy="292608"/>
          </a:xfrm>
          <a:prstGeom prst="rect">
            <a:avLst/>
          </a:prstGeom>
          <a:noFill/>
        </p:spPr>
        <p:txBody>
          <a:bodyPr wrap="none">
            <a:spAutoFit/>
          </a:bodyPr>
          <a:lstStyle/>
          <a:p>
            <a:pPr algn="l"/>
            <a:r>
              <a:rPr sz="1100" b="0" i="0">
                <a:solidFill>
                  <a:srgbClr val="CCCCCC"/>
                </a:solidFill>
                <a:latin typeface="Calibri"/>
              </a:rPr>
              <a:t>Click image to go back</a:t>
            </a:r>
          </a:p>
        </p:txBody>
      </p:sp>
    </p:spTree>
  </p:cSld>
  <p:clrMapOvr>
    <a:masterClrMapping/>
  </p:clrMapOvr>
  <p:transition spd="slow">
    <p:fade/>
  </p:transition>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a:hlinkClick action="ppaction://hlinksldjump" r:id="rId3"/>
          </p:cNvPr>
          <p:cNvSpPr/>
          <p:nvPr/>
        </p:nvSpPr>
        <p:spPr>
          <a:xfrm>
            <a:off x="0" y="0"/>
            <a:ext cx="12191695"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ntiox.png">
            <a:hlinkClick action="ppaction://hlinksldjump" r:id="rId3"/>
          </p:cNvPr>
          <p:cNvPicPr>
            <a:picLocks noChangeAspect="1"/>
          </p:cNvPicPr>
          <p:nvPr/>
        </p:nvPicPr>
        <p:blipFill>
          <a:blip r:embed="rId2"/>
          <a:stretch>
            <a:fillRect/>
          </a:stretch>
        </p:blipFill>
        <p:spPr>
          <a:xfrm>
            <a:off x="274320" y="974256"/>
            <a:ext cx="11643055" cy="4909488"/>
          </a:xfrm>
          <a:prstGeom prst="rect">
            <a:avLst/>
          </a:prstGeom>
        </p:spPr>
      </p:pic>
      <p:sp>
        <p:nvSpPr>
          <p:cNvPr id="4" name="TextBox 3"/>
          <p:cNvSpPr txBox="1"/>
          <p:nvPr/>
        </p:nvSpPr>
        <p:spPr>
          <a:xfrm>
            <a:off x="365760" y="6473952"/>
            <a:ext cx="5486400" cy="292608"/>
          </a:xfrm>
          <a:prstGeom prst="rect">
            <a:avLst/>
          </a:prstGeom>
          <a:noFill/>
        </p:spPr>
        <p:txBody>
          <a:bodyPr wrap="none">
            <a:spAutoFit/>
          </a:bodyPr>
          <a:lstStyle/>
          <a:p>
            <a:pPr algn="l"/>
            <a:r>
              <a:rPr sz="1100" b="0" i="0">
                <a:solidFill>
                  <a:srgbClr val="CCCCCC"/>
                </a:solidFill>
                <a:latin typeface="Calibri"/>
              </a:rPr>
              <a:t>Click image to go back</a:t>
            </a:r>
          </a:p>
        </p:txBody>
      </p:sp>
    </p:spTree>
  </p:cSld>
  <p:clrMapOvr>
    <a:masterClrMapping/>
  </p:clrMapOvr>
  <p:transition spd="slow">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
            <a:ext cx="11064240" cy="320040"/>
          </a:xfrm>
          <a:prstGeom prst="rect">
            <a:avLst/>
          </a:prstGeom>
          <a:noFill/>
        </p:spPr>
        <p:txBody>
          <a:bodyPr wrap="none">
            <a:spAutoFit/>
          </a:bodyPr>
          <a:lstStyle/>
          <a:p>
            <a:pPr algn="l"/>
            <a:r>
              <a:rPr sz="1400" b="1" i="0">
                <a:solidFill>
                  <a:srgbClr val="C9A227"/>
                </a:solidFill>
                <a:latin typeface="Calibri"/>
              </a:rPr>
              <a:t>03 · DELIVERY</a:t>
            </a:r>
          </a:p>
        </p:txBody>
      </p:sp>
      <p:sp>
        <p:nvSpPr>
          <p:cNvPr id="3" name="TextBox 2"/>
          <p:cNvSpPr txBox="1"/>
          <p:nvPr/>
        </p:nvSpPr>
        <p:spPr>
          <a:xfrm>
            <a:off x="548640" y="411480"/>
            <a:ext cx="11064240" cy="640080"/>
          </a:xfrm>
          <a:prstGeom prst="rect">
            <a:avLst/>
          </a:prstGeom>
          <a:noFill/>
        </p:spPr>
        <p:txBody>
          <a:bodyPr wrap="none">
            <a:spAutoFit/>
          </a:bodyPr>
          <a:lstStyle/>
          <a:p>
            <a:pPr algn="l"/>
            <a:r>
              <a:rPr sz="3200" b="1" i="0">
                <a:solidFill>
                  <a:srgbClr val="1A3A5C"/>
                </a:solidFill>
                <a:latin typeface="Calibri"/>
              </a:rPr>
              <a:t>Calcium alginate encapsulation</a:t>
            </a:r>
          </a:p>
        </p:txBody>
      </p:sp>
      <p:pic>
        <p:nvPicPr>
          <p:cNvPr id="4" name="Picture 3" descr="beads-shrinkage.png">
            <a:hlinkClick action="ppaction://hlinksldjump" r:id="rId3"/>
          </p:cNvPr>
          <p:cNvPicPr>
            <a:picLocks noChangeAspect="1"/>
          </p:cNvPicPr>
          <p:nvPr/>
        </p:nvPicPr>
        <p:blipFill>
          <a:blip r:embed="rId2"/>
          <a:stretch>
            <a:fillRect/>
          </a:stretch>
        </p:blipFill>
        <p:spPr>
          <a:xfrm>
            <a:off x="1463040" y="1280160"/>
            <a:ext cx="9235440" cy="2755736"/>
          </a:xfrm>
          <a:prstGeom prst="rect">
            <a:avLst/>
          </a:prstGeom>
        </p:spPr>
      </p:pic>
      <p:sp>
        <p:nvSpPr>
          <p:cNvPr id="5" name="TextBox 4"/>
          <p:cNvSpPr txBox="1"/>
          <p:nvPr/>
        </p:nvSpPr>
        <p:spPr>
          <a:xfrm>
            <a:off x="1463040" y="4114800"/>
            <a:ext cx="9235440" cy="274320"/>
          </a:xfrm>
          <a:prstGeom prst="rect">
            <a:avLst/>
          </a:prstGeom>
          <a:noFill/>
        </p:spPr>
        <p:txBody>
          <a:bodyPr wrap="none">
            <a:spAutoFit/>
          </a:bodyPr>
          <a:lstStyle/>
          <a:p>
            <a:pPr algn="ctr"/>
            <a:r>
              <a:rPr sz="1000" b="0" i="0">
                <a:solidFill>
                  <a:srgbClr val="888888"/>
                </a:solidFill>
                <a:latin typeface="Calibri"/>
              </a:rPr>
              <a:t>Before (top) and after (bottom) freeze drying</a:t>
            </a:r>
          </a:p>
        </p:txBody>
      </p:sp>
      <p:sp>
        <p:nvSpPr>
          <p:cNvPr id="6" name="TextBox 5"/>
          <p:cNvSpPr txBox="1"/>
          <p:nvPr/>
        </p:nvSpPr>
        <p:spPr>
          <a:xfrm>
            <a:off x="731520" y="4572000"/>
            <a:ext cx="6583680" cy="1554480"/>
          </a:xfrm>
          <a:prstGeom prst="rect">
            <a:avLst/>
          </a:prstGeom>
          <a:noFill/>
        </p:spPr>
        <p:txBody>
          <a:bodyPr wrap="square">
            <a:spAutoFit/>
          </a:bodyPr>
          <a:lstStyle/>
          <a:p>
            <a:pPr algn="l"/>
            <a:r>
              <a:rPr sz="1500" b="0" i="0">
                <a:solidFill>
                  <a:srgbClr val="555555"/>
                </a:solidFill>
                <a:latin typeface="Calibri"/>
              </a:rPr>
              <a:t>Electrostatic extrusion · solvent free · freeze dried for stability</a:t>
            </a:r>
          </a:p>
          <a:p>
            <a:pPr algn="l">
              <a:spcBef>
                <a:spcPts val="400"/>
              </a:spcBef>
              <a:spcAft>
                <a:spcPts val="200"/>
              </a:spcAft>
            </a:pPr>
            <a:r>
              <a:rPr sz="1800" b="1" i="0">
                <a:solidFill>
                  <a:srgbClr val="C9A227"/>
                </a:solidFill>
                <a:latin typeface="Calibri"/>
              </a:rPr>
              <a:t>2.0 mm wet  →  1.4 mm dry  (~30% shrinkage)</a:t>
            </a:r>
          </a:p>
          <a:p>
            <a:pPr algn="l">
              <a:spcBef>
                <a:spcPts val="400"/>
              </a:spcBef>
              <a:spcAft>
                <a:spcPts val="200"/>
              </a:spcAft>
            </a:pPr>
            <a:r>
              <a:rPr sz="1300" b="0" i="0">
                <a:solidFill>
                  <a:srgbClr val="555555"/>
                </a:solidFill>
                <a:latin typeface="Calibri"/>
              </a:rPr>
              <a:t>Empty beads stayed approximately spherical after freeze drying.</a:t>
            </a:r>
          </a:p>
        </p:txBody>
      </p:sp>
      <p:pic>
        <p:nvPicPr>
          <p:cNvPr id="7" name="Picture 6" descr="extrusion.png">
            <a:hlinkClick action="ppaction://hlinksldjump" r:id="rId5"/>
          </p:cNvPr>
          <p:cNvPicPr>
            <a:picLocks noChangeAspect="1"/>
          </p:cNvPicPr>
          <p:nvPr/>
        </p:nvPicPr>
        <p:blipFill>
          <a:blip r:embed="rId4"/>
          <a:stretch>
            <a:fillRect/>
          </a:stretch>
        </p:blipFill>
        <p:spPr>
          <a:xfrm>
            <a:off x="8961120" y="4480560"/>
            <a:ext cx="1875434" cy="1600200"/>
          </a:xfrm>
          <a:prstGeom prst="rect">
            <a:avLst/>
          </a:prstGeom>
        </p:spPr>
      </p:pic>
      <p:sp>
        <p:nvSpPr>
          <p:cNvPr id="8" name="TextBox 7"/>
          <p:cNvSpPr txBox="1"/>
          <p:nvPr/>
        </p:nvSpPr>
        <p:spPr>
          <a:xfrm>
            <a:off x="7863840" y="6126480"/>
            <a:ext cx="3840480" cy="274320"/>
          </a:xfrm>
          <a:prstGeom prst="rect">
            <a:avLst/>
          </a:prstGeom>
          <a:noFill/>
        </p:spPr>
        <p:txBody>
          <a:bodyPr wrap="none">
            <a:spAutoFit/>
          </a:bodyPr>
          <a:lstStyle/>
          <a:p>
            <a:pPr algn="ctr"/>
            <a:r>
              <a:rPr sz="1000" b="0" i="0">
                <a:solidFill>
                  <a:srgbClr val="888888"/>
                </a:solidFill>
                <a:latin typeface="Calibri"/>
              </a:rPr>
              <a:t>Electrostatic extrusion</a:t>
            </a:r>
          </a:p>
        </p:txBody>
      </p:sp>
      <p:sp>
        <p:nvSpPr>
          <p:cNvPr id="9" name="TextBox 8"/>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a:hlinkClick action="ppaction://hlinksldjump" r:id="rId3"/>
          </p:cNvPr>
          <p:cNvSpPr/>
          <p:nvPr/>
        </p:nvSpPr>
        <p:spPr>
          <a:xfrm>
            <a:off x="0" y="0"/>
            <a:ext cx="12191695"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ads-shrinkage.png">
            <a:hlinkClick action="ppaction://hlinksldjump" r:id="rId3"/>
          </p:cNvPr>
          <p:cNvPicPr>
            <a:picLocks noChangeAspect="1"/>
          </p:cNvPicPr>
          <p:nvPr/>
        </p:nvPicPr>
        <p:blipFill>
          <a:blip r:embed="rId2"/>
          <a:stretch>
            <a:fillRect/>
          </a:stretch>
        </p:blipFill>
        <p:spPr>
          <a:xfrm>
            <a:off x="274320" y="1691931"/>
            <a:ext cx="11643055" cy="3474137"/>
          </a:xfrm>
          <a:prstGeom prst="rect">
            <a:avLst/>
          </a:prstGeom>
        </p:spPr>
      </p:pic>
      <p:sp>
        <p:nvSpPr>
          <p:cNvPr id="4" name="TextBox 3"/>
          <p:cNvSpPr txBox="1"/>
          <p:nvPr/>
        </p:nvSpPr>
        <p:spPr>
          <a:xfrm>
            <a:off x="365760" y="6473952"/>
            <a:ext cx="5486400" cy="292608"/>
          </a:xfrm>
          <a:prstGeom prst="rect">
            <a:avLst/>
          </a:prstGeom>
          <a:noFill/>
        </p:spPr>
        <p:txBody>
          <a:bodyPr wrap="none">
            <a:spAutoFit/>
          </a:bodyPr>
          <a:lstStyle/>
          <a:p>
            <a:pPr algn="l"/>
            <a:r>
              <a:rPr sz="1100" b="0" i="0">
                <a:solidFill>
                  <a:srgbClr val="CCCCCC"/>
                </a:solidFill>
                <a:latin typeface="Calibri"/>
              </a:rPr>
              <a:t>Click image to go back</a:t>
            </a:r>
          </a:p>
        </p:txBody>
      </p:sp>
    </p:spTree>
  </p:cSld>
  <p:clrMapOvr>
    <a:masterClrMapping/>
  </p:clrMapOvr>
  <p:transition spd="slow">
    <p:fade/>
  </p:transition>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a:hlinkClick action="ppaction://hlinksldjump" r:id="rId3"/>
          </p:cNvPr>
          <p:cNvSpPr/>
          <p:nvPr/>
        </p:nvSpPr>
        <p:spPr>
          <a:xfrm>
            <a:off x="0" y="0"/>
            <a:ext cx="12191695"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xtrusion.png">
            <a:hlinkClick action="ppaction://hlinksldjump" r:id="rId3"/>
          </p:cNvPr>
          <p:cNvPicPr>
            <a:picLocks noChangeAspect="1"/>
          </p:cNvPicPr>
          <p:nvPr/>
        </p:nvPicPr>
        <p:blipFill>
          <a:blip r:embed="rId2"/>
          <a:stretch>
            <a:fillRect/>
          </a:stretch>
        </p:blipFill>
        <p:spPr>
          <a:xfrm>
            <a:off x="2398563" y="274320"/>
            <a:ext cx="7394569" cy="6309360"/>
          </a:xfrm>
          <a:prstGeom prst="rect">
            <a:avLst/>
          </a:prstGeom>
        </p:spPr>
      </p:pic>
      <p:sp>
        <p:nvSpPr>
          <p:cNvPr id="4" name="TextBox 3"/>
          <p:cNvSpPr txBox="1"/>
          <p:nvPr/>
        </p:nvSpPr>
        <p:spPr>
          <a:xfrm>
            <a:off x="365760" y="6473952"/>
            <a:ext cx="5486400" cy="292608"/>
          </a:xfrm>
          <a:prstGeom prst="rect">
            <a:avLst/>
          </a:prstGeom>
          <a:noFill/>
        </p:spPr>
        <p:txBody>
          <a:bodyPr wrap="none">
            <a:spAutoFit/>
          </a:bodyPr>
          <a:lstStyle/>
          <a:p>
            <a:pPr algn="l"/>
            <a:r>
              <a:rPr sz="1100" b="0" i="0">
                <a:solidFill>
                  <a:srgbClr val="CCCCCC"/>
                </a:solidFill>
                <a:latin typeface="Calibri"/>
              </a:rPr>
              <a:t>Click image to go back</a:t>
            </a:r>
          </a:p>
        </p:txBody>
      </p:sp>
    </p:spTree>
  </p:cSld>
  <p:clrMapOvr>
    <a:masterClrMapping/>
  </p:clrMapOvr>
  <p:transition spd="slow">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
            <a:ext cx="11064240" cy="320040"/>
          </a:xfrm>
          <a:prstGeom prst="rect">
            <a:avLst/>
          </a:prstGeom>
          <a:noFill/>
        </p:spPr>
        <p:txBody>
          <a:bodyPr wrap="none">
            <a:spAutoFit/>
          </a:bodyPr>
          <a:lstStyle/>
          <a:p>
            <a:pPr algn="l"/>
            <a:r>
              <a:rPr sz="1400" b="1" i="0">
                <a:solidFill>
                  <a:srgbClr val="1A3A5C"/>
                </a:solidFill>
                <a:latin typeface="Calibri"/>
              </a:rPr>
              <a:t>PHASE II</a:t>
            </a:r>
          </a:p>
        </p:txBody>
      </p:sp>
      <p:sp>
        <p:nvSpPr>
          <p:cNvPr id="3" name="TextBox 2"/>
          <p:cNvSpPr txBox="1"/>
          <p:nvPr/>
        </p:nvSpPr>
        <p:spPr>
          <a:xfrm>
            <a:off x="548640" y="411480"/>
            <a:ext cx="11064240" cy="640080"/>
          </a:xfrm>
          <a:prstGeom prst="rect">
            <a:avLst/>
          </a:prstGeom>
          <a:noFill/>
        </p:spPr>
        <p:txBody>
          <a:bodyPr wrap="none">
            <a:spAutoFit/>
          </a:bodyPr>
          <a:lstStyle/>
          <a:p>
            <a:pPr algn="l"/>
            <a:r>
              <a:rPr sz="3200" b="1" i="0">
                <a:solidFill>
                  <a:srgbClr val="1A3A5C"/>
                </a:solidFill>
                <a:latin typeface="Calibri"/>
              </a:rPr>
              <a:t>Machine Learning</a:t>
            </a:r>
          </a:p>
        </p:txBody>
      </p:sp>
      <p:sp>
        <p:nvSpPr>
          <p:cNvPr id="4" name="TextBox 3"/>
          <p:cNvSpPr txBox="1"/>
          <p:nvPr/>
        </p:nvSpPr>
        <p:spPr>
          <a:xfrm>
            <a:off x="548640" y="960120"/>
            <a:ext cx="11064240" cy="320040"/>
          </a:xfrm>
          <a:prstGeom prst="rect">
            <a:avLst/>
          </a:prstGeom>
          <a:noFill/>
        </p:spPr>
        <p:txBody>
          <a:bodyPr wrap="none">
            <a:spAutoFit/>
          </a:bodyPr>
          <a:lstStyle/>
          <a:p>
            <a:pPr algn="l"/>
            <a:r>
              <a:rPr sz="1400" b="0" i="0">
                <a:solidFill>
                  <a:srgbClr val="888888"/>
                </a:solidFill>
                <a:latin typeface="Calibri"/>
              </a:rPr>
              <a:t>A four step pipeline from literature oils to interpretable motifs</a:t>
            </a:r>
          </a:p>
        </p:txBody>
      </p:sp>
      <p:sp>
        <p:nvSpPr>
          <p:cNvPr id="5" name="Rounded Rectangle 4"/>
          <p:cNvSpPr/>
          <p:nvPr/>
        </p:nvSpPr>
        <p:spPr>
          <a:xfrm>
            <a:off x="457200" y="1417320"/>
            <a:ext cx="2697480" cy="324612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417320"/>
            <a:ext cx="2697480" cy="914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1645920"/>
            <a:ext cx="777240" cy="457200"/>
          </a:xfrm>
          <a:prstGeom prst="rect">
            <a:avLst/>
          </a:prstGeom>
          <a:noFill/>
        </p:spPr>
        <p:txBody>
          <a:bodyPr wrap="none">
            <a:spAutoFit/>
          </a:bodyPr>
          <a:lstStyle/>
          <a:p>
            <a:pPr algn="ctr"/>
            <a:r>
              <a:rPr sz="2200" b="1" i="0">
                <a:solidFill>
                  <a:srgbClr val="1A3A5C"/>
                </a:solidFill>
                <a:latin typeface="Calibri"/>
              </a:rPr>
              <a:t>1</a:t>
            </a:r>
          </a:p>
        </p:txBody>
      </p:sp>
      <p:sp>
        <p:nvSpPr>
          <p:cNvPr id="8" name="TextBox 7"/>
          <p:cNvSpPr txBox="1"/>
          <p:nvPr/>
        </p:nvSpPr>
        <p:spPr>
          <a:xfrm>
            <a:off x="640080" y="2240280"/>
            <a:ext cx="2377440" cy="2286000"/>
          </a:xfrm>
          <a:prstGeom prst="rect">
            <a:avLst/>
          </a:prstGeom>
          <a:noFill/>
        </p:spPr>
        <p:txBody>
          <a:bodyPr wrap="square">
            <a:spAutoFit/>
          </a:bodyPr>
          <a:lstStyle/>
          <a:p>
            <a:pPr algn="l"/>
            <a:r>
              <a:rPr sz="1500" b="1" i="0">
                <a:solidFill>
                  <a:srgbClr val="1A3A5C"/>
                </a:solidFill>
                <a:latin typeface="Calibri"/>
              </a:rPr>
              <a:t>Collect data</a:t>
            </a:r>
          </a:p>
          <a:p>
            <a:pPr algn="l">
              <a:spcBef>
                <a:spcPts val="400"/>
              </a:spcBef>
              <a:spcAft>
                <a:spcPts val="200"/>
              </a:spcAft>
            </a:pPr>
            <a:r>
              <a:rPr sz="1200" b="0" i="0">
                <a:solidFill>
                  <a:srgbClr val="555555"/>
                </a:solidFill>
                <a:latin typeface="Calibri"/>
              </a:rPr>
              <a:t>Published EO studies · composition + anti </a:t>
            </a:r>
            <a:r>
              <a:rPr sz="1200" b="0" i="1">
                <a:solidFill>
                  <a:srgbClr val="555555"/>
                </a:solidFill>
                <a:latin typeface="Calibri"/>
              </a:rPr>
              <a:t>Salmonella</a:t>
            </a:r>
            <a:r>
              <a:rPr sz="1200" b="0" i="0">
                <a:solidFill>
                  <a:srgbClr val="555555"/>
                </a:solidFill>
                <a:latin typeface="Calibri"/>
              </a:rPr>
              <a:t> labels · majors &gt;10%</a:t>
            </a:r>
          </a:p>
          <a:p>
            <a:pPr algn="l">
              <a:spcBef>
                <a:spcPts val="400"/>
              </a:spcBef>
              <a:spcAft>
                <a:spcPts val="200"/>
              </a:spcAft>
            </a:pPr>
          </a:p>
          <a:p>
            <a:pPr algn="l">
              <a:spcBef>
                <a:spcPts val="400"/>
              </a:spcBef>
              <a:spcAft>
                <a:spcPts val="200"/>
              </a:spcAft>
            </a:pPr>
            <a:r>
              <a:rPr sz="1400" b="1" i="0">
                <a:solidFill>
                  <a:srgbClr val="1A3A5C"/>
                </a:solidFill>
                <a:latin typeface="Calibri"/>
              </a:rPr>
              <a:t>171 oils · 87 / 84</a:t>
            </a:r>
          </a:p>
        </p:txBody>
      </p:sp>
      <p:sp>
        <p:nvSpPr>
          <p:cNvPr id="9" name="Rounded Rectangle 8"/>
          <p:cNvSpPr/>
          <p:nvPr/>
        </p:nvSpPr>
        <p:spPr>
          <a:xfrm>
            <a:off x="3383280" y="1417320"/>
            <a:ext cx="2697480" cy="324612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83280" y="1417320"/>
            <a:ext cx="2697480" cy="91440"/>
          </a:xfrm>
          <a:prstGeom prst="rect">
            <a:avLst/>
          </a:prstGeom>
          <a:solidFill>
            <a:srgbClr val="3D6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645920"/>
            <a:ext cx="777240" cy="457200"/>
          </a:xfrm>
          <a:prstGeom prst="rect">
            <a:avLst/>
          </a:prstGeom>
          <a:noFill/>
        </p:spPr>
        <p:txBody>
          <a:bodyPr wrap="none">
            <a:spAutoFit/>
          </a:bodyPr>
          <a:lstStyle/>
          <a:p>
            <a:pPr algn="ctr"/>
            <a:r>
              <a:rPr sz="2200" b="1" i="0">
                <a:solidFill>
                  <a:srgbClr val="3D6A99"/>
                </a:solidFill>
                <a:latin typeface="Calibri"/>
              </a:rPr>
              <a:t>2</a:t>
            </a:r>
          </a:p>
        </p:txBody>
      </p:sp>
      <p:sp>
        <p:nvSpPr>
          <p:cNvPr id="12" name="TextBox 11"/>
          <p:cNvSpPr txBox="1"/>
          <p:nvPr/>
        </p:nvSpPr>
        <p:spPr>
          <a:xfrm>
            <a:off x="3566160" y="2240280"/>
            <a:ext cx="2377440" cy="2286000"/>
          </a:xfrm>
          <a:prstGeom prst="rect">
            <a:avLst/>
          </a:prstGeom>
          <a:noFill/>
        </p:spPr>
        <p:txBody>
          <a:bodyPr wrap="square">
            <a:spAutoFit/>
          </a:bodyPr>
          <a:lstStyle/>
          <a:p>
            <a:pPr algn="l"/>
            <a:r>
              <a:rPr sz="1500" b="1" i="0">
                <a:solidFill>
                  <a:srgbClr val="1A3A5C"/>
                </a:solidFill>
                <a:latin typeface="Calibri"/>
              </a:rPr>
              <a:t>Encode molecules</a:t>
            </a:r>
          </a:p>
          <a:p>
            <a:pPr algn="l">
              <a:spcBef>
                <a:spcPts val="400"/>
              </a:spcBef>
              <a:spcAft>
                <a:spcPts val="200"/>
              </a:spcAft>
            </a:pPr>
            <a:r>
              <a:rPr sz="1200" b="0" i="0">
                <a:solidFill>
                  <a:srgbClr val="555555"/>
                </a:solidFill>
                <a:latin typeface="Calibri"/>
              </a:rPr>
              <a:t>Names → SMILES → binary Morgan fingerprints</a:t>
            </a:r>
          </a:p>
          <a:p>
            <a:pPr algn="l">
              <a:spcBef>
                <a:spcPts val="400"/>
              </a:spcBef>
              <a:spcAft>
                <a:spcPts val="200"/>
              </a:spcAft>
            </a:pPr>
          </a:p>
          <a:p>
            <a:pPr algn="l">
              <a:spcBef>
                <a:spcPts val="400"/>
              </a:spcBef>
              <a:spcAft>
                <a:spcPts val="200"/>
              </a:spcAft>
            </a:pPr>
            <a:r>
              <a:rPr sz="1400" b="1" i="0">
                <a:solidFill>
                  <a:srgbClr val="3D6A99"/>
                </a:solidFill>
                <a:latin typeface="Calibri"/>
              </a:rPr>
              <a:t>bits · molecular features</a:t>
            </a:r>
          </a:p>
        </p:txBody>
      </p:sp>
      <p:sp>
        <p:nvSpPr>
          <p:cNvPr id="13" name="Rounded Rectangle 12"/>
          <p:cNvSpPr/>
          <p:nvPr/>
        </p:nvSpPr>
        <p:spPr>
          <a:xfrm>
            <a:off x="6309360" y="1417320"/>
            <a:ext cx="2697480" cy="324612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17320"/>
            <a:ext cx="2697480" cy="91440"/>
          </a:xfrm>
          <a:prstGeom prst="rect">
            <a:avLst/>
          </a:prstGeom>
          <a:solidFill>
            <a:srgbClr val="4A67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1645920"/>
            <a:ext cx="777240" cy="457200"/>
          </a:xfrm>
          <a:prstGeom prst="rect">
            <a:avLst/>
          </a:prstGeom>
          <a:noFill/>
        </p:spPr>
        <p:txBody>
          <a:bodyPr wrap="none">
            <a:spAutoFit/>
          </a:bodyPr>
          <a:lstStyle/>
          <a:p>
            <a:pPr algn="ctr"/>
            <a:r>
              <a:rPr sz="2200" b="1" i="0">
                <a:solidFill>
                  <a:srgbClr val="4A6741"/>
                </a:solidFill>
                <a:latin typeface="Calibri"/>
              </a:rPr>
              <a:t>3</a:t>
            </a:r>
          </a:p>
        </p:txBody>
      </p:sp>
      <p:sp>
        <p:nvSpPr>
          <p:cNvPr id="16" name="TextBox 15"/>
          <p:cNvSpPr txBox="1"/>
          <p:nvPr/>
        </p:nvSpPr>
        <p:spPr>
          <a:xfrm>
            <a:off x="6492240" y="2240280"/>
            <a:ext cx="2377440" cy="2286000"/>
          </a:xfrm>
          <a:prstGeom prst="rect">
            <a:avLst/>
          </a:prstGeom>
          <a:noFill/>
        </p:spPr>
        <p:txBody>
          <a:bodyPr wrap="square">
            <a:spAutoFit/>
          </a:bodyPr>
          <a:lstStyle/>
          <a:p>
            <a:pPr algn="l"/>
            <a:r>
              <a:rPr sz="1500" b="1" i="0">
                <a:solidFill>
                  <a:srgbClr val="1A3A5C"/>
                </a:solidFill>
                <a:latin typeface="Calibri"/>
              </a:rPr>
              <a:t>Model &amp; rank</a:t>
            </a:r>
          </a:p>
          <a:p>
            <a:pPr algn="l">
              <a:spcBef>
                <a:spcPts val="400"/>
              </a:spcBef>
              <a:spcAft>
                <a:spcPts val="200"/>
              </a:spcAft>
            </a:pPr>
            <a:r>
              <a:rPr sz="1200" b="0" i="0">
                <a:solidFill>
                  <a:srgbClr val="555555"/>
                </a:solidFill>
                <a:latin typeface="Calibri"/>
              </a:rPr>
              <a:t>L1 logistic regression + permutation feature importance</a:t>
            </a:r>
          </a:p>
          <a:p>
            <a:pPr algn="l">
              <a:spcBef>
                <a:spcPts val="400"/>
              </a:spcBef>
              <a:spcAft>
                <a:spcPts val="200"/>
              </a:spcAft>
            </a:pPr>
          </a:p>
          <a:p>
            <a:pPr algn="l">
              <a:spcBef>
                <a:spcPts val="400"/>
              </a:spcBef>
              <a:spcAft>
                <a:spcPts val="200"/>
              </a:spcAft>
            </a:pPr>
            <a:r>
              <a:rPr sz="1400" b="1" i="0">
                <a:solidFill>
                  <a:srgbClr val="4A6741"/>
                </a:solidFill>
                <a:latin typeface="Calibri"/>
              </a:rPr>
              <a:t>PFI · key bits</a:t>
            </a:r>
          </a:p>
        </p:txBody>
      </p:sp>
      <p:sp>
        <p:nvSpPr>
          <p:cNvPr id="17" name="Rounded Rectangle 16"/>
          <p:cNvSpPr/>
          <p:nvPr/>
        </p:nvSpPr>
        <p:spPr>
          <a:xfrm>
            <a:off x="9235440" y="1417320"/>
            <a:ext cx="2697480" cy="3246120"/>
          </a:xfrm>
          <a:prstGeom prst="round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35440" y="1417320"/>
            <a:ext cx="2697480" cy="9144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95560" y="1645920"/>
            <a:ext cx="777240" cy="457200"/>
          </a:xfrm>
          <a:prstGeom prst="rect">
            <a:avLst/>
          </a:prstGeom>
          <a:noFill/>
        </p:spPr>
        <p:txBody>
          <a:bodyPr wrap="none">
            <a:spAutoFit/>
          </a:bodyPr>
          <a:lstStyle/>
          <a:p>
            <a:pPr algn="ctr"/>
            <a:r>
              <a:rPr sz="2200" b="1" i="0">
                <a:solidFill>
                  <a:srgbClr val="C9A227"/>
                </a:solidFill>
                <a:latin typeface="Calibri"/>
              </a:rPr>
              <a:t>4</a:t>
            </a:r>
          </a:p>
        </p:txBody>
      </p:sp>
      <p:sp>
        <p:nvSpPr>
          <p:cNvPr id="20" name="TextBox 19"/>
          <p:cNvSpPr txBox="1"/>
          <p:nvPr/>
        </p:nvSpPr>
        <p:spPr>
          <a:xfrm>
            <a:off x="9418320" y="2240280"/>
            <a:ext cx="2377440" cy="2286000"/>
          </a:xfrm>
          <a:prstGeom prst="rect">
            <a:avLst/>
          </a:prstGeom>
          <a:noFill/>
        </p:spPr>
        <p:txBody>
          <a:bodyPr wrap="square">
            <a:spAutoFit/>
          </a:bodyPr>
          <a:lstStyle/>
          <a:p>
            <a:pPr algn="l"/>
            <a:r>
              <a:rPr sz="1500" b="1" i="0">
                <a:solidFill>
                  <a:srgbClr val="1A3A5C"/>
                </a:solidFill>
                <a:latin typeface="Calibri"/>
              </a:rPr>
              <a:t>Check literature</a:t>
            </a:r>
          </a:p>
          <a:p>
            <a:pPr algn="l">
              <a:spcBef>
                <a:spcPts val="400"/>
              </a:spcBef>
              <a:spcAft>
                <a:spcPts val="200"/>
              </a:spcAft>
            </a:pPr>
            <a:r>
              <a:rPr sz="1200" b="0" i="0">
                <a:solidFill>
                  <a:srgbClr val="555555"/>
                </a:solidFill>
                <a:latin typeface="Calibri"/>
              </a:rPr>
              <a:t>Compare selected motifs with known EO bioactivity</a:t>
            </a:r>
          </a:p>
          <a:p>
            <a:pPr algn="l">
              <a:spcBef>
                <a:spcPts val="400"/>
              </a:spcBef>
              <a:spcAft>
                <a:spcPts val="200"/>
              </a:spcAft>
            </a:pPr>
          </a:p>
          <a:p>
            <a:pPr algn="l">
              <a:spcBef>
                <a:spcPts val="400"/>
              </a:spcBef>
              <a:spcAft>
                <a:spcPts val="200"/>
              </a:spcAft>
            </a:pPr>
            <a:r>
              <a:rPr sz="1400" b="1" i="0">
                <a:solidFill>
                  <a:srgbClr val="C9A227"/>
                </a:solidFill>
                <a:latin typeface="Calibri"/>
              </a:rPr>
              <a:t>validate</a:t>
            </a:r>
          </a:p>
        </p:txBody>
      </p:sp>
      <p:sp>
        <p:nvSpPr>
          <p:cNvPr id="21" name="Rounded Rectangle 20"/>
          <p:cNvSpPr/>
          <p:nvPr/>
        </p:nvSpPr>
        <p:spPr>
          <a:xfrm>
            <a:off x="548640" y="4937760"/>
            <a:ext cx="11064240" cy="1234440"/>
          </a:xfrm>
          <a:prstGeom prst="roundRect">
            <a:avLst/>
          </a:prstGeom>
          <a:solidFill>
            <a:srgbClr val="ECF1EA"/>
          </a:solidFill>
          <a:ln w="19050">
            <a:solidFill>
              <a:srgbClr val="4A67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074920"/>
            <a:ext cx="10332720" cy="1005840"/>
          </a:xfrm>
          <a:prstGeom prst="rect">
            <a:avLst/>
          </a:prstGeom>
          <a:noFill/>
        </p:spPr>
        <p:txBody>
          <a:bodyPr wrap="square">
            <a:spAutoFit/>
          </a:bodyPr>
          <a:lstStyle/>
          <a:p>
            <a:pPr algn="l"/>
            <a:r>
              <a:rPr sz="1200" b="1" i="0">
                <a:solidFill>
                  <a:srgbClr val="4A6741"/>
                </a:solidFill>
                <a:latin typeface="Calibri"/>
              </a:rPr>
              <a:t>OUTCOME</a:t>
            </a:r>
          </a:p>
          <a:p>
            <a:pPr algn="l">
              <a:spcBef>
                <a:spcPts val="400"/>
              </a:spcBef>
              <a:spcAft>
                <a:spcPts val="200"/>
              </a:spcAft>
            </a:pPr>
            <a:r>
              <a:rPr sz="1700" b="1" i="0">
                <a:solidFill>
                  <a:srgbClr val="1A3A5C"/>
                </a:solidFill>
                <a:latin typeface="Calibri"/>
              </a:rPr>
              <a:t>A reusable pipeline: the same approach can guide which compounds to test next in the lab.</a:t>
            </a:r>
          </a:p>
        </p:txBody>
      </p:sp>
      <p:sp>
        <p:nvSpPr>
          <p:cNvPr id="23" name="TextBox 22"/>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pPr algn="l"/>
            <a:r>
              <a:rPr sz="3200" b="1" i="0">
                <a:solidFill>
                  <a:srgbClr val="1A3A5C"/>
                </a:solidFill>
                <a:latin typeface="Calibri"/>
              </a:rPr>
              <a:t>Machine Learning Insights</a:t>
            </a:r>
          </a:p>
        </p:txBody>
      </p:sp>
      <p:sp>
        <p:nvSpPr>
          <p:cNvPr id="3" name="TextBox 2"/>
          <p:cNvSpPr txBox="1"/>
          <p:nvPr/>
        </p:nvSpPr>
        <p:spPr>
          <a:xfrm>
            <a:off x="548640" y="1051560"/>
            <a:ext cx="3291840" cy="320040"/>
          </a:xfrm>
          <a:prstGeom prst="rect">
            <a:avLst/>
          </a:prstGeom>
          <a:noFill/>
        </p:spPr>
        <p:txBody>
          <a:bodyPr wrap="none">
            <a:spAutoFit/>
          </a:bodyPr>
          <a:lstStyle/>
          <a:p>
            <a:pPr algn="ctr"/>
            <a:r>
              <a:rPr sz="1200" b="1" i="0">
                <a:solidFill>
                  <a:srgbClr val="1A3A5C"/>
                </a:solidFill>
                <a:latin typeface="Calibri"/>
              </a:rPr>
              <a:t>FEATURE SELECTION</a:t>
            </a:r>
          </a:p>
        </p:txBody>
      </p:sp>
      <p:sp>
        <p:nvSpPr>
          <p:cNvPr id="4" name="Rounded Rectangle 3"/>
          <p:cNvSpPr/>
          <p:nvPr/>
        </p:nvSpPr>
        <p:spPr>
          <a:xfrm>
            <a:off x="640080" y="1463040"/>
            <a:ext cx="3108960" cy="457200"/>
          </a:xfrm>
          <a:prstGeom prst="round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2048 Morgan bits</a:t>
            </a:r>
          </a:p>
        </p:txBody>
      </p:sp>
      <p:sp>
        <p:nvSpPr>
          <p:cNvPr id="5" name="Rounded Rectangle 4"/>
          <p:cNvSpPr/>
          <p:nvPr/>
        </p:nvSpPr>
        <p:spPr>
          <a:xfrm>
            <a:off x="937259" y="2011680"/>
            <a:ext cx="2514600" cy="457200"/>
          </a:xfrm>
          <a:prstGeom prst="roundRect">
            <a:avLst/>
          </a:prstGeom>
          <a:solidFill>
            <a:srgbClr val="3D6A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682 present in data</a:t>
            </a:r>
          </a:p>
        </p:txBody>
      </p:sp>
      <p:sp>
        <p:nvSpPr>
          <p:cNvPr id="6" name="Rounded Rectangle 5"/>
          <p:cNvSpPr/>
          <p:nvPr/>
        </p:nvSpPr>
        <p:spPr>
          <a:xfrm>
            <a:off x="1234439" y="2560320"/>
            <a:ext cx="1920240" cy="457200"/>
          </a:xfrm>
          <a:prstGeom prst="roundRect">
            <a:avLst/>
          </a:prstGeom>
          <a:solidFill>
            <a:srgbClr val="4A674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337 uncorrelated</a:t>
            </a:r>
          </a:p>
        </p:txBody>
      </p:sp>
      <p:sp>
        <p:nvSpPr>
          <p:cNvPr id="7" name="Rounded Rectangle 6"/>
          <p:cNvSpPr/>
          <p:nvPr/>
        </p:nvSpPr>
        <p:spPr>
          <a:xfrm>
            <a:off x="1531619" y="3108960"/>
            <a:ext cx="1325880" cy="457200"/>
          </a:xfrm>
          <a:prstGeom prst="round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10 key bits</a:t>
            </a:r>
          </a:p>
        </p:txBody>
      </p:sp>
      <p:sp>
        <p:nvSpPr>
          <p:cNvPr id="8" name="TextBox 7"/>
          <p:cNvSpPr txBox="1"/>
          <p:nvPr/>
        </p:nvSpPr>
        <p:spPr>
          <a:xfrm>
            <a:off x="548640" y="3703320"/>
            <a:ext cx="3291840" cy="365760"/>
          </a:xfrm>
          <a:prstGeom prst="rect">
            <a:avLst/>
          </a:prstGeom>
          <a:noFill/>
        </p:spPr>
        <p:txBody>
          <a:bodyPr wrap="none">
            <a:spAutoFit/>
          </a:bodyPr>
          <a:lstStyle/>
          <a:p>
            <a:pPr algn="ctr"/>
            <a:r>
              <a:rPr sz="1100" b="0" i="0">
                <a:solidFill>
                  <a:srgbClr val="888888"/>
                </a:solidFill>
                <a:latin typeface="Calibri"/>
              </a:rPr>
              <a:t>PFI threshold: ROC AUC drop of at least 0.01</a:t>
            </a:r>
          </a:p>
        </p:txBody>
      </p:sp>
      <p:graphicFrame>
        <p:nvGraphicFramePr>
          <p:cNvPr id="9" name="Table 8"/>
          <p:cNvGraphicFramePr>
            <a:graphicFrameLocks noGrp="1"/>
          </p:cNvGraphicFramePr>
          <p:nvPr/>
        </p:nvGraphicFramePr>
        <p:xfrm>
          <a:off x="4114800" y="1143000"/>
          <a:ext cx="3291840" cy="2286000"/>
        </p:xfrm>
        <a:graphic>
          <a:graphicData uri="http://schemas.openxmlformats.org/drawingml/2006/table">
            <a:tbl>
              <a:tblPr>
                <a:tableStyleId>{5C22544A-7EE6-4342-B048-85BDC9FD1C3A}</a:tableStyleId>
              </a:tblPr>
              <a:tblGrid>
                <a:gridCol w="1097280"/>
                <a:gridCol w="1097280"/>
                <a:gridCol w="1097280"/>
              </a:tblGrid>
              <a:tr h="381000">
                <a:tc>
                  <a:txBody>
                    <a:bodyPr/>
                    <a:lstStyle/>
                    <a:p>
                      <a:pPr algn="l"/>
                      <a:r>
                        <a:rPr sz="1200" b="1">
                          <a:solidFill>
                            <a:srgbClr val="FFFFFF"/>
                          </a:solidFill>
                          <a:latin typeface="Calibri"/>
                        </a:rPr>
                        <a:t>Metric</a:t>
                      </a:r>
                    </a:p>
                  </a:txBody>
                  <a:tcPr anchor="ctr" marT="25400" marB="25400">
                    <a:solidFill>
                      <a:srgbClr val="1A3A5C"/>
                    </a:solidFill>
                  </a:tcPr>
                </a:tc>
                <a:tc>
                  <a:txBody>
                    <a:bodyPr/>
                    <a:lstStyle/>
                    <a:p>
                      <a:pPr algn="ctr"/>
                      <a:r>
                        <a:rPr sz="1200" b="1">
                          <a:solidFill>
                            <a:srgbClr val="FFFFFF"/>
                          </a:solidFill>
                          <a:latin typeface="Calibri"/>
                        </a:rPr>
                        <a:t>Train</a:t>
                      </a:r>
                    </a:p>
                  </a:txBody>
                  <a:tcPr anchor="ctr" marT="25400" marB="25400">
                    <a:solidFill>
                      <a:srgbClr val="1A3A5C"/>
                    </a:solidFill>
                  </a:tcPr>
                </a:tc>
                <a:tc>
                  <a:txBody>
                    <a:bodyPr/>
                    <a:lstStyle/>
                    <a:p>
                      <a:pPr algn="ctr"/>
                      <a:r>
                        <a:rPr sz="1200" b="1">
                          <a:solidFill>
                            <a:srgbClr val="FFFFFF"/>
                          </a:solidFill>
                          <a:latin typeface="Calibri"/>
                        </a:rPr>
                        <a:t>Test</a:t>
                      </a:r>
                    </a:p>
                  </a:txBody>
                  <a:tcPr anchor="ctr" marT="25400" marB="25400">
                    <a:solidFill>
                      <a:srgbClr val="1A3A5C"/>
                    </a:solidFill>
                  </a:tcPr>
                </a:tc>
              </a:tr>
              <a:tr h="381000">
                <a:tc>
                  <a:txBody>
                    <a:bodyPr/>
                    <a:lstStyle/>
                    <a:p>
                      <a:pPr algn="l"/>
                      <a:r>
                        <a:rPr sz="1200">
                          <a:solidFill>
                            <a:srgbClr val="555555"/>
                          </a:solidFill>
                          <a:latin typeface="Calibri"/>
                        </a:rPr>
                        <a:t>Accuracy</a:t>
                      </a:r>
                    </a:p>
                  </a:txBody>
                  <a:tcPr anchor="ctr" marT="25400" marB="25400">
                    <a:solidFill>
                      <a:srgbClr val="FFFFFF"/>
                    </a:solidFill>
                  </a:tcPr>
                </a:tc>
                <a:tc>
                  <a:txBody>
                    <a:bodyPr/>
                    <a:lstStyle/>
                    <a:p>
                      <a:pPr algn="ctr"/>
                      <a:r>
                        <a:rPr sz="1200">
                          <a:solidFill>
                            <a:srgbClr val="555555"/>
                          </a:solidFill>
                          <a:latin typeface="Calibri"/>
                        </a:rPr>
                        <a:t>0.84</a:t>
                      </a:r>
                    </a:p>
                  </a:txBody>
                  <a:tcPr anchor="ctr" marT="25400" marB="25400">
                    <a:solidFill>
                      <a:srgbClr val="FFFFFF"/>
                    </a:solidFill>
                  </a:tcPr>
                </a:tc>
                <a:tc>
                  <a:txBody>
                    <a:bodyPr/>
                    <a:lstStyle/>
                    <a:p>
                      <a:pPr algn="ctr"/>
                      <a:r>
                        <a:rPr sz="1200">
                          <a:solidFill>
                            <a:srgbClr val="555555"/>
                          </a:solidFill>
                          <a:latin typeface="Calibri"/>
                        </a:rPr>
                        <a:t>0.81</a:t>
                      </a:r>
                    </a:p>
                  </a:txBody>
                  <a:tcPr anchor="ctr" marT="25400" marB="25400">
                    <a:solidFill>
                      <a:srgbClr val="FFFFFF"/>
                    </a:solidFill>
                  </a:tcPr>
                </a:tc>
              </a:tr>
              <a:tr h="381000">
                <a:tc>
                  <a:txBody>
                    <a:bodyPr/>
                    <a:lstStyle/>
                    <a:p>
                      <a:pPr algn="l"/>
                      <a:r>
                        <a:rPr sz="1200">
                          <a:solidFill>
                            <a:srgbClr val="555555"/>
                          </a:solidFill>
                          <a:latin typeface="Calibri"/>
                        </a:rPr>
                        <a:t>ROC AUC</a:t>
                      </a:r>
                    </a:p>
                  </a:txBody>
                  <a:tcPr anchor="ctr" marT="25400" marB="25400">
                    <a:solidFill>
                      <a:srgbClr val="FFFFFF"/>
                    </a:solidFill>
                  </a:tcPr>
                </a:tc>
                <a:tc>
                  <a:txBody>
                    <a:bodyPr/>
                    <a:lstStyle/>
                    <a:p>
                      <a:pPr algn="ctr"/>
                      <a:r>
                        <a:rPr sz="1200">
                          <a:solidFill>
                            <a:srgbClr val="555555"/>
                          </a:solidFill>
                          <a:latin typeface="Calibri"/>
                        </a:rPr>
                        <a:t>0.91</a:t>
                      </a:r>
                    </a:p>
                  </a:txBody>
                  <a:tcPr anchor="ctr" marT="25400" marB="25400">
                    <a:solidFill>
                      <a:srgbClr val="FFFFFF"/>
                    </a:solidFill>
                  </a:tcPr>
                </a:tc>
                <a:tc>
                  <a:txBody>
                    <a:bodyPr/>
                    <a:lstStyle/>
                    <a:p>
                      <a:pPr algn="ctr"/>
                      <a:r>
                        <a:rPr sz="1200">
                          <a:solidFill>
                            <a:srgbClr val="555555"/>
                          </a:solidFill>
                          <a:latin typeface="Calibri"/>
                        </a:rPr>
                        <a:t>0.88</a:t>
                      </a:r>
                    </a:p>
                  </a:txBody>
                  <a:tcPr anchor="ctr" marT="25400" marB="25400">
                    <a:solidFill>
                      <a:srgbClr val="FFFFFF"/>
                    </a:solidFill>
                  </a:tcPr>
                </a:tc>
              </a:tr>
              <a:tr h="381000">
                <a:tc>
                  <a:txBody>
                    <a:bodyPr/>
                    <a:lstStyle/>
                    <a:p>
                      <a:pPr algn="l"/>
                      <a:r>
                        <a:rPr sz="1200">
                          <a:solidFill>
                            <a:srgbClr val="555555"/>
                          </a:solidFill>
                          <a:latin typeface="Calibri"/>
                        </a:rPr>
                        <a:t>Sensitivity</a:t>
                      </a:r>
                    </a:p>
                  </a:txBody>
                  <a:tcPr anchor="ctr" marT="25400" marB="25400">
                    <a:solidFill>
                      <a:srgbClr val="FFFFFF"/>
                    </a:solidFill>
                  </a:tcPr>
                </a:tc>
                <a:tc>
                  <a:txBody>
                    <a:bodyPr/>
                    <a:lstStyle/>
                    <a:p>
                      <a:pPr algn="ctr"/>
                      <a:r>
                        <a:rPr sz="1200">
                          <a:solidFill>
                            <a:srgbClr val="555555"/>
                          </a:solidFill>
                          <a:latin typeface="Calibri"/>
                        </a:rPr>
                        <a:t>0.87</a:t>
                      </a:r>
                    </a:p>
                  </a:txBody>
                  <a:tcPr anchor="ctr" marT="25400" marB="25400">
                    <a:solidFill>
                      <a:srgbClr val="FFFFFF"/>
                    </a:solidFill>
                  </a:tcPr>
                </a:tc>
                <a:tc>
                  <a:txBody>
                    <a:bodyPr/>
                    <a:lstStyle/>
                    <a:p>
                      <a:pPr algn="ctr"/>
                      <a:r>
                        <a:rPr sz="1200">
                          <a:solidFill>
                            <a:srgbClr val="555555"/>
                          </a:solidFill>
                          <a:latin typeface="Calibri"/>
                        </a:rPr>
                        <a:t>0.83</a:t>
                      </a:r>
                    </a:p>
                  </a:txBody>
                  <a:tcPr anchor="ctr" marT="25400" marB="25400">
                    <a:solidFill>
                      <a:srgbClr val="FFFFFF"/>
                    </a:solidFill>
                  </a:tcPr>
                </a:tc>
              </a:tr>
              <a:tr h="381000">
                <a:tc>
                  <a:txBody>
                    <a:bodyPr/>
                    <a:lstStyle/>
                    <a:p>
                      <a:pPr algn="l"/>
                      <a:r>
                        <a:rPr sz="1200">
                          <a:solidFill>
                            <a:srgbClr val="555555"/>
                          </a:solidFill>
                          <a:latin typeface="Calibri"/>
                        </a:rPr>
                        <a:t>Specificity</a:t>
                      </a:r>
                    </a:p>
                  </a:txBody>
                  <a:tcPr anchor="ctr" marT="25400" marB="25400">
                    <a:solidFill>
                      <a:srgbClr val="FFFFFF"/>
                    </a:solidFill>
                  </a:tcPr>
                </a:tc>
                <a:tc>
                  <a:txBody>
                    <a:bodyPr/>
                    <a:lstStyle/>
                    <a:p>
                      <a:pPr algn="ctr"/>
                      <a:r>
                        <a:rPr sz="1200">
                          <a:solidFill>
                            <a:srgbClr val="555555"/>
                          </a:solidFill>
                          <a:latin typeface="Calibri"/>
                        </a:rPr>
                        <a:t>0.82</a:t>
                      </a:r>
                    </a:p>
                  </a:txBody>
                  <a:tcPr anchor="ctr" marT="25400" marB="25400">
                    <a:solidFill>
                      <a:srgbClr val="FFFFFF"/>
                    </a:solidFill>
                  </a:tcPr>
                </a:tc>
                <a:tc>
                  <a:txBody>
                    <a:bodyPr/>
                    <a:lstStyle/>
                    <a:p>
                      <a:pPr algn="ctr"/>
                      <a:r>
                        <a:rPr sz="1200">
                          <a:solidFill>
                            <a:srgbClr val="555555"/>
                          </a:solidFill>
                          <a:latin typeface="Calibri"/>
                        </a:rPr>
                        <a:t>0.80</a:t>
                      </a:r>
                    </a:p>
                  </a:txBody>
                  <a:tcPr anchor="ctr" marT="25400" marB="25400">
                    <a:solidFill>
                      <a:srgbClr val="FFFFFF"/>
                    </a:solidFill>
                  </a:tcPr>
                </a:tc>
              </a:tr>
              <a:tr h="381000">
                <a:tc>
                  <a:txBody>
                    <a:bodyPr/>
                    <a:lstStyle/>
                    <a:p>
                      <a:pPr algn="l"/>
                      <a:r>
                        <a:rPr sz="1200">
                          <a:solidFill>
                            <a:srgbClr val="555555"/>
                          </a:solidFill>
                          <a:latin typeface="Calibri"/>
                        </a:rPr>
                        <a:t>F1 score</a:t>
                      </a:r>
                    </a:p>
                  </a:txBody>
                  <a:tcPr anchor="ctr" marT="25400" marB="25400">
                    <a:solidFill>
                      <a:srgbClr val="FFFFFF"/>
                    </a:solidFill>
                  </a:tcPr>
                </a:tc>
                <a:tc>
                  <a:txBody>
                    <a:bodyPr/>
                    <a:lstStyle/>
                    <a:p>
                      <a:pPr algn="ctr"/>
                      <a:r>
                        <a:rPr sz="1200">
                          <a:solidFill>
                            <a:srgbClr val="555555"/>
                          </a:solidFill>
                          <a:latin typeface="Calibri"/>
                        </a:rPr>
                        <a:t>0.85</a:t>
                      </a:r>
                    </a:p>
                  </a:txBody>
                  <a:tcPr anchor="ctr" marT="25400" marB="25400">
                    <a:solidFill>
                      <a:srgbClr val="FFFFFF"/>
                    </a:solidFill>
                  </a:tcPr>
                </a:tc>
                <a:tc>
                  <a:txBody>
                    <a:bodyPr/>
                    <a:lstStyle/>
                    <a:p>
                      <a:pPr algn="ctr"/>
                      <a:r>
                        <a:rPr sz="1200">
                          <a:solidFill>
                            <a:srgbClr val="555555"/>
                          </a:solidFill>
                          <a:latin typeface="Calibri"/>
                        </a:rPr>
                        <a:t>0.82</a:t>
                      </a:r>
                    </a:p>
                  </a:txBody>
                  <a:tcPr anchor="ctr" marT="25400" marB="25400">
                    <a:solidFill>
                      <a:srgbClr val="FFFFFF"/>
                    </a:solidFill>
                  </a:tcPr>
                </a:tc>
              </a:tr>
            </a:tbl>
          </a:graphicData>
        </a:graphic>
      </p:graphicFrame>
      <p:sp>
        <p:nvSpPr>
          <p:cNvPr id="10" name="Rounded Rectangle 9"/>
          <p:cNvSpPr/>
          <p:nvPr/>
        </p:nvSpPr>
        <p:spPr>
          <a:xfrm>
            <a:off x="7772400" y="1143000"/>
            <a:ext cx="3840480" cy="2286000"/>
          </a:xfrm>
          <a:prstGeom prst="roundRect">
            <a:avLst/>
          </a:prstGeom>
          <a:solidFill>
            <a:srgbClr val="FBF4DF"/>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1325880"/>
            <a:ext cx="3429000" cy="1920240"/>
          </a:xfrm>
          <a:prstGeom prst="rect">
            <a:avLst/>
          </a:prstGeom>
          <a:noFill/>
        </p:spPr>
        <p:txBody>
          <a:bodyPr wrap="square">
            <a:spAutoFit/>
          </a:bodyPr>
          <a:lstStyle/>
          <a:p>
            <a:pPr algn="l"/>
            <a:r>
              <a:rPr sz="1200" b="1" i="0">
                <a:solidFill>
                  <a:srgbClr val="C9A227"/>
                </a:solidFill>
                <a:latin typeface="Calibri"/>
              </a:rPr>
              <a:t>KEY FEATURE CONFIRMED</a:t>
            </a:r>
          </a:p>
          <a:p>
            <a:pPr algn="l">
              <a:spcBef>
                <a:spcPts val="400"/>
              </a:spcBef>
              <a:spcAft>
                <a:spcPts val="200"/>
              </a:spcAft>
            </a:pPr>
            <a:r>
              <a:rPr sz="1500" b="1" i="0">
                <a:solidFill>
                  <a:srgbClr val="1A3A5C"/>
                </a:solidFill>
                <a:latin typeface="Calibri"/>
              </a:rPr>
              <a:t>Phenolic OH on an aromatic ring is strongly associated with anti </a:t>
            </a:r>
            <a:r>
              <a:rPr sz="1500" b="1" i="1">
                <a:solidFill>
                  <a:srgbClr val="1A3A5C"/>
                </a:solidFill>
                <a:latin typeface="Calibri"/>
              </a:rPr>
              <a:t>Salmonella</a:t>
            </a:r>
            <a:r>
              <a:rPr sz="1500" b="1" i="0">
                <a:solidFill>
                  <a:srgbClr val="1A3A5C"/>
                </a:solidFill>
                <a:latin typeface="Calibri"/>
              </a:rPr>
              <a:t> activity.</a:t>
            </a:r>
          </a:p>
          <a:p>
            <a:pPr algn="l">
              <a:spcBef>
                <a:spcPts val="400"/>
              </a:spcBef>
              <a:spcAft>
                <a:spcPts val="200"/>
              </a:spcAft>
            </a:pPr>
            <a:r>
              <a:rPr sz="1100" b="0" i="0">
                <a:solidFill>
                  <a:srgbClr val="888888"/>
                </a:solidFill>
                <a:latin typeface="Calibri"/>
              </a:rPr>
              <a:t>The model reproduces this well known essential oil chemistry, confirming it predicts correctly.</a:t>
            </a:r>
          </a:p>
        </p:txBody>
      </p:sp>
      <p:pic>
        <p:nvPicPr>
          <p:cNvPr id="12" name="Picture 11" descr="botanical-oregano-cut.png"/>
          <p:cNvPicPr>
            <a:picLocks noChangeAspect="1"/>
          </p:cNvPicPr>
          <p:nvPr/>
        </p:nvPicPr>
        <p:blipFill>
          <a:blip r:embed="rId2"/>
          <a:stretch>
            <a:fillRect/>
          </a:stretch>
        </p:blipFill>
        <p:spPr>
          <a:xfrm>
            <a:off x="1051560" y="4160520"/>
            <a:ext cx="740410" cy="1143000"/>
          </a:xfrm>
          <a:prstGeom prst="rect">
            <a:avLst/>
          </a:prstGeom>
        </p:spPr>
      </p:pic>
      <p:pic>
        <p:nvPicPr>
          <p:cNvPr id="13" name="Picture 12" descr="bit_1607.png"/>
          <p:cNvPicPr>
            <a:picLocks noChangeAspect="1"/>
          </p:cNvPicPr>
          <p:nvPr/>
        </p:nvPicPr>
        <p:blipFill>
          <a:blip r:embed="rId3"/>
          <a:stretch>
            <a:fillRect/>
          </a:stretch>
        </p:blipFill>
        <p:spPr>
          <a:xfrm>
            <a:off x="1280160" y="5321808"/>
            <a:ext cx="566928" cy="566928"/>
          </a:xfrm>
          <a:prstGeom prst="rect">
            <a:avLst/>
          </a:prstGeom>
        </p:spPr>
      </p:pic>
      <p:sp>
        <p:nvSpPr>
          <p:cNvPr id="14" name="TextBox 13"/>
          <p:cNvSpPr txBox="1"/>
          <p:nvPr/>
        </p:nvSpPr>
        <p:spPr>
          <a:xfrm>
            <a:off x="640080" y="5925312"/>
            <a:ext cx="2743200" cy="457200"/>
          </a:xfrm>
          <a:prstGeom prst="rect">
            <a:avLst/>
          </a:prstGeom>
          <a:noFill/>
        </p:spPr>
        <p:txBody>
          <a:bodyPr wrap="square">
            <a:spAutoFit/>
          </a:bodyPr>
          <a:lstStyle/>
          <a:p>
            <a:pPr algn="ctr"/>
            <a:r>
              <a:rPr sz="1300" b="1" i="0">
                <a:solidFill>
                  <a:srgbClr val="1A3A5C"/>
                </a:solidFill>
                <a:latin typeface="Calibri"/>
              </a:rPr>
              <a:t>Oregano</a:t>
            </a:r>
          </a:p>
          <a:p>
            <a:pPr algn="ctr">
              <a:spcBef>
                <a:spcPts val="400"/>
              </a:spcBef>
              <a:spcAft>
                <a:spcPts val="200"/>
              </a:spcAft>
            </a:pPr>
            <a:r>
              <a:rPr sz="1100" b="0" i="0">
                <a:solidFill>
                  <a:srgbClr val="4A6741"/>
                </a:solidFill>
                <a:latin typeface="Calibri"/>
              </a:rPr>
              <a:t>carvacrol · Bit 1607 positive</a:t>
            </a:r>
          </a:p>
        </p:txBody>
      </p:sp>
      <p:pic>
        <p:nvPicPr>
          <p:cNvPr id="15" name="Picture 14" descr="botanical-thyme-cut.png"/>
          <p:cNvPicPr>
            <a:picLocks noChangeAspect="1"/>
          </p:cNvPicPr>
          <p:nvPr/>
        </p:nvPicPr>
        <p:blipFill>
          <a:blip r:embed="rId4"/>
          <a:stretch>
            <a:fillRect/>
          </a:stretch>
        </p:blipFill>
        <p:spPr>
          <a:xfrm>
            <a:off x="3931920" y="4160520"/>
            <a:ext cx="769620" cy="1143000"/>
          </a:xfrm>
          <a:prstGeom prst="rect">
            <a:avLst/>
          </a:prstGeom>
        </p:spPr>
      </p:pic>
      <p:pic>
        <p:nvPicPr>
          <p:cNvPr id="16" name="Picture 15" descr="bit_1607.png"/>
          <p:cNvPicPr>
            <a:picLocks noChangeAspect="1"/>
          </p:cNvPicPr>
          <p:nvPr/>
        </p:nvPicPr>
        <p:blipFill>
          <a:blip r:embed="rId3"/>
          <a:stretch>
            <a:fillRect/>
          </a:stretch>
        </p:blipFill>
        <p:spPr>
          <a:xfrm>
            <a:off x="4160520" y="5321808"/>
            <a:ext cx="566928" cy="566928"/>
          </a:xfrm>
          <a:prstGeom prst="rect">
            <a:avLst/>
          </a:prstGeom>
        </p:spPr>
      </p:pic>
      <p:sp>
        <p:nvSpPr>
          <p:cNvPr id="17" name="TextBox 16"/>
          <p:cNvSpPr txBox="1"/>
          <p:nvPr/>
        </p:nvSpPr>
        <p:spPr>
          <a:xfrm>
            <a:off x="3520439" y="5925312"/>
            <a:ext cx="2743200" cy="457200"/>
          </a:xfrm>
          <a:prstGeom prst="rect">
            <a:avLst/>
          </a:prstGeom>
          <a:noFill/>
        </p:spPr>
        <p:txBody>
          <a:bodyPr wrap="square">
            <a:spAutoFit/>
          </a:bodyPr>
          <a:lstStyle/>
          <a:p>
            <a:pPr algn="ctr"/>
            <a:r>
              <a:rPr sz="1300" b="1" i="0">
                <a:solidFill>
                  <a:srgbClr val="1A3A5C"/>
                </a:solidFill>
                <a:latin typeface="Calibri"/>
              </a:rPr>
              <a:t>Wild thyme</a:t>
            </a:r>
          </a:p>
          <a:p>
            <a:pPr algn="ctr">
              <a:spcBef>
                <a:spcPts val="400"/>
              </a:spcBef>
              <a:spcAft>
                <a:spcPts val="200"/>
              </a:spcAft>
            </a:pPr>
            <a:r>
              <a:rPr sz="1100" b="0" i="0">
                <a:solidFill>
                  <a:srgbClr val="4A6741"/>
                </a:solidFill>
                <a:latin typeface="Calibri"/>
              </a:rPr>
              <a:t>thymol · Bit 1607 positive</a:t>
            </a:r>
          </a:p>
        </p:txBody>
      </p:sp>
      <p:pic>
        <p:nvPicPr>
          <p:cNvPr id="18" name="Picture 17" descr="botanical-clove-cut.png"/>
          <p:cNvPicPr>
            <a:picLocks noChangeAspect="1"/>
          </p:cNvPicPr>
          <p:nvPr/>
        </p:nvPicPr>
        <p:blipFill>
          <a:blip r:embed="rId5"/>
          <a:stretch>
            <a:fillRect/>
          </a:stretch>
        </p:blipFill>
        <p:spPr>
          <a:xfrm>
            <a:off x="6812280" y="4160520"/>
            <a:ext cx="838200" cy="1143000"/>
          </a:xfrm>
          <a:prstGeom prst="rect">
            <a:avLst/>
          </a:prstGeom>
        </p:spPr>
      </p:pic>
      <p:pic>
        <p:nvPicPr>
          <p:cNvPr id="19" name="Picture 18" descr="bit_1607.png"/>
          <p:cNvPicPr>
            <a:picLocks noChangeAspect="1"/>
          </p:cNvPicPr>
          <p:nvPr/>
        </p:nvPicPr>
        <p:blipFill>
          <a:blip r:embed="rId3"/>
          <a:stretch>
            <a:fillRect/>
          </a:stretch>
        </p:blipFill>
        <p:spPr>
          <a:xfrm>
            <a:off x="7040880" y="5321808"/>
            <a:ext cx="566928" cy="566928"/>
          </a:xfrm>
          <a:prstGeom prst="rect">
            <a:avLst/>
          </a:prstGeom>
        </p:spPr>
      </p:pic>
      <p:sp>
        <p:nvSpPr>
          <p:cNvPr id="20" name="TextBox 19"/>
          <p:cNvSpPr txBox="1"/>
          <p:nvPr/>
        </p:nvSpPr>
        <p:spPr>
          <a:xfrm>
            <a:off x="6400800" y="5925312"/>
            <a:ext cx="2743200" cy="457200"/>
          </a:xfrm>
          <a:prstGeom prst="rect">
            <a:avLst/>
          </a:prstGeom>
          <a:noFill/>
        </p:spPr>
        <p:txBody>
          <a:bodyPr wrap="square">
            <a:spAutoFit/>
          </a:bodyPr>
          <a:lstStyle/>
          <a:p>
            <a:pPr algn="ctr"/>
            <a:r>
              <a:rPr sz="1300" b="1" i="0">
                <a:solidFill>
                  <a:srgbClr val="1A3A5C"/>
                </a:solidFill>
                <a:latin typeface="Calibri"/>
              </a:rPr>
              <a:t>Clove</a:t>
            </a:r>
          </a:p>
          <a:p>
            <a:pPr algn="ctr">
              <a:spcBef>
                <a:spcPts val="400"/>
              </a:spcBef>
              <a:spcAft>
                <a:spcPts val="200"/>
              </a:spcAft>
            </a:pPr>
            <a:r>
              <a:rPr sz="1100" b="0" i="0">
                <a:solidFill>
                  <a:srgbClr val="4A6741"/>
                </a:solidFill>
                <a:latin typeface="Calibri"/>
              </a:rPr>
              <a:t>eugenol · Bit 1607 positive</a:t>
            </a:r>
          </a:p>
        </p:txBody>
      </p:sp>
      <p:pic>
        <p:nvPicPr>
          <p:cNvPr id="21" name="Picture 20" descr="botanical-blackpepper-cut.png"/>
          <p:cNvPicPr>
            <a:picLocks noChangeAspect="1"/>
          </p:cNvPicPr>
          <p:nvPr/>
        </p:nvPicPr>
        <p:blipFill>
          <a:blip r:embed="rId6"/>
          <a:stretch>
            <a:fillRect/>
          </a:stretch>
        </p:blipFill>
        <p:spPr>
          <a:xfrm>
            <a:off x="9692639" y="4160520"/>
            <a:ext cx="462099" cy="1143000"/>
          </a:xfrm>
          <a:prstGeom prst="rect">
            <a:avLst/>
          </a:prstGeom>
        </p:spPr>
      </p:pic>
      <p:pic>
        <p:nvPicPr>
          <p:cNvPr id="22" name="Picture 21" descr="bit_549.png"/>
          <p:cNvPicPr>
            <a:picLocks noChangeAspect="1"/>
          </p:cNvPicPr>
          <p:nvPr/>
        </p:nvPicPr>
        <p:blipFill>
          <a:blip r:embed="rId7"/>
          <a:stretch>
            <a:fillRect/>
          </a:stretch>
        </p:blipFill>
        <p:spPr>
          <a:xfrm>
            <a:off x="9921239" y="5321808"/>
            <a:ext cx="566928" cy="566928"/>
          </a:xfrm>
          <a:prstGeom prst="rect">
            <a:avLst/>
          </a:prstGeom>
        </p:spPr>
      </p:pic>
      <p:sp>
        <p:nvSpPr>
          <p:cNvPr id="23" name="TextBox 22"/>
          <p:cNvSpPr txBox="1"/>
          <p:nvPr/>
        </p:nvSpPr>
        <p:spPr>
          <a:xfrm>
            <a:off x="9281159" y="5925312"/>
            <a:ext cx="2743200" cy="457200"/>
          </a:xfrm>
          <a:prstGeom prst="rect">
            <a:avLst/>
          </a:prstGeom>
          <a:noFill/>
        </p:spPr>
        <p:txBody>
          <a:bodyPr wrap="square">
            <a:spAutoFit/>
          </a:bodyPr>
          <a:lstStyle/>
          <a:p>
            <a:pPr algn="ctr"/>
            <a:r>
              <a:rPr sz="1300" b="1" i="0">
                <a:solidFill>
                  <a:srgbClr val="1A3A5C"/>
                </a:solidFill>
                <a:latin typeface="Calibri"/>
              </a:rPr>
              <a:t>Black pepper</a:t>
            </a:r>
          </a:p>
          <a:p>
            <a:pPr algn="ctr">
              <a:spcBef>
                <a:spcPts val="400"/>
              </a:spcBef>
              <a:spcAft>
                <a:spcPts val="200"/>
              </a:spcAft>
            </a:pPr>
            <a:r>
              <a:rPr sz="1100" b="0" i="0">
                <a:solidFill>
                  <a:srgbClr val="B13507"/>
                </a:solidFill>
                <a:latin typeface="Calibri"/>
              </a:rPr>
              <a:t>β-pinene · Bit 549 negative</a:t>
            </a:r>
          </a:p>
        </p:txBody>
      </p:sp>
      <p:sp>
        <p:nvSpPr>
          <p:cNvPr id="24" name="TextBox 23"/>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pPr algn="l"/>
            <a:r>
              <a:rPr sz="3200" b="1" i="0">
                <a:solidFill>
                  <a:srgbClr val="1A3A5C"/>
                </a:solidFill>
                <a:latin typeface="Calibri"/>
              </a:rPr>
              <a:t>Limitations</a:t>
            </a:r>
          </a:p>
        </p:txBody>
      </p:sp>
      <p:sp>
        <p:nvSpPr>
          <p:cNvPr id="3" name="TextBox 2"/>
          <p:cNvSpPr txBox="1"/>
          <p:nvPr/>
        </p:nvSpPr>
        <p:spPr>
          <a:xfrm>
            <a:off x="640080" y="1371600"/>
            <a:ext cx="5212080" cy="4572000"/>
          </a:xfrm>
          <a:prstGeom prst="rect">
            <a:avLst/>
          </a:prstGeom>
          <a:noFill/>
        </p:spPr>
        <p:txBody>
          <a:bodyPr wrap="square">
            <a:spAutoFit/>
          </a:bodyPr>
          <a:lstStyle/>
          <a:p>
            <a:pPr algn="l"/>
            <a:r>
              <a:rPr sz="2000" b="1" i="0">
                <a:solidFill>
                  <a:srgbClr val="B13507"/>
                </a:solidFill>
                <a:latin typeface="Calibri"/>
              </a:rPr>
              <a:t>Experimental</a:t>
            </a:r>
          </a:p>
          <a:p>
            <a:pPr algn="l">
              <a:spcBef>
                <a:spcPts val="400"/>
              </a:spcBef>
              <a:spcAft>
                <a:spcPts val="200"/>
              </a:spcAft>
            </a:pPr>
            <a:r>
              <a:rPr sz="1500" b="1" i="0">
                <a:solidFill>
                  <a:srgbClr val="1A3A5C"/>
                </a:solidFill>
                <a:latin typeface="Calibri"/>
              </a:rPr>
              <a:t>1. Only four commercial oils</a:t>
            </a:r>
          </a:p>
          <a:p>
            <a:pPr algn="l">
              <a:spcBef>
                <a:spcPts val="400"/>
              </a:spcBef>
              <a:spcAft>
                <a:spcPts val="200"/>
              </a:spcAft>
            </a:pPr>
            <a:r>
              <a:rPr sz="1300" b="0" i="0">
                <a:solidFill>
                  <a:srgbClr val="555555"/>
                </a:solidFill>
                <a:latin typeface="Calibri"/>
              </a:rPr>
              <a:t>Limited chemotypic coverage; one production batch each.</a:t>
            </a:r>
          </a:p>
          <a:p>
            <a:pPr algn="l">
              <a:spcBef>
                <a:spcPts val="400"/>
              </a:spcBef>
              <a:spcAft>
                <a:spcPts val="200"/>
              </a:spcAft>
            </a:pPr>
            <a:r>
              <a:rPr sz="1500" b="1" i="0">
                <a:solidFill>
                  <a:srgbClr val="1A3A5C"/>
                </a:solidFill>
                <a:latin typeface="Calibri"/>
              </a:rPr>
              <a:t>2. Encapsulation was morphological</a:t>
            </a:r>
          </a:p>
          <a:p>
            <a:pPr algn="l">
              <a:spcBef>
                <a:spcPts val="400"/>
              </a:spcBef>
              <a:spcAft>
                <a:spcPts val="200"/>
              </a:spcAft>
            </a:pPr>
            <a:r>
              <a:rPr sz="1300" b="0" i="0">
                <a:solidFill>
                  <a:srgbClr val="555555"/>
                </a:solidFill>
                <a:latin typeface="Calibri"/>
              </a:rPr>
              <a:t>No release kinetics, retained bioactivity, or food matrix tests.</a:t>
            </a:r>
          </a:p>
          <a:p>
            <a:pPr algn="l">
              <a:spcBef>
                <a:spcPts val="400"/>
              </a:spcBef>
              <a:spcAft>
                <a:spcPts val="200"/>
              </a:spcAft>
            </a:pPr>
            <a:r>
              <a:rPr sz="1500" b="1" i="0">
                <a:solidFill>
                  <a:srgbClr val="1A3A5C"/>
                </a:solidFill>
                <a:latin typeface="Calibri"/>
              </a:rPr>
              <a:t>3. Single pathogen strain</a:t>
            </a:r>
          </a:p>
          <a:p>
            <a:pPr algn="l">
              <a:spcBef>
                <a:spcPts val="400"/>
              </a:spcBef>
              <a:spcAft>
                <a:spcPts val="200"/>
              </a:spcAft>
            </a:pPr>
            <a:r>
              <a:rPr sz="1300" b="0" i="0">
                <a:solidFill>
                  <a:srgbClr val="555555"/>
                </a:solidFill>
                <a:latin typeface="Calibri"/>
              </a:rPr>
              <a:t>Only </a:t>
            </a:r>
            <a:r>
              <a:rPr sz="1300" b="0" i="1">
                <a:solidFill>
                  <a:srgbClr val="555555"/>
                </a:solidFill>
                <a:latin typeface="Calibri"/>
              </a:rPr>
              <a:t>S.</a:t>
            </a:r>
            <a:r>
              <a:rPr sz="1300" b="0" i="0">
                <a:solidFill>
                  <a:srgbClr val="555555"/>
                </a:solidFill>
                <a:latin typeface="Calibri"/>
              </a:rPr>
              <a:t> Typhimurium ATCC 14028; no clinical isolates or biofilms.</a:t>
            </a:r>
          </a:p>
        </p:txBody>
      </p:sp>
      <p:sp>
        <p:nvSpPr>
          <p:cNvPr id="4" name="TextBox 3"/>
          <p:cNvSpPr txBox="1"/>
          <p:nvPr/>
        </p:nvSpPr>
        <p:spPr>
          <a:xfrm>
            <a:off x="6309360" y="1371600"/>
            <a:ext cx="5212080" cy="4572000"/>
          </a:xfrm>
          <a:prstGeom prst="rect">
            <a:avLst/>
          </a:prstGeom>
          <a:noFill/>
        </p:spPr>
        <p:txBody>
          <a:bodyPr wrap="square">
            <a:spAutoFit/>
          </a:bodyPr>
          <a:lstStyle/>
          <a:p>
            <a:pPr algn="l"/>
            <a:r>
              <a:rPr sz="2000" b="1" i="0">
                <a:solidFill>
                  <a:srgbClr val="1A3A5C"/>
                </a:solidFill>
                <a:latin typeface="Calibri"/>
              </a:rPr>
              <a:t>Computational</a:t>
            </a:r>
          </a:p>
          <a:p>
            <a:pPr algn="l">
              <a:spcBef>
                <a:spcPts val="400"/>
              </a:spcBef>
              <a:spcAft>
                <a:spcPts val="200"/>
              </a:spcAft>
            </a:pPr>
            <a:r>
              <a:rPr sz="1500" b="1" i="0">
                <a:solidFill>
                  <a:srgbClr val="1A3A5C"/>
                </a:solidFill>
                <a:latin typeface="Calibri"/>
              </a:rPr>
              <a:t>1. Heterogeneous literature data</a:t>
            </a:r>
          </a:p>
          <a:p>
            <a:pPr algn="l">
              <a:spcBef>
                <a:spcPts val="400"/>
              </a:spcBef>
              <a:spcAft>
                <a:spcPts val="200"/>
              </a:spcAft>
            </a:pPr>
            <a:r>
              <a:rPr sz="1300" b="0" i="0">
                <a:solidFill>
                  <a:srgbClr val="555555"/>
                </a:solidFill>
                <a:latin typeface="Calibri"/>
              </a:rPr>
              <a:t>MIC protocols, media, and strains vary across sources.</a:t>
            </a:r>
          </a:p>
          <a:p>
            <a:pPr algn="l">
              <a:spcBef>
                <a:spcPts val="400"/>
              </a:spcBef>
              <a:spcAft>
                <a:spcPts val="200"/>
              </a:spcAft>
            </a:pPr>
            <a:r>
              <a:rPr sz="1500" b="1" i="0">
                <a:solidFill>
                  <a:srgbClr val="1A3A5C"/>
                </a:solidFill>
                <a:latin typeface="Calibri"/>
              </a:rPr>
              <a:t>2. Internal validation only</a:t>
            </a:r>
          </a:p>
          <a:p>
            <a:pPr algn="l">
              <a:spcBef>
                <a:spcPts val="400"/>
              </a:spcBef>
              <a:spcAft>
                <a:spcPts val="200"/>
              </a:spcAft>
            </a:pPr>
            <a:r>
              <a:rPr sz="1300" b="0" i="0">
                <a:solidFill>
                  <a:srgbClr val="555555"/>
                </a:solidFill>
                <a:latin typeface="Calibri"/>
              </a:rPr>
              <a:t>Repeated stratified CV; no external holdout set.</a:t>
            </a:r>
          </a:p>
          <a:p>
            <a:pPr algn="l">
              <a:spcBef>
                <a:spcPts val="400"/>
              </a:spcBef>
              <a:spcAft>
                <a:spcPts val="200"/>
              </a:spcAft>
            </a:pPr>
            <a:r>
              <a:rPr sz="1500" b="1" i="0">
                <a:solidFill>
                  <a:srgbClr val="1A3A5C"/>
                </a:solidFill>
                <a:latin typeface="Calibri"/>
              </a:rPr>
              <a:t>3. Candidates, not confirmed mechanisms</a:t>
            </a:r>
          </a:p>
          <a:p>
            <a:pPr algn="l">
              <a:spcBef>
                <a:spcPts val="400"/>
              </a:spcBef>
              <a:spcAft>
                <a:spcPts val="200"/>
              </a:spcAft>
            </a:pPr>
            <a:r>
              <a:rPr sz="1300" b="0" i="0">
                <a:solidFill>
                  <a:srgbClr val="555555"/>
                </a:solidFill>
                <a:latin typeface="Calibri"/>
              </a:rPr>
              <a:t>Highlighted substructures still need wet lab confirmation.</a:t>
            </a:r>
          </a:p>
        </p:txBody>
      </p:sp>
      <p:sp>
        <p:nvSpPr>
          <p:cNvPr id="5" name="TextBox 4"/>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pPr algn="l"/>
            <a:r>
              <a:rPr sz="3200" b="1" i="0">
                <a:solidFill>
                  <a:srgbClr val="1A3A5C"/>
                </a:solidFill>
                <a:latin typeface="Calibri"/>
              </a:rPr>
              <a:t>Future Directions</a:t>
            </a:r>
          </a:p>
        </p:txBody>
      </p:sp>
      <p:sp>
        <p:nvSpPr>
          <p:cNvPr id="3" name="TextBox 2"/>
          <p:cNvSpPr txBox="1"/>
          <p:nvPr/>
        </p:nvSpPr>
        <p:spPr>
          <a:xfrm>
            <a:off x="548640" y="960120"/>
            <a:ext cx="11064240" cy="320040"/>
          </a:xfrm>
          <a:prstGeom prst="rect">
            <a:avLst/>
          </a:prstGeom>
          <a:noFill/>
        </p:spPr>
        <p:txBody>
          <a:bodyPr wrap="none">
            <a:spAutoFit/>
          </a:bodyPr>
          <a:lstStyle/>
          <a:p>
            <a:pPr algn="l"/>
            <a:r>
              <a:rPr sz="1400" b="0" i="0">
                <a:solidFill>
                  <a:srgbClr val="888888"/>
                </a:solidFill>
                <a:latin typeface="Calibri"/>
              </a:rPr>
              <a:t>From broader wet lab work to a closed AI to lab loop</a:t>
            </a:r>
          </a:p>
        </p:txBody>
      </p:sp>
      <p:sp>
        <p:nvSpPr>
          <p:cNvPr id="4" name="TextBox 3"/>
          <p:cNvSpPr txBox="1"/>
          <p:nvPr/>
        </p:nvSpPr>
        <p:spPr>
          <a:xfrm>
            <a:off x="640080" y="1371600"/>
            <a:ext cx="5212080" cy="3291840"/>
          </a:xfrm>
          <a:prstGeom prst="rect">
            <a:avLst/>
          </a:prstGeom>
          <a:noFill/>
        </p:spPr>
        <p:txBody>
          <a:bodyPr wrap="square">
            <a:spAutoFit/>
          </a:bodyPr>
          <a:lstStyle/>
          <a:p>
            <a:pPr algn="l"/>
            <a:r>
              <a:rPr sz="1800" b="1" i="0">
                <a:solidFill>
                  <a:srgbClr val="4A6741"/>
                </a:solidFill>
                <a:latin typeface="Calibri"/>
              </a:rPr>
              <a:t>Experimental</a:t>
            </a:r>
          </a:p>
          <a:p>
            <a:pPr algn="l">
              <a:spcBef>
                <a:spcPts val="400"/>
              </a:spcBef>
              <a:spcAft>
                <a:spcPts val="200"/>
              </a:spcAft>
            </a:pPr>
            <a:r>
              <a:rPr sz="1400" b="1" i="0">
                <a:solidFill>
                  <a:srgbClr val="1A3A5C"/>
                </a:solidFill>
                <a:latin typeface="Calibri"/>
              </a:rPr>
              <a:t>1. More oils &amp; microorganisms</a:t>
            </a:r>
          </a:p>
          <a:p>
            <a:pPr algn="l">
              <a:spcBef>
                <a:spcPts val="400"/>
              </a:spcBef>
              <a:spcAft>
                <a:spcPts val="200"/>
              </a:spcAft>
            </a:pPr>
            <a:r>
              <a:rPr sz="1200" b="0" i="0">
                <a:solidFill>
                  <a:srgbClr val="555555"/>
                </a:solidFill>
                <a:latin typeface="Calibri"/>
              </a:rPr>
              <a:t>Analyse a larger set of essential oils and microbes</a:t>
            </a:r>
          </a:p>
          <a:p>
            <a:pPr algn="l">
              <a:spcBef>
                <a:spcPts val="400"/>
              </a:spcBef>
              <a:spcAft>
                <a:spcPts val="200"/>
              </a:spcAft>
            </a:pPr>
            <a:r>
              <a:rPr sz="1400" b="1" i="0">
                <a:solidFill>
                  <a:srgbClr val="1A3A5C"/>
                </a:solidFill>
                <a:latin typeface="Calibri"/>
              </a:rPr>
              <a:t>2. Different encapsulation systems</a:t>
            </a:r>
          </a:p>
          <a:p>
            <a:pPr algn="l">
              <a:spcBef>
                <a:spcPts val="400"/>
              </a:spcBef>
              <a:spcAft>
                <a:spcPts val="200"/>
              </a:spcAft>
            </a:pPr>
            <a:r>
              <a:rPr sz="1200" b="0" i="0">
                <a:solidFill>
                  <a:srgbClr val="555555"/>
                </a:solidFill>
                <a:latin typeface="Calibri"/>
              </a:rPr>
              <a:t>Explore alternative carriers beyond alginate beads</a:t>
            </a:r>
          </a:p>
          <a:p>
            <a:pPr algn="l">
              <a:spcBef>
                <a:spcPts val="400"/>
              </a:spcBef>
              <a:spcAft>
                <a:spcPts val="200"/>
              </a:spcAft>
            </a:pPr>
            <a:r>
              <a:rPr sz="1400" b="1" i="0">
                <a:solidFill>
                  <a:srgbClr val="1A3A5C"/>
                </a:solidFill>
                <a:latin typeface="Calibri"/>
              </a:rPr>
              <a:t>3. Real food applications</a:t>
            </a:r>
          </a:p>
          <a:p>
            <a:pPr algn="l">
              <a:spcBef>
                <a:spcPts val="400"/>
              </a:spcBef>
              <a:spcAft>
                <a:spcPts val="200"/>
              </a:spcAft>
            </a:pPr>
            <a:r>
              <a:rPr sz="1200" b="0" i="0">
                <a:solidFill>
                  <a:srgbClr val="555555"/>
                </a:solidFill>
                <a:latin typeface="Calibri"/>
              </a:rPr>
              <a:t>Test formulations in actual food systems</a:t>
            </a:r>
          </a:p>
        </p:txBody>
      </p:sp>
      <p:sp>
        <p:nvSpPr>
          <p:cNvPr id="5" name="TextBox 4"/>
          <p:cNvSpPr txBox="1"/>
          <p:nvPr/>
        </p:nvSpPr>
        <p:spPr>
          <a:xfrm>
            <a:off x="6309360" y="1371600"/>
            <a:ext cx="5212080" cy="3291840"/>
          </a:xfrm>
          <a:prstGeom prst="rect">
            <a:avLst/>
          </a:prstGeom>
          <a:noFill/>
        </p:spPr>
        <p:txBody>
          <a:bodyPr wrap="square">
            <a:spAutoFit/>
          </a:bodyPr>
          <a:lstStyle/>
          <a:p>
            <a:pPr algn="l"/>
            <a:r>
              <a:rPr sz="1800" b="1" i="0">
                <a:solidFill>
                  <a:srgbClr val="1A3A5C"/>
                </a:solidFill>
                <a:latin typeface="Calibri"/>
              </a:rPr>
              <a:t>Computational</a:t>
            </a:r>
          </a:p>
          <a:p>
            <a:pPr algn="l">
              <a:spcBef>
                <a:spcPts val="400"/>
              </a:spcBef>
              <a:spcAft>
                <a:spcPts val="200"/>
              </a:spcAft>
            </a:pPr>
            <a:r>
              <a:rPr sz="1400" b="1" i="0">
                <a:solidFill>
                  <a:srgbClr val="1A3A5C"/>
                </a:solidFill>
                <a:latin typeface="Calibri"/>
              </a:rPr>
              <a:t>1. Extend the pipeline</a:t>
            </a:r>
          </a:p>
          <a:p>
            <a:pPr algn="l">
              <a:spcBef>
                <a:spcPts val="400"/>
              </a:spcBef>
              <a:spcAft>
                <a:spcPts val="200"/>
              </a:spcAft>
            </a:pPr>
            <a:r>
              <a:rPr sz="1200" b="0" i="0">
                <a:solidFill>
                  <a:srgbClr val="555555"/>
                </a:solidFill>
                <a:latin typeface="Calibri"/>
              </a:rPr>
              <a:t>Apply the same approach with modern AI methods</a:t>
            </a:r>
          </a:p>
          <a:p>
            <a:pPr algn="l">
              <a:spcBef>
                <a:spcPts val="400"/>
              </a:spcBef>
              <a:spcAft>
                <a:spcPts val="200"/>
              </a:spcAft>
            </a:pPr>
            <a:r>
              <a:rPr sz="1400" b="1" i="0">
                <a:solidFill>
                  <a:srgbClr val="1A3A5C"/>
                </a:solidFill>
                <a:latin typeface="Calibri"/>
              </a:rPr>
              <a:t>2. Graph nets &amp; molecular LMs</a:t>
            </a:r>
          </a:p>
          <a:p>
            <a:pPr algn="l">
              <a:spcBef>
                <a:spcPts val="400"/>
              </a:spcBef>
              <a:spcAft>
                <a:spcPts val="200"/>
              </a:spcAft>
            </a:pPr>
            <a:r>
              <a:rPr sz="1200" b="0" i="0">
                <a:solidFill>
                  <a:srgbClr val="555555"/>
                </a:solidFill>
                <a:latin typeface="Calibri"/>
              </a:rPr>
              <a:t>Richer models of chemical structure and activity</a:t>
            </a:r>
          </a:p>
          <a:p>
            <a:pPr algn="l">
              <a:spcBef>
                <a:spcPts val="400"/>
              </a:spcBef>
              <a:spcAft>
                <a:spcPts val="200"/>
              </a:spcAft>
            </a:pPr>
            <a:r>
              <a:rPr sz="1400" b="1" i="0">
                <a:solidFill>
                  <a:srgbClr val="1A3A5C"/>
                </a:solidFill>
                <a:latin typeface="Calibri"/>
              </a:rPr>
              <a:t>3. Active learning</a:t>
            </a:r>
          </a:p>
          <a:p>
            <a:pPr algn="l">
              <a:spcBef>
                <a:spcPts val="400"/>
              </a:spcBef>
              <a:spcAft>
                <a:spcPts val="200"/>
              </a:spcAft>
            </a:pPr>
            <a:r>
              <a:rPr sz="1200" b="0" i="0">
                <a:solidFill>
                  <a:srgbClr val="555555"/>
                </a:solidFill>
                <a:latin typeface="Calibri"/>
              </a:rPr>
              <a:t>Predictions guide the next laboratory experiments</a:t>
            </a:r>
          </a:p>
        </p:txBody>
      </p:sp>
      <p:sp>
        <p:nvSpPr>
          <p:cNvPr id="6" name="Rounded Rectangle 5"/>
          <p:cNvSpPr/>
          <p:nvPr/>
        </p:nvSpPr>
        <p:spPr>
          <a:xfrm>
            <a:off x="640080" y="4892040"/>
            <a:ext cx="10881360" cy="1234440"/>
          </a:xfrm>
          <a:prstGeom prst="roundRect">
            <a:avLst/>
          </a:prstGeom>
          <a:solidFill>
            <a:srgbClr val="ECF1EA"/>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029200"/>
            <a:ext cx="10332720" cy="1005840"/>
          </a:xfrm>
          <a:prstGeom prst="rect">
            <a:avLst/>
          </a:prstGeom>
          <a:noFill/>
        </p:spPr>
        <p:txBody>
          <a:bodyPr wrap="square">
            <a:spAutoFit/>
          </a:bodyPr>
          <a:lstStyle/>
          <a:p>
            <a:pPr algn="l"/>
            <a:r>
              <a:rPr sz="1600" b="1" i="0">
                <a:solidFill>
                  <a:srgbClr val="C9A227"/>
                </a:solidFill>
                <a:latin typeface="Calibri"/>
              </a:rPr>
              <a:t>Predict  →  Test  →  Retrain  →  repeat</a:t>
            </a:r>
          </a:p>
          <a:p>
            <a:pPr algn="l">
              <a:spcBef>
                <a:spcPts val="400"/>
              </a:spcBef>
              <a:spcAft>
                <a:spcPts val="200"/>
              </a:spcAft>
            </a:pPr>
            <a:r>
              <a:rPr sz="1400" b="1" i="0">
                <a:solidFill>
                  <a:srgbClr val="1A3A5C"/>
                </a:solidFill>
                <a:latin typeface="Calibri"/>
              </a:rPr>
              <a:t>Goal: continuous AI and lab feedback for faster discovery</a:t>
            </a:r>
          </a:p>
        </p:txBody>
      </p:sp>
      <p:sp>
        <p:nvSpPr>
          <p:cNvPr id="8" name="TextBox 7"/>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32720" cy="1097280"/>
          </a:xfrm>
          <a:prstGeom prst="rect">
            <a:avLst/>
          </a:prstGeom>
          <a:noFill/>
        </p:spPr>
        <p:txBody>
          <a:bodyPr wrap="none">
            <a:spAutoFit/>
          </a:bodyPr>
          <a:lstStyle/>
          <a:p>
            <a:pPr algn="ctr"/>
            <a:r>
              <a:rPr sz="4800" b="1" i="0">
                <a:solidFill>
                  <a:srgbClr val="1A3A5C"/>
                </a:solidFill>
                <a:latin typeface="Calibri"/>
              </a:rPr>
              <a:t>Thank you</a:t>
            </a:r>
          </a:p>
        </p:txBody>
      </p:sp>
      <p:sp>
        <p:nvSpPr>
          <p:cNvPr id="3" name="TextBox 2"/>
          <p:cNvSpPr txBox="1"/>
          <p:nvPr/>
        </p:nvSpPr>
        <p:spPr>
          <a:xfrm>
            <a:off x="914400" y="3749039"/>
            <a:ext cx="10332720" cy="548640"/>
          </a:xfrm>
          <a:prstGeom prst="rect">
            <a:avLst/>
          </a:prstGeom>
          <a:noFill/>
        </p:spPr>
        <p:txBody>
          <a:bodyPr wrap="none">
            <a:spAutoFit/>
          </a:bodyPr>
          <a:lstStyle/>
          <a:p>
            <a:pPr algn="ctr"/>
            <a:r>
              <a:rPr sz="2000" b="0" i="1">
                <a:solidFill>
                  <a:srgbClr val="555555"/>
                </a:solidFill>
                <a:latin typeface="Calibri"/>
              </a:rPr>
              <a:t>I welcome your questions</a:t>
            </a:r>
          </a:p>
        </p:txBody>
      </p:sp>
      <p:sp>
        <p:nvSpPr>
          <p:cNvPr id="4" name="TextBox 3"/>
          <p:cNvSpPr txBox="1"/>
          <p:nvPr/>
        </p:nvSpPr>
        <p:spPr>
          <a:xfrm>
            <a:off x="457200" y="6446520"/>
            <a:ext cx="8229600" cy="301752"/>
          </a:xfrm>
          <a:prstGeom prst="rect">
            <a:avLst/>
          </a:prstGeom>
          <a:noFill/>
        </p:spPr>
        <p:txBody>
          <a:bodyPr wrap="none">
            <a:spAutoFit/>
          </a:bodyPr>
          <a:lstStyle/>
          <a:p>
            <a:pPr algn="l"/>
            <a:r>
              <a:rPr sz="1000" b="0" i="0">
                <a:solidFill>
                  <a:srgbClr val="C9A227"/>
                </a:solidFill>
                <a:latin typeface="Calibri"/>
              </a:rPr>
              <a:t>Bridging phytochemistry &amp; AI</a:t>
            </a:r>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